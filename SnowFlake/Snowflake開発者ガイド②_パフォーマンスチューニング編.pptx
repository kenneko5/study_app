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1.png"/><Relationship Id="rId6" Type="http://schemas.openxmlformats.org/officeDocument/2006/relationships/image" Target="../media/image-16-1.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065A82">
              <a:alpha val="40000"/>
            </a:srgbClr>
          </a:solidFill>
          <a:ln/>
        </p:spPr>
      </p:sp>
      <p:sp>
        <p:nvSpPr>
          <p:cNvPr id="3" name="Shape 1"/>
          <p:cNvSpPr/>
          <p:nvPr/>
        </p:nvSpPr>
        <p:spPr>
          <a:xfrm>
            <a:off x="10515600" y="3840480"/>
            <a:ext cx="2926080" cy="2926080"/>
          </a:xfrm>
          <a:prstGeom prst="ellipse">
            <a:avLst/>
          </a:prstGeom>
          <a:solidFill>
            <a:srgbClr val="1C7293">
              <a:alpha val="45000"/>
            </a:srgbClr>
          </a:solidFill>
          <a:ln/>
        </p:spPr>
      </p:sp>
      <p:sp>
        <p:nvSpPr>
          <p:cNvPr id="4" name="Shape 2"/>
          <p:cNvSpPr/>
          <p:nvPr/>
        </p:nvSpPr>
        <p:spPr>
          <a:xfrm>
            <a:off x="-1097280" y="4572000"/>
            <a:ext cx="3657600" cy="3657600"/>
          </a:xfrm>
          <a:prstGeom prst="ellipse">
            <a:avLst/>
          </a:prstGeom>
          <a:solidFill>
            <a:srgbClr val="065A82">
              <a:alpha val="35000"/>
            </a:srgbClr>
          </a:solidFill>
          <a:ln/>
        </p:spPr>
      </p:sp>
      <p:pic>
        <p:nvPicPr>
          <p:cNvPr id="5" name="Image 0" descr="icons/snowflake_white.png">    </p:cNvPr>
          <p:cNvPicPr>
            <a:picLocks noChangeAspect="1"/>
          </p:cNvPicPr>
          <p:nvPr/>
        </p:nvPicPr>
        <p:blipFill>
          <a:blip r:embed="rId1"/>
          <a:stretch>
            <a:fillRect/>
          </a:stretch>
        </p:blipFill>
        <p:spPr>
          <a:xfrm>
            <a:off x="640080" y="594360"/>
            <a:ext cx="502920" cy="502920"/>
          </a:xfrm>
          <a:prstGeom prst="rect">
            <a:avLst/>
          </a:prstGeom>
        </p:spPr>
      </p:pic>
      <p:sp>
        <p:nvSpPr>
          <p:cNvPr id="6" name="Text 3"/>
          <p:cNvSpPr/>
          <p:nvPr/>
        </p:nvSpPr>
        <p:spPr>
          <a:xfrm>
            <a:off x="1234440" y="548640"/>
            <a:ext cx="5486400" cy="457200"/>
          </a:xfrm>
          <a:prstGeom prst="rect">
            <a:avLst/>
          </a:prstGeom>
          <a:noFill/>
          <a:ln/>
        </p:spPr>
        <p:txBody>
          <a:bodyPr wrap="square" lIns="0" tIns="0" rIns="0" bIns="0" rtlCol="0" anchor="ctr"/>
          <a:lstStyle/>
          <a:p>
            <a:pPr indent="0" marL="0">
              <a:buNone/>
            </a:pPr>
            <a:r>
              <a:rPr lang="en-US" sz="1400" spc="200" kern="0" dirty="0">
                <a:solidFill>
                  <a:srgbClr val="EAF4FB"/>
                </a:solidFill>
                <a:latin typeface="Calibri" pitchFamily="34" charset="0"/>
                <a:ea typeface="Calibri" pitchFamily="34" charset="-122"/>
                <a:cs typeface="Calibri" pitchFamily="34" charset="-120"/>
              </a:rPr>
              <a:t>開発者向けシリーズ  第2回</a:t>
            </a:r>
            <a:endParaRPr lang="en-US" sz="1400" dirty="0"/>
          </a:p>
        </p:txBody>
      </p:sp>
      <p:sp>
        <p:nvSpPr>
          <p:cNvPr id="7" name="Text 4"/>
          <p:cNvSpPr/>
          <p:nvPr/>
        </p:nvSpPr>
        <p:spPr>
          <a:xfrm>
            <a:off x="640080" y="214884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Snowflake開発者ガイド</a:t>
            </a:r>
            <a:endParaRPr lang="en-US" sz="4400" dirty="0"/>
          </a:p>
        </p:txBody>
      </p:sp>
      <p:sp>
        <p:nvSpPr>
          <p:cNvPr id="8" name="Text 5"/>
          <p:cNvSpPr/>
          <p:nvPr/>
        </p:nvSpPr>
        <p:spPr>
          <a:xfrm>
            <a:off x="640080" y="2926080"/>
            <a:ext cx="10515600" cy="731520"/>
          </a:xfrm>
          <a:prstGeom prst="rect">
            <a:avLst/>
          </a:prstGeom>
          <a:noFill/>
          <a:ln/>
        </p:spPr>
        <p:txBody>
          <a:bodyPr wrap="square" lIns="0" tIns="0" rIns="0" bIns="0" rtlCol="0" anchor="ctr"/>
          <a:lstStyle/>
          <a:p>
            <a:pPr indent="0" marL="0">
              <a:buNone/>
            </a:pPr>
            <a:r>
              <a:rPr lang="en-US" sz="3200" b="1" dirty="0">
                <a:solidFill>
                  <a:srgbClr val="29ADB2"/>
                </a:solidFill>
                <a:latin typeface="Cambria" pitchFamily="34" charset="0"/>
                <a:ea typeface="Cambria" pitchFamily="34" charset="-122"/>
                <a:cs typeface="Cambria" pitchFamily="34" charset="-120"/>
              </a:rPr>
              <a:t>パフォーマンスチューニング編</a:t>
            </a:r>
            <a:endParaRPr lang="en-US" sz="3200" dirty="0"/>
          </a:p>
        </p:txBody>
      </p:sp>
      <p:sp>
        <p:nvSpPr>
          <p:cNvPr id="9" name="Text 6"/>
          <p:cNvSpPr/>
          <p:nvPr/>
        </p:nvSpPr>
        <p:spPr>
          <a:xfrm>
            <a:off x="658368" y="3703320"/>
            <a:ext cx="9601200" cy="548640"/>
          </a:xfrm>
          <a:prstGeom prst="rect">
            <a:avLst/>
          </a:prstGeom>
          <a:noFill/>
          <a:ln/>
        </p:spPr>
        <p:txBody>
          <a:bodyPr wrap="square" lIns="0" tIns="0" rIns="0" bIns="0" rtlCol="0" anchor="ctr"/>
          <a:lstStyle/>
          <a:p>
            <a:pPr indent="0" marL="0">
              <a:buNone/>
            </a:pPr>
            <a:r>
              <a:rPr lang="en-US" sz="1600" dirty="0">
                <a:solidFill>
                  <a:srgbClr val="EAF4FB"/>
                </a:solidFill>
                <a:latin typeface="Calibri" pitchFamily="34" charset="0"/>
                <a:ea typeface="Calibri" pitchFamily="34" charset="-122"/>
                <a:cs typeface="Calibri" pitchFamily="34" charset="-120"/>
              </a:rPr>
              <a:t>クラスタリング・プルーニング・ウェアハウス設計でクエリを高速化する</a:t>
            </a:r>
            <a:endParaRPr lang="en-US" sz="1600" dirty="0"/>
          </a:p>
        </p:txBody>
      </p:sp>
      <p:sp>
        <p:nvSpPr>
          <p:cNvPr id="10" name="Shape 7"/>
          <p:cNvSpPr/>
          <p:nvPr/>
        </p:nvSpPr>
        <p:spPr>
          <a:xfrm>
            <a:off x="640080" y="5760720"/>
            <a:ext cx="1417320" cy="365760"/>
          </a:xfrm>
          <a:prstGeom prst="roundRect">
            <a:avLst>
              <a:gd name="adj" fmla="val 50000"/>
            </a:avLst>
          </a:prstGeom>
          <a:solidFill>
            <a:srgbClr val="065A82"/>
          </a:solidFill>
          <a:ln/>
        </p:spPr>
      </p:sp>
      <p:sp>
        <p:nvSpPr>
          <p:cNvPr id="11" name="Text 8"/>
          <p:cNvSpPr/>
          <p:nvPr/>
        </p:nvSpPr>
        <p:spPr>
          <a:xfrm>
            <a:off x="64008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① SQL開発</a:t>
            </a:r>
            <a:endParaRPr lang="en-US" sz="850" dirty="0"/>
          </a:p>
        </p:txBody>
      </p:sp>
      <p:sp>
        <p:nvSpPr>
          <p:cNvPr id="12" name="Shape 9"/>
          <p:cNvSpPr/>
          <p:nvPr/>
        </p:nvSpPr>
        <p:spPr>
          <a:xfrm>
            <a:off x="2148840" y="5760720"/>
            <a:ext cx="1417320" cy="365760"/>
          </a:xfrm>
          <a:prstGeom prst="roundRect">
            <a:avLst>
              <a:gd name="adj" fmla="val 50000"/>
            </a:avLst>
          </a:prstGeom>
          <a:solidFill>
            <a:srgbClr val="29ADB2"/>
          </a:solidFill>
          <a:ln/>
        </p:spPr>
      </p:sp>
      <p:sp>
        <p:nvSpPr>
          <p:cNvPr id="13" name="Text 10"/>
          <p:cNvSpPr/>
          <p:nvPr/>
        </p:nvSpPr>
        <p:spPr>
          <a:xfrm>
            <a:off x="2148840" y="5760720"/>
            <a:ext cx="141732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② パフォーマンス</a:t>
            </a:r>
            <a:endParaRPr lang="en-US" sz="850" dirty="0"/>
          </a:p>
        </p:txBody>
      </p:sp>
      <p:sp>
        <p:nvSpPr>
          <p:cNvPr id="14" name="Shape 11"/>
          <p:cNvSpPr/>
          <p:nvPr/>
        </p:nvSpPr>
        <p:spPr>
          <a:xfrm>
            <a:off x="3657600" y="5760720"/>
            <a:ext cx="1417320" cy="365760"/>
          </a:xfrm>
          <a:prstGeom prst="roundRect">
            <a:avLst>
              <a:gd name="adj" fmla="val 50000"/>
            </a:avLst>
          </a:prstGeom>
          <a:solidFill>
            <a:srgbClr val="065A82"/>
          </a:solidFill>
          <a:ln/>
        </p:spPr>
      </p:sp>
      <p:sp>
        <p:nvSpPr>
          <p:cNvPr id="15" name="Text 12"/>
          <p:cNvSpPr/>
          <p:nvPr/>
        </p:nvSpPr>
        <p:spPr>
          <a:xfrm>
            <a:off x="365760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③ Snowpark</a:t>
            </a:r>
            <a:endParaRPr lang="en-US" sz="850" dirty="0"/>
          </a:p>
        </p:txBody>
      </p:sp>
      <p:sp>
        <p:nvSpPr>
          <p:cNvPr id="16" name="Shape 13"/>
          <p:cNvSpPr/>
          <p:nvPr/>
        </p:nvSpPr>
        <p:spPr>
          <a:xfrm>
            <a:off x="5166360" y="5760720"/>
            <a:ext cx="1417320" cy="365760"/>
          </a:xfrm>
          <a:prstGeom prst="roundRect">
            <a:avLst>
              <a:gd name="adj" fmla="val 50000"/>
            </a:avLst>
          </a:prstGeom>
          <a:solidFill>
            <a:srgbClr val="065A82"/>
          </a:solidFill>
          <a:ln/>
        </p:spPr>
      </p:sp>
      <p:sp>
        <p:nvSpPr>
          <p:cNvPr id="17" name="Text 14"/>
          <p:cNvSpPr/>
          <p:nvPr/>
        </p:nvSpPr>
        <p:spPr>
          <a:xfrm>
            <a:off x="516636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④ CI/CD</a:t>
            </a:r>
            <a:endParaRPr lang="en-US" sz="850" dirty="0"/>
          </a:p>
        </p:txBody>
      </p:sp>
      <p:sp>
        <p:nvSpPr>
          <p:cNvPr id="18" name="Shape 15"/>
          <p:cNvSpPr/>
          <p:nvPr/>
        </p:nvSpPr>
        <p:spPr>
          <a:xfrm>
            <a:off x="6675120" y="5760720"/>
            <a:ext cx="1417320" cy="365760"/>
          </a:xfrm>
          <a:prstGeom prst="roundRect">
            <a:avLst>
              <a:gd name="adj" fmla="val 50000"/>
            </a:avLst>
          </a:prstGeom>
          <a:solidFill>
            <a:srgbClr val="065A82"/>
          </a:solidFill>
          <a:ln/>
        </p:spPr>
      </p:sp>
      <p:sp>
        <p:nvSpPr>
          <p:cNvPr id="19" name="Text 16"/>
          <p:cNvSpPr/>
          <p:nvPr/>
        </p:nvSpPr>
        <p:spPr>
          <a:xfrm>
            <a:off x="667512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⑤ コスト最適化</a:t>
            </a:r>
            <a:endParaRPr lang="en-US" sz="850" dirty="0"/>
          </a:p>
        </p:txBody>
      </p:sp>
      <p:sp>
        <p:nvSpPr>
          <p:cNvPr id="20" name="Shape 17"/>
          <p:cNvSpPr/>
          <p:nvPr/>
        </p:nvSpPr>
        <p:spPr>
          <a:xfrm>
            <a:off x="8183880" y="5760720"/>
            <a:ext cx="1417320" cy="365760"/>
          </a:xfrm>
          <a:prstGeom prst="roundRect">
            <a:avLst>
              <a:gd name="adj" fmla="val 50000"/>
            </a:avLst>
          </a:prstGeom>
          <a:solidFill>
            <a:srgbClr val="065A82"/>
          </a:solidFill>
          <a:ln/>
        </p:spPr>
      </p:sp>
      <p:sp>
        <p:nvSpPr>
          <p:cNvPr id="21" name="Text 18"/>
          <p:cNvSpPr/>
          <p:nvPr/>
        </p:nvSpPr>
        <p:spPr>
          <a:xfrm>
            <a:off x="818388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⑥ Streams/Tasks</a:t>
            </a:r>
            <a:endParaRPr lang="en-US" sz="850" dirty="0"/>
          </a:p>
        </p:txBody>
      </p:sp>
      <p:sp>
        <p:nvSpPr>
          <p:cNvPr id="22" name="Shape 19"/>
          <p:cNvSpPr/>
          <p:nvPr/>
        </p:nvSpPr>
        <p:spPr>
          <a:xfrm>
            <a:off x="9692640" y="5760720"/>
            <a:ext cx="1417320" cy="365760"/>
          </a:xfrm>
          <a:prstGeom prst="roundRect">
            <a:avLst>
              <a:gd name="adj" fmla="val 50000"/>
            </a:avLst>
          </a:prstGeom>
          <a:solidFill>
            <a:srgbClr val="065A82"/>
          </a:solidFill>
          <a:ln/>
        </p:spPr>
      </p:sp>
      <p:sp>
        <p:nvSpPr>
          <p:cNvPr id="23" name="Text 20"/>
          <p:cNvSpPr/>
          <p:nvPr/>
        </p:nvSpPr>
        <p:spPr>
          <a:xfrm>
            <a:off x="969264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⑦ Cortex AI</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本日のアジェンダ</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パフォーマンスチューニング編で扱う7つのトピック</a:t>
            </a:r>
            <a:endParaRPr lang="en-US" sz="1300" dirty="0"/>
          </a:p>
        </p:txBody>
      </p:sp>
      <p:sp>
        <p:nvSpPr>
          <p:cNvPr id="4" name="Shape 2"/>
          <p:cNvSpPr/>
          <p:nvPr/>
        </p:nvSpPr>
        <p:spPr>
          <a:xfrm>
            <a:off x="548640" y="1463040"/>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5" name="Text 3"/>
          <p:cNvSpPr/>
          <p:nvPr/>
        </p:nvSpPr>
        <p:spPr>
          <a:xfrm>
            <a:off x="749808" y="1609344"/>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777240" y="2176272"/>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マイクロパーティションの仕組み</a:t>
            </a:r>
            <a:endParaRPr lang="en-US" sz="1400" dirty="0"/>
          </a:p>
        </p:txBody>
      </p:sp>
      <p:sp>
        <p:nvSpPr>
          <p:cNvPr id="7" name="Text 5"/>
          <p:cNvSpPr/>
          <p:nvPr/>
        </p:nvSpPr>
        <p:spPr>
          <a:xfrm>
            <a:off x="777240" y="2542032"/>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プルーニングが効く条件を理解する</a:t>
            </a:r>
            <a:endParaRPr lang="en-US" sz="1000" dirty="0"/>
          </a:p>
        </p:txBody>
      </p:sp>
      <p:sp>
        <p:nvSpPr>
          <p:cNvPr id="8" name="Shape 6"/>
          <p:cNvSpPr/>
          <p:nvPr/>
        </p:nvSpPr>
        <p:spPr>
          <a:xfrm>
            <a:off x="4279392" y="1463040"/>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9" name="Text 7"/>
          <p:cNvSpPr/>
          <p:nvPr/>
        </p:nvSpPr>
        <p:spPr>
          <a:xfrm>
            <a:off x="4480560" y="1609344"/>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4507992" y="2176272"/>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クラスタリングキー</a:t>
            </a:r>
            <a:endParaRPr lang="en-US" sz="1400" dirty="0"/>
          </a:p>
        </p:txBody>
      </p:sp>
      <p:sp>
        <p:nvSpPr>
          <p:cNvPr id="11" name="Text 9"/>
          <p:cNvSpPr/>
          <p:nvPr/>
        </p:nvSpPr>
        <p:spPr>
          <a:xfrm>
            <a:off x="4507992" y="2542032"/>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大規模テーブルの物理レイアウトを最適化</a:t>
            </a:r>
            <a:endParaRPr lang="en-US" sz="1000" dirty="0"/>
          </a:p>
        </p:txBody>
      </p:sp>
      <p:sp>
        <p:nvSpPr>
          <p:cNvPr id="12" name="Shape 10"/>
          <p:cNvSpPr/>
          <p:nvPr/>
        </p:nvSpPr>
        <p:spPr>
          <a:xfrm>
            <a:off x="8010144" y="1463040"/>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13" name="Text 11"/>
          <p:cNvSpPr/>
          <p:nvPr/>
        </p:nvSpPr>
        <p:spPr>
          <a:xfrm>
            <a:off x="8211312" y="1609344"/>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8238744" y="2176272"/>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ウェアハウスサイジング</a:t>
            </a:r>
            <a:endParaRPr lang="en-US" sz="1400" dirty="0"/>
          </a:p>
        </p:txBody>
      </p:sp>
      <p:sp>
        <p:nvSpPr>
          <p:cNvPr id="15" name="Text 13"/>
          <p:cNvSpPr/>
          <p:nvPr/>
        </p:nvSpPr>
        <p:spPr>
          <a:xfrm>
            <a:off x="8238744" y="2542032"/>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垂直スケールと水平スケールの使い分け</a:t>
            </a:r>
            <a:endParaRPr lang="en-US" sz="1000" dirty="0"/>
          </a:p>
        </p:txBody>
      </p:sp>
      <p:sp>
        <p:nvSpPr>
          <p:cNvPr id="16" name="Shape 14"/>
          <p:cNvSpPr/>
          <p:nvPr/>
        </p:nvSpPr>
        <p:spPr>
          <a:xfrm>
            <a:off x="548640" y="3127248"/>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17" name="Text 15"/>
          <p:cNvSpPr/>
          <p:nvPr/>
        </p:nvSpPr>
        <p:spPr>
          <a:xfrm>
            <a:off x="749808" y="3273552"/>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777240" y="3840480"/>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マルチクラスタ構成</a:t>
            </a:r>
            <a:endParaRPr lang="en-US" sz="1400" dirty="0"/>
          </a:p>
        </p:txBody>
      </p:sp>
      <p:sp>
        <p:nvSpPr>
          <p:cNvPr id="19" name="Text 17"/>
          <p:cNvSpPr/>
          <p:nvPr/>
        </p:nvSpPr>
        <p:spPr>
          <a:xfrm>
            <a:off x="777240" y="4206240"/>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同時実行数増加時のキューイング回避</a:t>
            </a:r>
            <a:endParaRPr lang="en-US" sz="1000" dirty="0"/>
          </a:p>
        </p:txBody>
      </p:sp>
      <p:sp>
        <p:nvSpPr>
          <p:cNvPr id="20" name="Shape 18"/>
          <p:cNvSpPr/>
          <p:nvPr/>
        </p:nvSpPr>
        <p:spPr>
          <a:xfrm>
            <a:off x="4279392" y="3127248"/>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21" name="Text 19"/>
          <p:cNvSpPr/>
          <p:nvPr/>
        </p:nvSpPr>
        <p:spPr>
          <a:xfrm>
            <a:off x="4480560" y="3273552"/>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4507992" y="3840480"/>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キャッシュの活用</a:t>
            </a:r>
            <a:endParaRPr lang="en-US" sz="1400" dirty="0"/>
          </a:p>
        </p:txBody>
      </p:sp>
      <p:sp>
        <p:nvSpPr>
          <p:cNvPr id="23" name="Text 21"/>
          <p:cNvSpPr/>
          <p:nvPr/>
        </p:nvSpPr>
        <p:spPr>
          <a:xfrm>
            <a:off x="4507992" y="4206240"/>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結果キャッシュとウェアハウスキャッシュ</a:t>
            </a:r>
            <a:endParaRPr lang="en-US" sz="1000" dirty="0"/>
          </a:p>
        </p:txBody>
      </p:sp>
      <p:sp>
        <p:nvSpPr>
          <p:cNvPr id="24" name="Shape 22"/>
          <p:cNvSpPr/>
          <p:nvPr/>
        </p:nvSpPr>
        <p:spPr>
          <a:xfrm>
            <a:off x="8010144" y="3127248"/>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25" name="Text 23"/>
          <p:cNvSpPr/>
          <p:nvPr/>
        </p:nvSpPr>
        <p:spPr>
          <a:xfrm>
            <a:off x="8211312" y="3273552"/>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06</a:t>
            </a:r>
            <a:endParaRPr lang="en-US" sz="2400" dirty="0"/>
          </a:p>
        </p:txBody>
      </p:sp>
      <p:sp>
        <p:nvSpPr>
          <p:cNvPr id="26" name="Text 24"/>
          <p:cNvSpPr/>
          <p:nvPr/>
        </p:nvSpPr>
        <p:spPr>
          <a:xfrm>
            <a:off x="8238744" y="3840480"/>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Query Profileの読み方</a:t>
            </a:r>
            <a:endParaRPr lang="en-US" sz="1400" dirty="0"/>
          </a:p>
        </p:txBody>
      </p:sp>
      <p:sp>
        <p:nvSpPr>
          <p:cNvPr id="27" name="Text 25"/>
          <p:cNvSpPr/>
          <p:nvPr/>
        </p:nvSpPr>
        <p:spPr>
          <a:xfrm>
            <a:off x="8238744" y="4206240"/>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ボトルネックの特定方法</a:t>
            </a:r>
            <a:endParaRPr lang="en-US" sz="1000" dirty="0"/>
          </a:p>
        </p:txBody>
      </p:sp>
      <p:sp>
        <p:nvSpPr>
          <p:cNvPr id="28" name="Shape 26"/>
          <p:cNvSpPr/>
          <p:nvPr/>
        </p:nvSpPr>
        <p:spPr>
          <a:xfrm>
            <a:off x="548640" y="4791456"/>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29" name="Text 27"/>
          <p:cNvSpPr/>
          <p:nvPr/>
        </p:nvSpPr>
        <p:spPr>
          <a:xfrm>
            <a:off x="749808" y="4937760"/>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07</a:t>
            </a:r>
            <a:endParaRPr lang="en-US" sz="2400" dirty="0"/>
          </a:p>
        </p:txBody>
      </p:sp>
      <p:sp>
        <p:nvSpPr>
          <p:cNvPr id="30" name="Text 28"/>
          <p:cNvSpPr/>
          <p:nvPr/>
        </p:nvSpPr>
        <p:spPr>
          <a:xfrm>
            <a:off x="777240" y="5504688"/>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実践チューニング事例</a:t>
            </a:r>
            <a:endParaRPr lang="en-US" sz="1400" dirty="0"/>
          </a:p>
        </p:txBody>
      </p:sp>
      <p:sp>
        <p:nvSpPr>
          <p:cNvPr id="31" name="Text 29"/>
          <p:cNvSpPr/>
          <p:nvPr/>
        </p:nvSpPr>
        <p:spPr>
          <a:xfrm>
            <a:off x="777240" y="5870448"/>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よくある遅いクエリのBefore/After</a:t>
            </a:r>
            <a:endParaRPr lang="en-US" sz="1000" dirty="0"/>
          </a:p>
        </p:txBody>
      </p:sp>
      <p:sp>
        <p:nvSpPr>
          <p:cNvPr id="32" name="Text 30"/>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33" name="Text 31"/>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マイクロパーティションとプルーニング</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「スキャンしない」ことが最大の高速化</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マイクロパーティション：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テーブルは自動的に約50〜500MB（圧縮後16MB相当）単位に分割される</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メタデータ：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各パーティションごとにMin/Max値・NULL数等の統計情報が保持される</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プルーニング：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WHERE句の条件と統計情報を照合し、該当しないパーティションの読込を丸ごとスキップ</a:t>
            </a:r>
            <a:endParaRPr lang="en-US" sz="120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列指向との併用：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プルーニングで対象パーティションを絞り、さらに列単位でI/Oを削減する二段構え</a:t>
            </a:r>
            <a:endParaRPr lang="en-US" sz="1200" dirty="0"/>
          </a:p>
        </p:txBody>
      </p:sp>
      <p:sp>
        <p:nvSpPr>
          <p:cNvPr id="12" name="Shape 10"/>
          <p:cNvSpPr/>
          <p:nvPr/>
        </p:nvSpPr>
        <p:spPr>
          <a:xfrm>
            <a:off x="548640" y="4983480"/>
            <a:ext cx="5760720" cy="1051560"/>
          </a:xfrm>
          <a:prstGeom prst="roundRect">
            <a:avLst>
              <a:gd name="adj" fmla="val 6087"/>
            </a:avLst>
          </a:prstGeom>
          <a:solidFill>
            <a:srgbClr val="F4F9FC"/>
          </a:solidFill>
          <a:ln w="15875">
            <a:solidFill>
              <a:srgbClr val="1F8A5F"/>
            </a:solidFill>
            <a:prstDash val="solid"/>
          </a:ln>
        </p:spPr>
      </p:sp>
      <p:sp>
        <p:nvSpPr>
          <p:cNvPr id="13" name="Text 11"/>
          <p:cNvSpPr/>
          <p:nvPr/>
        </p:nvSpPr>
        <p:spPr>
          <a:xfrm>
            <a:off x="777240" y="5093208"/>
            <a:ext cx="5303520" cy="274320"/>
          </a:xfrm>
          <a:prstGeom prst="rect">
            <a:avLst/>
          </a:prstGeom>
          <a:noFill/>
          <a:ln/>
        </p:spPr>
        <p:txBody>
          <a:bodyPr wrap="square" lIns="0" tIns="0" rIns="0" bIns="0" rtlCol="0" anchor="ctr"/>
          <a:lstStyle/>
          <a:p>
            <a:pPr indent="0" marL="0">
              <a:buNone/>
            </a:pPr>
            <a:r>
              <a:rPr lang="en-US" sz="1050" b="1" dirty="0">
                <a:solidFill>
                  <a:srgbClr val="1F8A5F"/>
                </a:solidFill>
                <a:latin typeface="Calibri" pitchFamily="34" charset="0"/>
                <a:ea typeface="Calibri" pitchFamily="34" charset="-122"/>
                <a:cs typeface="Calibri" pitchFamily="34" charset="-120"/>
              </a:rPr>
              <a:t>ポイント</a:t>
            </a:r>
            <a:endParaRPr lang="en-US" sz="1050" dirty="0"/>
          </a:p>
        </p:txBody>
      </p:sp>
      <p:sp>
        <p:nvSpPr>
          <p:cNvPr id="14" name="Text 12"/>
          <p:cNvSpPr/>
          <p:nvPr/>
        </p:nvSpPr>
        <p:spPr>
          <a:xfrm>
            <a:off x="777240" y="5367528"/>
            <a:ext cx="5303520" cy="54864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プルーニングが効くかどうかは「WHERE句の列に関数や暗黙の型変換をかけていないか」で大きく変わる。次ページのクラスタリングキー設計と合わせて意識する。</a:t>
            </a:r>
            <a:endParaRPr lang="en-US" sz="1150" dirty="0"/>
          </a:p>
        </p:txBody>
      </p:sp>
      <p:sp>
        <p:nvSpPr>
          <p:cNvPr id="15" name="Shape 13"/>
          <p:cNvSpPr/>
          <p:nvPr/>
        </p:nvSpPr>
        <p:spPr>
          <a:xfrm>
            <a:off x="6583680" y="1600200"/>
            <a:ext cx="5074920" cy="4434840"/>
          </a:xfrm>
          <a:prstGeom prst="roundRect">
            <a:avLst>
              <a:gd name="adj" fmla="val 1649"/>
            </a:avLst>
          </a:prstGeom>
          <a:solidFill>
            <a:srgbClr val="1E2A3A"/>
          </a:solidFill>
          <a:ln/>
          <a:effectLst>
            <a:outerShdw sx="100000" sy="100000" kx="0" ky="0" algn="bl" rotWithShape="0" blurRad="101600" dist="38100" dir="2700000">
              <a:srgbClr val="000000">
                <a:alpha val="12000"/>
              </a:srgbClr>
            </a:outerShdw>
          </a:effectLst>
        </p:spPr>
      </p:sp>
      <p:sp>
        <p:nvSpPr>
          <p:cNvPr id="16" name="Shape 14"/>
          <p:cNvSpPr/>
          <p:nvPr/>
        </p:nvSpPr>
        <p:spPr>
          <a:xfrm>
            <a:off x="10652760" y="1746504"/>
            <a:ext cx="822960" cy="292608"/>
          </a:xfrm>
          <a:prstGeom prst="roundRect">
            <a:avLst>
              <a:gd name="adj" fmla="val 18750"/>
            </a:avLst>
          </a:prstGeom>
          <a:solidFill>
            <a:srgbClr val="1C7293"/>
          </a:solidFill>
          <a:ln/>
        </p:spPr>
      </p:sp>
      <p:sp>
        <p:nvSpPr>
          <p:cNvPr id="17" name="Text 15"/>
          <p:cNvSpPr/>
          <p:nvPr/>
        </p:nvSpPr>
        <p:spPr>
          <a:xfrm>
            <a:off x="10652760" y="174650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8" name="Text 16"/>
          <p:cNvSpPr/>
          <p:nvPr/>
        </p:nvSpPr>
        <p:spPr>
          <a:xfrm>
            <a:off x="6876288" y="1837944"/>
            <a:ext cx="4130528" cy="4023360"/>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プルーニング効果の確認</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SELECT *</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FROM TABLE(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INFORMATION_SCHEMA.QUERY_HISTORY()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WHERE query_id = '&lt;query_id&gt;';</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Query Profile の以下指標で確認</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Partitions scanned</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Partitions total</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(scanned が total に近いほど</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プルーニングが効いていない)</a:t>
            </a:r>
            <a:endParaRPr lang="en-US" sz="130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0"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クラスタリングキーの基本</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大規模テーブルの物理的な並び順を制御する</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621792"/>
          </a:xfrm>
          <a:prstGeom prst="rect">
            <a:avLst/>
          </a:prstGeom>
          <a:noFill/>
          <a:ln/>
        </p:spPr>
        <p:txBody>
          <a:bodyPr wrap="square" lIns="0" tIns="0" rIns="0" bIns="0" rtlCol="0" anchor="t"/>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Snowflakeに「インデックス」は無く、データの物理的な並び順（クラスタリング）でプルーニング効率を制御する</a:t>
            </a:r>
            <a:endParaRPr lang="en-US" sz="1200" dirty="0"/>
          </a:p>
        </p:txBody>
      </p:sp>
      <p:sp>
        <p:nvSpPr>
          <p:cNvPr id="6" name="Shape 4"/>
          <p:cNvSpPr/>
          <p:nvPr/>
        </p:nvSpPr>
        <p:spPr>
          <a:xfrm>
            <a:off x="548640" y="2286000"/>
            <a:ext cx="100584" cy="100584"/>
          </a:xfrm>
          <a:prstGeom prst="ellipse">
            <a:avLst/>
          </a:prstGeom>
          <a:solidFill>
            <a:srgbClr val="29ADB2"/>
          </a:solidFill>
          <a:ln/>
        </p:spPr>
      </p:sp>
      <p:sp>
        <p:nvSpPr>
          <p:cNvPr id="7" name="Text 5"/>
          <p:cNvSpPr/>
          <p:nvPr/>
        </p:nvSpPr>
        <p:spPr>
          <a:xfrm>
            <a:off x="804672" y="2157984"/>
            <a:ext cx="5504688" cy="621792"/>
          </a:xfrm>
          <a:prstGeom prst="rect">
            <a:avLst/>
          </a:prstGeom>
          <a:noFill/>
          <a:ln/>
        </p:spPr>
        <p:txBody>
          <a:bodyPr wrap="square" lIns="0" tIns="0" rIns="0" bIns="0" rtlCol="0" anchor="t"/>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ロード順に基づく自然なクラスタリングはDML操作で徐々に劣化する</a:t>
            </a:r>
            <a:endParaRPr lang="en-US" sz="1200" dirty="0"/>
          </a:p>
        </p:txBody>
      </p:sp>
      <p:sp>
        <p:nvSpPr>
          <p:cNvPr id="8" name="Shape 6"/>
          <p:cNvSpPr/>
          <p:nvPr/>
        </p:nvSpPr>
        <p:spPr>
          <a:xfrm>
            <a:off x="548640" y="2907792"/>
            <a:ext cx="100584" cy="100584"/>
          </a:xfrm>
          <a:prstGeom prst="ellipse">
            <a:avLst/>
          </a:prstGeom>
          <a:solidFill>
            <a:srgbClr val="29ADB2"/>
          </a:solidFill>
          <a:ln/>
        </p:spPr>
      </p:sp>
      <p:sp>
        <p:nvSpPr>
          <p:cNvPr id="9" name="Text 7"/>
          <p:cNvSpPr/>
          <p:nvPr/>
        </p:nvSpPr>
        <p:spPr>
          <a:xfrm>
            <a:off x="804672" y="2779776"/>
            <a:ext cx="5504688" cy="621792"/>
          </a:xfrm>
          <a:prstGeom prst="rect">
            <a:avLst/>
          </a:prstGeom>
          <a:noFill/>
          <a:ln/>
        </p:spPr>
        <p:txBody>
          <a:bodyPr wrap="square" lIns="0" tIns="0" rIns="0" bIns="0" rtlCol="0" anchor="t"/>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数TB級の大規模テーブルでは、明示的なクラスタリングキー指定が効果的</a:t>
            </a:r>
            <a:endParaRPr lang="en-US" sz="1200" dirty="0"/>
          </a:p>
        </p:txBody>
      </p:sp>
      <p:sp>
        <p:nvSpPr>
          <p:cNvPr id="10" name="Shape 8"/>
          <p:cNvSpPr/>
          <p:nvPr/>
        </p:nvSpPr>
        <p:spPr>
          <a:xfrm>
            <a:off x="548640" y="3529584"/>
            <a:ext cx="100584" cy="100584"/>
          </a:xfrm>
          <a:prstGeom prst="ellipse">
            <a:avLst/>
          </a:prstGeom>
          <a:solidFill>
            <a:srgbClr val="29ADB2"/>
          </a:solidFill>
          <a:ln/>
        </p:spPr>
      </p:sp>
      <p:sp>
        <p:nvSpPr>
          <p:cNvPr id="11" name="Text 9"/>
          <p:cNvSpPr/>
          <p:nvPr/>
        </p:nvSpPr>
        <p:spPr>
          <a:xfrm>
            <a:off x="804672" y="3401568"/>
            <a:ext cx="5504688" cy="621792"/>
          </a:xfrm>
          <a:prstGeom prst="rect">
            <a:avLst/>
          </a:prstGeom>
          <a:noFill/>
          <a:ln/>
        </p:spPr>
        <p:txBody>
          <a:bodyPr wrap="square" lIns="0" tIns="0" rIns="0" bIns="0" rtlCol="0" anchor="t"/>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小〜中規模テーブルでは自動クラスタリングのメンテナンスコストの方が高くつくことが多い</a:t>
            </a:r>
            <a:endParaRPr lang="en-US" sz="1200" dirty="0"/>
          </a:p>
        </p:txBody>
      </p:sp>
      <p:sp>
        <p:nvSpPr>
          <p:cNvPr id="12" name="Shape 10"/>
          <p:cNvSpPr/>
          <p:nvPr/>
        </p:nvSpPr>
        <p:spPr>
          <a:xfrm>
            <a:off x="548640" y="4023360"/>
            <a:ext cx="5760720" cy="2011680"/>
          </a:xfrm>
          <a:prstGeom prst="roundRect">
            <a:avLst>
              <a:gd name="adj" fmla="val 3636"/>
            </a:avLst>
          </a:prstGeom>
          <a:solidFill>
            <a:srgbClr val="1E2A3A"/>
          </a:solidFill>
          <a:ln/>
          <a:effectLst>
            <a:outerShdw sx="100000" sy="100000" kx="0" ky="0" algn="bl" rotWithShape="0" blurRad="101600" dist="38100" dir="2700000">
              <a:srgbClr val="000000">
                <a:alpha val="12000"/>
              </a:srgbClr>
            </a:outerShdw>
          </a:effectLst>
        </p:spPr>
      </p:sp>
      <p:sp>
        <p:nvSpPr>
          <p:cNvPr id="13" name="Shape 11"/>
          <p:cNvSpPr/>
          <p:nvPr/>
        </p:nvSpPr>
        <p:spPr>
          <a:xfrm>
            <a:off x="5303520" y="4169664"/>
            <a:ext cx="822960" cy="292608"/>
          </a:xfrm>
          <a:prstGeom prst="roundRect">
            <a:avLst>
              <a:gd name="adj" fmla="val 18750"/>
            </a:avLst>
          </a:prstGeom>
          <a:solidFill>
            <a:srgbClr val="1C7293"/>
          </a:solidFill>
          <a:ln/>
        </p:spPr>
      </p:sp>
      <p:sp>
        <p:nvSpPr>
          <p:cNvPr id="14" name="Text 12"/>
          <p:cNvSpPr/>
          <p:nvPr/>
        </p:nvSpPr>
        <p:spPr>
          <a:xfrm>
            <a:off x="5303520" y="416966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5" name="Text 13"/>
          <p:cNvSpPr/>
          <p:nvPr/>
        </p:nvSpPr>
        <p:spPr>
          <a:xfrm>
            <a:off x="841248" y="4261104"/>
            <a:ext cx="4761464" cy="1600200"/>
          </a:xfrm>
          <a:prstGeom prst="rect">
            <a:avLst/>
          </a:prstGeom>
          <a:noFill/>
          <a:ln/>
        </p:spPr>
        <p:txBody>
          <a:bodyPr wrap="square" lIns="0" tIns="0" rIns="0" bIns="0" rtlCol="0" anchor="t"/>
          <a:lstStyle/>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クラスタリングキーの設定</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ALTER TABLE sales_fact</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CLUSTER BY (sale_date, region);</a:t>
            </a:r>
            <a:endParaRPr lang="en-US" sz="700" dirty="0"/>
          </a:p>
          <a:p>
            <a:pPr indent="0" marL="0">
              <a:lnSpc>
                <a:spcPct val="120000"/>
              </a:lnSpc>
              <a:buNone/>
            </a:pP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クラスタリング状態の確認</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SELECT SYSTEM$CLUSTERING_INFORMATION(</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'sales_fact',</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'(sale_date, region)'</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a:t>
            </a:r>
            <a:endParaRPr lang="en-US" sz="700" dirty="0"/>
          </a:p>
          <a:p>
            <a:pPr indent="0" marL="0">
              <a:lnSpc>
                <a:spcPct val="120000"/>
              </a:lnSpc>
              <a:buNone/>
            </a:pP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クラスタリング深度等が</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JSON形式で返る</a:t>
            </a:r>
            <a:endParaRPr lang="en-US" sz="700" dirty="0"/>
          </a:p>
        </p:txBody>
      </p:sp>
      <p:sp>
        <p:nvSpPr>
          <p:cNvPr id="16" name="Shape 14"/>
          <p:cNvSpPr/>
          <p:nvPr/>
        </p:nvSpPr>
        <p:spPr>
          <a:xfrm>
            <a:off x="6583680" y="1664208"/>
            <a:ext cx="100584" cy="100584"/>
          </a:xfrm>
          <a:prstGeom prst="ellipse">
            <a:avLst/>
          </a:prstGeom>
          <a:solidFill>
            <a:srgbClr val="29ADB2"/>
          </a:solidFill>
          <a:ln/>
        </p:spPr>
      </p:sp>
      <p:sp>
        <p:nvSpPr>
          <p:cNvPr id="17" name="Text 15"/>
          <p:cNvSpPr/>
          <p:nvPr/>
        </p:nvSpPr>
        <p:spPr>
          <a:xfrm>
            <a:off x="6839712" y="1536192"/>
            <a:ext cx="48188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WHERE句頻出列を選ぶ：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等価・範囲比較で頻繁に絞り込む列を優先</a:t>
            </a:r>
            <a:endParaRPr lang="en-US" sz="1150" dirty="0"/>
          </a:p>
        </p:txBody>
      </p:sp>
      <p:sp>
        <p:nvSpPr>
          <p:cNvPr id="18" name="Shape 16"/>
          <p:cNvSpPr/>
          <p:nvPr/>
        </p:nvSpPr>
        <p:spPr>
          <a:xfrm>
            <a:off x="6583680" y="2441448"/>
            <a:ext cx="100584" cy="100584"/>
          </a:xfrm>
          <a:prstGeom prst="ellipse">
            <a:avLst/>
          </a:prstGeom>
          <a:solidFill>
            <a:srgbClr val="29ADB2"/>
          </a:solidFill>
          <a:ln/>
        </p:spPr>
      </p:sp>
      <p:sp>
        <p:nvSpPr>
          <p:cNvPr id="19" name="Text 17"/>
          <p:cNvSpPr/>
          <p:nvPr/>
        </p:nvSpPr>
        <p:spPr>
          <a:xfrm>
            <a:off x="6839712" y="2313432"/>
            <a:ext cx="48188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カーディナリティ：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高すぎず低すぎない、適度な distinct 値数の列</a:t>
            </a:r>
            <a:endParaRPr lang="en-US" sz="1150" dirty="0"/>
          </a:p>
        </p:txBody>
      </p:sp>
      <p:sp>
        <p:nvSpPr>
          <p:cNvPr id="20" name="Shape 18"/>
          <p:cNvSpPr/>
          <p:nvPr/>
        </p:nvSpPr>
        <p:spPr>
          <a:xfrm>
            <a:off x="6583680" y="3218688"/>
            <a:ext cx="100584" cy="100584"/>
          </a:xfrm>
          <a:prstGeom prst="ellipse">
            <a:avLst/>
          </a:prstGeom>
          <a:solidFill>
            <a:srgbClr val="29ADB2"/>
          </a:solidFill>
          <a:ln/>
        </p:spPr>
      </p:sp>
      <p:sp>
        <p:nvSpPr>
          <p:cNvPr id="21" name="Text 19"/>
          <p:cNvSpPr/>
          <p:nvPr/>
        </p:nvSpPr>
        <p:spPr>
          <a:xfrm>
            <a:off x="6839712" y="3090672"/>
            <a:ext cx="48188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列数は3〜4個まで：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増やすほどメンテナンスコストが効果を上回りやすい</a:t>
            </a:r>
            <a:endParaRPr lang="en-US" sz="1150" dirty="0"/>
          </a:p>
        </p:txBody>
      </p:sp>
      <p:sp>
        <p:nvSpPr>
          <p:cNvPr id="22" name="Shape 20"/>
          <p:cNvSpPr/>
          <p:nvPr/>
        </p:nvSpPr>
        <p:spPr>
          <a:xfrm>
            <a:off x="6583680" y="3995928"/>
            <a:ext cx="100584" cy="100584"/>
          </a:xfrm>
          <a:prstGeom prst="ellipse">
            <a:avLst/>
          </a:prstGeom>
          <a:solidFill>
            <a:srgbClr val="29ADB2"/>
          </a:solidFill>
          <a:ln/>
        </p:spPr>
      </p:sp>
      <p:sp>
        <p:nvSpPr>
          <p:cNvPr id="23" name="Text 21"/>
          <p:cNvSpPr/>
          <p:nvPr/>
        </p:nvSpPr>
        <p:spPr>
          <a:xfrm>
            <a:off x="6839712" y="3867912"/>
            <a:ext cx="48188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関数でラップしない：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TO_VARCHAR(col)等はプルーニングを無効化する</a:t>
            </a:r>
            <a:endParaRPr lang="en-US" sz="1150" dirty="0"/>
          </a:p>
        </p:txBody>
      </p:sp>
      <p:sp>
        <p:nvSpPr>
          <p:cNvPr id="24" name="Text 22"/>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5" name="Text 23"/>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ウェアハウスサイジング（垂直スケール）</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ワークロード特性に応じたサイズ選定</a:t>
            </a:r>
            <a:endParaRPr lang="en-US" sz="1300" dirty="0"/>
          </a:p>
        </p:txBody>
      </p:sp>
      <p:sp>
        <p:nvSpPr>
          <p:cNvPr id="4" name="Shape 2"/>
          <p:cNvSpPr/>
          <p:nvPr/>
        </p:nvSpPr>
        <p:spPr>
          <a:xfrm>
            <a:off x="548640" y="1600200"/>
            <a:ext cx="3520440" cy="2377440"/>
          </a:xfrm>
          <a:prstGeom prst="roundRect">
            <a:avLst>
              <a:gd name="adj" fmla="val 3846"/>
            </a:avLst>
          </a:prstGeom>
          <a:solidFill>
            <a:srgbClr val="F4F9FC"/>
          </a:solidFill>
          <a:ln/>
          <a:effectLst>
            <a:outerShdw sx="100000" sy="100000" kx="0" ky="0" algn="bl" rotWithShape="0" blurRad="101600" dist="38100" dir="2700000">
              <a:srgbClr val="000000">
                <a:alpha val="12000"/>
              </a:srgbClr>
            </a:outerShdw>
          </a:effectLst>
        </p:spPr>
      </p:sp>
      <p:sp>
        <p:nvSpPr>
          <p:cNvPr id="5" name="Shape 3"/>
          <p:cNvSpPr/>
          <p:nvPr/>
        </p:nvSpPr>
        <p:spPr>
          <a:xfrm>
            <a:off x="804672" y="1856232"/>
            <a:ext cx="566928" cy="566928"/>
          </a:xfrm>
          <a:prstGeom prst="ellipse">
            <a:avLst/>
          </a:prstGeom>
          <a:solidFill>
            <a:srgbClr val="065A82"/>
          </a:solidFill>
          <a:ln/>
        </p:spPr>
      </p:sp>
      <p:pic>
        <p:nvPicPr>
          <p:cNvPr id="6" name="Image 0" descr="icons/chart_white.png">    </p:cNvPr>
          <p:cNvPicPr>
            <a:picLocks noChangeAspect="1"/>
          </p:cNvPicPr>
          <p:nvPr/>
        </p:nvPicPr>
        <p:blipFill>
          <a:blip r:embed="rId1"/>
          <a:stretch>
            <a:fillRect/>
          </a:stretch>
        </p:blipFill>
        <p:spPr>
          <a:xfrm>
            <a:off x="960120" y="2011680"/>
            <a:ext cx="256032" cy="256032"/>
          </a:xfrm>
          <a:prstGeom prst="rect">
            <a:avLst/>
          </a:prstGeom>
        </p:spPr>
      </p:pic>
      <p:sp>
        <p:nvSpPr>
          <p:cNvPr id="7" name="Text 4"/>
          <p:cNvSpPr/>
          <p:nvPr/>
        </p:nvSpPr>
        <p:spPr>
          <a:xfrm>
            <a:off x="777240"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BIダッシュボード</a:t>
            </a:r>
            <a:endParaRPr lang="en-US" sz="1350" dirty="0"/>
          </a:p>
        </p:txBody>
      </p:sp>
      <p:sp>
        <p:nvSpPr>
          <p:cNvPr id="8" name="Text 5"/>
          <p:cNvSpPr/>
          <p:nvPr/>
        </p:nvSpPr>
        <p:spPr>
          <a:xfrm>
            <a:off x="777240" y="3017520"/>
            <a:ext cx="3063240" cy="86868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低〜中concurrency、軽量クエリが中心。XS〜Sで十分なことが多い</a:t>
            </a:r>
            <a:endParaRPr lang="en-US" sz="1100" dirty="0"/>
          </a:p>
        </p:txBody>
      </p:sp>
      <p:sp>
        <p:nvSpPr>
          <p:cNvPr id="9" name="Shape 6"/>
          <p:cNvSpPr/>
          <p:nvPr/>
        </p:nvSpPr>
        <p:spPr>
          <a:xfrm>
            <a:off x="4270248" y="1600200"/>
            <a:ext cx="3520440" cy="2377440"/>
          </a:xfrm>
          <a:prstGeom prst="roundRect">
            <a:avLst>
              <a:gd name="adj" fmla="val 3846"/>
            </a:avLst>
          </a:prstGeom>
          <a:solidFill>
            <a:srgbClr val="F4F9FC"/>
          </a:solidFill>
          <a:ln/>
          <a:effectLst>
            <a:outerShdw sx="100000" sy="100000" kx="0" ky="0" algn="bl" rotWithShape="0" blurRad="101600" dist="38100" dir="2700000">
              <a:srgbClr val="000000">
                <a:alpha val="12000"/>
              </a:srgbClr>
            </a:outerShdw>
          </a:effectLst>
        </p:spPr>
      </p:sp>
      <p:sp>
        <p:nvSpPr>
          <p:cNvPr id="10" name="Shape 7"/>
          <p:cNvSpPr/>
          <p:nvPr/>
        </p:nvSpPr>
        <p:spPr>
          <a:xfrm>
            <a:off x="4526280" y="1856232"/>
            <a:ext cx="566928" cy="566928"/>
          </a:xfrm>
          <a:prstGeom prst="ellipse">
            <a:avLst/>
          </a:prstGeom>
          <a:solidFill>
            <a:srgbClr val="065A82"/>
          </a:solidFill>
          <a:ln/>
        </p:spPr>
      </p:sp>
      <p:pic>
        <p:nvPicPr>
          <p:cNvPr id="11" name="Image 1" descr="icons/sync_white.png">    </p:cNvPr>
          <p:cNvPicPr>
            <a:picLocks noChangeAspect="1"/>
          </p:cNvPicPr>
          <p:nvPr/>
        </p:nvPicPr>
        <p:blipFill>
          <a:blip r:embed="rId2"/>
          <a:stretch>
            <a:fillRect/>
          </a:stretch>
        </p:blipFill>
        <p:spPr>
          <a:xfrm>
            <a:off x="4681728" y="2011680"/>
            <a:ext cx="256032" cy="256032"/>
          </a:xfrm>
          <a:prstGeom prst="rect">
            <a:avLst/>
          </a:prstGeom>
        </p:spPr>
      </p:pic>
      <p:sp>
        <p:nvSpPr>
          <p:cNvPr id="12" name="Text 8"/>
          <p:cNvSpPr/>
          <p:nvPr/>
        </p:nvSpPr>
        <p:spPr>
          <a:xfrm>
            <a:off x="4498848"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ETL/バッチ処理</a:t>
            </a:r>
            <a:endParaRPr lang="en-US" sz="1350" dirty="0"/>
          </a:p>
        </p:txBody>
      </p:sp>
      <p:sp>
        <p:nvSpPr>
          <p:cNvPr id="13" name="Text 9"/>
          <p:cNvSpPr/>
          <p:nvPr/>
        </p:nvSpPr>
        <p:spPr>
          <a:xfrm>
            <a:off x="4498848" y="3017520"/>
            <a:ext cx="3063240" cy="86868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大量データの変換・集計。M〜XLにスケールし、処理後すぐ自動停止</a:t>
            </a:r>
            <a:endParaRPr lang="en-US" sz="1100" dirty="0"/>
          </a:p>
        </p:txBody>
      </p:sp>
      <p:sp>
        <p:nvSpPr>
          <p:cNvPr id="14" name="Shape 10"/>
          <p:cNvSpPr/>
          <p:nvPr/>
        </p:nvSpPr>
        <p:spPr>
          <a:xfrm>
            <a:off x="7991856" y="1600200"/>
            <a:ext cx="3520440" cy="2377440"/>
          </a:xfrm>
          <a:prstGeom prst="roundRect">
            <a:avLst>
              <a:gd name="adj" fmla="val 3846"/>
            </a:avLst>
          </a:prstGeom>
          <a:solidFill>
            <a:srgbClr val="F4F9FC"/>
          </a:solidFill>
          <a:ln/>
          <a:effectLst>
            <a:outerShdw sx="100000" sy="100000" kx="0" ky="0" algn="bl" rotWithShape="0" blurRad="101600" dist="38100" dir="2700000">
              <a:srgbClr val="000000">
                <a:alpha val="12000"/>
              </a:srgbClr>
            </a:outerShdw>
          </a:effectLst>
        </p:spPr>
      </p:sp>
      <p:sp>
        <p:nvSpPr>
          <p:cNvPr id="15" name="Shape 11"/>
          <p:cNvSpPr/>
          <p:nvPr/>
        </p:nvSpPr>
        <p:spPr>
          <a:xfrm>
            <a:off x="8247888" y="1856232"/>
            <a:ext cx="566928" cy="566928"/>
          </a:xfrm>
          <a:prstGeom prst="ellipse">
            <a:avLst/>
          </a:prstGeom>
          <a:solidFill>
            <a:srgbClr val="065A82"/>
          </a:solidFill>
          <a:ln/>
        </p:spPr>
      </p:sp>
      <p:pic>
        <p:nvPicPr>
          <p:cNvPr id="16" name="Image 2" descr="icons/bulb_white.png">    </p:cNvPr>
          <p:cNvPicPr>
            <a:picLocks noChangeAspect="1"/>
          </p:cNvPicPr>
          <p:nvPr/>
        </p:nvPicPr>
        <p:blipFill>
          <a:blip r:embed="rId3"/>
          <a:stretch>
            <a:fillRect/>
          </a:stretch>
        </p:blipFill>
        <p:spPr>
          <a:xfrm>
            <a:off x="8403336" y="2011680"/>
            <a:ext cx="256032" cy="256032"/>
          </a:xfrm>
          <a:prstGeom prst="rect">
            <a:avLst/>
          </a:prstGeom>
        </p:spPr>
      </p:pic>
      <p:sp>
        <p:nvSpPr>
          <p:cNvPr id="17" name="Text 12"/>
          <p:cNvSpPr/>
          <p:nvPr/>
        </p:nvSpPr>
        <p:spPr>
          <a:xfrm>
            <a:off x="8220456"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アドホック分析</a:t>
            </a:r>
            <a:endParaRPr lang="en-US" sz="1350" dirty="0"/>
          </a:p>
        </p:txBody>
      </p:sp>
      <p:sp>
        <p:nvSpPr>
          <p:cNvPr id="18" name="Text 13"/>
          <p:cNvSpPr/>
          <p:nvPr/>
        </p:nvSpPr>
        <p:spPr>
          <a:xfrm>
            <a:off x="8220456" y="3017520"/>
            <a:ext cx="3063240" cy="86868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予測不能で重いクエリ。必要時のみ一時的にスケールアップ</a:t>
            </a:r>
            <a:endParaRPr lang="en-US" sz="1100" dirty="0"/>
          </a:p>
        </p:txBody>
      </p:sp>
      <p:sp>
        <p:nvSpPr>
          <p:cNvPr id="19" name="Shape 14"/>
          <p:cNvSpPr/>
          <p:nvPr/>
        </p:nvSpPr>
        <p:spPr>
          <a:xfrm>
            <a:off x="548640" y="4206240"/>
            <a:ext cx="11109960" cy="1463040"/>
          </a:xfrm>
          <a:prstGeom prst="roundRect">
            <a:avLst>
              <a:gd name="adj" fmla="val 4375"/>
            </a:avLst>
          </a:prstGeom>
          <a:solidFill>
            <a:srgbClr val="F4F9FC"/>
          </a:solidFill>
          <a:ln w="15875">
            <a:solidFill>
              <a:srgbClr val="1F8A5F"/>
            </a:solidFill>
            <a:prstDash val="solid"/>
          </a:ln>
        </p:spPr>
      </p:sp>
      <p:sp>
        <p:nvSpPr>
          <p:cNvPr id="20" name="Text 15"/>
          <p:cNvSpPr/>
          <p:nvPr/>
        </p:nvSpPr>
        <p:spPr>
          <a:xfrm>
            <a:off x="777240" y="4315968"/>
            <a:ext cx="10652760" cy="274320"/>
          </a:xfrm>
          <a:prstGeom prst="rect">
            <a:avLst/>
          </a:prstGeom>
          <a:noFill/>
          <a:ln/>
        </p:spPr>
        <p:txBody>
          <a:bodyPr wrap="square" lIns="0" tIns="0" rIns="0" bIns="0" rtlCol="0" anchor="ctr"/>
          <a:lstStyle/>
          <a:p>
            <a:pPr indent="0" marL="0">
              <a:buNone/>
            </a:pPr>
            <a:r>
              <a:rPr lang="en-US" sz="1050" b="1" dirty="0">
                <a:solidFill>
                  <a:srgbClr val="1F8A5F"/>
                </a:solidFill>
                <a:latin typeface="Calibri" pitchFamily="34" charset="0"/>
                <a:ea typeface="Calibri" pitchFamily="34" charset="-122"/>
                <a:cs typeface="Calibri" pitchFamily="34" charset="-120"/>
              </a:rPr>
              <a:t>ポイント</a:t>
            </a:r>
            <a:endParaRPr lang="en-US" sz="1050" dirty="0"/>
          </a:p>
        </p:txBody>
      </p:sp>
      <p:sp>
        <p:nvSpPr>
          <p:cNvPr id="21" name="Text 16"/>
          <p:cNvSpPr/>
          <p:nvPr/>
        </p:nvSpPr>
        <p:spPr>
          <a:xfrm>
            <a:off x="777240" y="4590288"/>
            <a:ext cx="10652760" cy="96012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「サイズより自動停止」が基本方針。Snowflakeは秒単位課金なので、大きいサイズで素早く処理して即停止する方が、小さいサイズで長時間動かすより安いことも多い。まず小さく始め、Query Profileでスピル（メモリ溢れ）が見られたらワンサイズ上げる。</a:t>
            </a:r>
            <a:endParaRPr lang="en-US" sz="1150" dirty="0"/>
          </a:p>
        </p:txBody>
      </p:sp>
      <p:sp>
        <p:nvSpPr>
          <p:cNvPr id="22"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3"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マルチクラスタウェアハウス（水平スケール）</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同時実行数の増加にはサイズでなくクラスタ数で対応</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単一クラスタの上限：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デフォルトで同時実行8クエリ程度を超えるとキューイングが発生</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水平スケールの役割：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クエリの「遅さ」ではなく「同時実行数の多さ」を解消する機能</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Auto-scaleモード：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MIN_CLUSTER_COUNT〜MAX_CLUSTER_COUNTの範囲で自動増減</a:t>
            </a:r>
            <a:endParaRPr lang="en-US" sz="120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スケーリングポリシー：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Standard（即座に拡張）/ Economy（コスト優先、若干のキュー許容）</a:t>
            </a:r>
            <a:endParaRPr lang="en-US" sz="1200" dirty="0"/>
          </a:p>
        </p:txBody>
      </p:sp>
      <p:sp>
        <p:nvSpPr>
          <p:cNvPr id="12" name="Shape 10"/>
          <p:cNvSpPr/>
          <p:nvPr/>
        </p:nvSpPr>
        <p:spPr>
          <a:xfrm>
            <a:off x="548640" y="4937760"/>
            <a:ext cx="5760720" cy="1097280"/>
          </a:xfrm>
          <a:prstGeom prst="roundRect">
            <a:avLst>
              <a:gd name="adj" fmla="val 5833"/>
            </a:avLst>
          </a:prstGeom>
          <a:solidFill>
            <a:srgbClr val="F4F9FC"/>
          </a:solidFill>
          <a:ln w="15875">
            <a:solidFill>
              <a:srgbClr val="B7791F"/>
            </a:solidFill>
            <a:prstDash val="solid"/>
          </a:ln>
        </p:spPr>
      </p:sp>
      <p:sp>
        <p:nvSpPr>
          <p:cNvPr id="13" name="Text 11"/>
          <p:cNvSpPr/>
          <p:nvPr/>
        </p:nvSpPr>
        <p:spPr>
          <a:xfrm>
            <a:off x="777240" y="5047488"/>
            <a:ext cx="5303520" cy="274320"/>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注意</a:t>
            </a:r>
            <a:endParaRPr lang="en-US" sz="1050" dirty="0"/>
          </a:p>
        </p:txBody>
      </p:sp>
      <p:sp>
        <p:nvSpPr>
          <p:cNvPr id="14" name="Text 12"/>
          <p:cNvSpPr/>
          <p:nvPr/>
        </p:nvSpPr>
        <p:spPr>
          <a:xfrm>
            <a:off x="777240" y="5321808"/>
            <a:ext cx="5303520" cy="59436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遅いクエリ1本を速くしたい場合はウェアハウスサイズ（垂直）、同時アクセスが集中してキューが詰まる場合はマルチクラスタ（水平）。目的を取り違えると効果が出ない。</a:t>
            </a:r>
            <a:endParaRPr lang="en-US" sz="1150" dirty="0"/>
          </a:p>
        </p:txBody>
      </p:sp>
      <p:sp>
        <p:nvSpPr>
          <p:cNvPr id="15" name="Shape 13"/>
          <p:cNvSpPr/>
          <p:nvPr/>
        </p:nvSpPr>
        <p:spPr>
          <a:xfrm>
            <a:off x="6583680" y="1600200"/>
            <a:ext cx="5074920" cy="3291840"/>
          </a:xfrm>
          <a:prstGeom prst="roundRect">
            <a:avLst>
              <a:gd name="adj" fmla="val 2222"/>
            </a:avLst>
          </a:prstGeom>
          <a:solidFill>
            <a:srgbClr val="1E2A3A"/>
          </a:solidFill>
          <a:ln/>
          <a:effectLst>
            <a:outerShdw sx="100000" sy="100000" kx="0" ky="0" algn="bl" rotWithShape="0" blurRad="101600" dist="38100" dir="2700000">
              <a:srgbClr val="000000">
                <a:alpha val="12000"/>
              </a:srgbClr>
            </a:outerShdw>
          </a:effectLst>
        </p:spPr>
      </p:sp>
      <p:sp>
        <p:nvSpPr>
          <p:cNvPr id="16" name="Shape 14"/>
          <p:cNvSpPr/>
          <p:nvPr/>
        </p:nvSpPr>
        <p:spPr>
          <a:xfrm>
            <a:off x="10652760" y="1746504"/>
            <a:ext cx="822960" cy="292608"/>
          </a:xfrm>
          <a:prstGeom prst="roundRect">
            <a:avLst>
              <a:gd name="adj" fmla="val 18750"/>
            </a:avLst>
          </a:prstGeom>
          <a:solidFill>
            <a:srgbClr val="1C7293"/>
          </a:solidFill>
          <a:ln/>
        </p:spPr>
      </p:sp>
      <p:sp>
        <p:nvSpPr>
          <p:cNvPr id="17" name="Text 15"/>
          <p:cNvSpPr/>
          <p:nvPr/>
        </p:nvSpPr>
        <p:spPr>
          <a:xfrm>
            <a:off x="10652760" y="174650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8" name="Text 16"/>
          <p:cNvSpPr/>
          <p:nvPr/>
        </p:nvSpPr>
        <p:spPr>
          <a:xfrm>
            <a:off x="6876288" y="1837944"/>
            <a:ext cx="4130528" cy="2880360"/>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CREATE WAREHOUSE reporting_wh</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WAREHOUSE_SIZE = 'SMALL'</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MIN_CLUSTER_COUNT = 1</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MAX_CLUSTER_COUNT = 4</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SCALING_POLICY = 'STANDARD'</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AUTO_SUSPEND = 60</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AUTO_RESUME = TRUE;</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BIツールなど同時接続が</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多いユースケースに最適</a:t>
            </a:r>
            <a:endParaRPr lang="en-US" sz="130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0"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キャッシュの活用①  3種類のキャッシュ</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再計算を避けるだけでコストもゼロになる</a:t>
            </a:r>
            <a:endParaRPr lang="en-US" sz="1300" dirty="0"/>
          </a:p>
        </p:txBody>
      </p:sp>
      <p:sp>
        <p:nvSpPr>
          <p:cNvPr id="4" name="Shape 2"/>
          <p:cNvSpPr/>
          <p:nvPr/>
        </p:nvSpPr>
        <p:spPr>
          <a:xfrm>
            <a:off x="548640" y="1600200"/>
            <a:ext cx="3520440" cy="2651760"/>
          </a:xfrm>
          <a:prstGeom prst="roundRect">
            <a:avLst>
              <a:gd name="adj" fmla="val 3448"/>
            </a:avLst>
          </a:prstGeom>
          <a:solidFill>
            <a:srgbClr val="F4F9FC"/>
          </a:solidFill>
          <a:ln/>
          <a:effectLst>
            <a:outerShdw sx="100000" sy="100000" kx="0" ky="0" algn="bl" rotWithShape="0" blurRad="101600" dist="38100" dir="2700000">
              <a:srgbClr val="000000">
                <a:alpha val="12000"/>
              </a:srgbClr>
            </a:outerShdw>
          </a:effectLst>
        </p:spPr>
      </p:sp>
      <p:sp>
        <p:nvSpPr>
          <p:cNvPr id="5" name="Shape 3"/>
          <p:cNvSpPr/>
          <p:nvPr/>
        </p:nvSpPr>
        <p:spPr>
          <a:xfrm>
            <a:off x="804672" y="1856232"/>
            <a:ext cx="566928" cy="566928"/>
          </a:xfrm>
          <a:prstGeom prst="ellipse">
            <a:avLst/>
          </a:prstGeom>
          <a:solidFill>
            <a:srgbClr val="065A82"/>
          </a:solidFill>
          <a:ln/>
        </p:spPr>
      </p:sp>
      <p:pic>
        <p:nvPicPr>
          <p:cNvPr id="6" name="Image 0" descr="icons/bolt_white.png">    </p:cNvPr>
          <p:cNvPicPr>
            <a:picLocks noChangeAspect="1"/>
          </p:cNvPicPr>
          <p:nvPr/>
        </p:nvPicPr>
        <p:blipFill>
          <a:blip r:embed="rId1"/>
          <a:stretch>
            <a:fillRect/>
          </a:stretch>
        </p:blipFill>
        <p:spPr>
          <a:xfrm>
            <a:off x="960120" y="2011680"/>
            <a:ext cx="256032" cy="256032"/>
          </a:xfrm>
          <a:prstGeom prst="rect">
            <a:avLst/>
          </a:prstGeom>
        </p:spPr>
      </p:pic>
      <p:sp>
        <p:nvSpPr>
          <p:cNvPr id="7" name="Text 4"/>
          <p:cNvSpPr/>
          <p:nvPr/>
        </p:nvSpPr>
        <p:spPr>
          <a:xfrm>
            <a:off x="777240"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結果キャッシュ</a:t>
            </a:r>
            <a:endParaRPr lang="en-US" sz="1350" dirty="0"/>
          </a:p>
        </p:txBody>
      </p:sp>
      <p:sp>
        <p:nvSpPr>
          <p:cNvPr id="8" name="Text 5"/>
          <p:cNvSpPr/>
          <p:nvPr/>
        </p:nvSpPr>
        <p:spPr>
          <a:xfrm>
            <a:off x="777240" y="3017520"/>
            <a:ext cx="3063240" cy="114300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Cloud Services層が保持。同一クエリ・データ未変更なら24時間ウェアハウス起動なしで瞬時に返す</a:t>
            </a:r>
            <a:endParaRPr lang="en-US" sz="1100" dirty="0"/>
          </a:p>
        </p:txBody>
      </p:sp>
      <p:sp>
        <p:nvSpPr>
          <p:cNvPr id="9" name="Shape 6"/>
          <p:cNvSpPr/>
          <p:nvPr/>
        </p:nvSpPr>
        <p:spPr>
          <a:xfrm>
            <a:off x="4270248" y="1600200"/>
            <a:ext cx="3520440" cy="2651760"/>
          </a:xfrm>
          <a:prstGeom prst="roundRect">
            <a:avLst>
              <a:gd name="adj" fmla="val 3448"/>
            </a:avLst>
          </a:prstGeom>
          <a:solidFill>
            <a:srgbClr val="F4F9FC"/>
          </a:solidFill>
          <a:ln/>
          <a:effectLst>
            <a:outerShdw sx="100000" sy="100000" kx="0" ky="0" algn="bl" rotWithShape="0" blurRad="101600" dist="38100" dir="2700000">
              <a:srgbClr val="000000">
                <a:alpha val="12000"/>
              </a:srgbClr>
            </a:outerShdw>
          </a:effectLst>
        </p:spPr>
      </p:sp>
      <p:sp>
        <p:nvSpPr>
          <p:cNvPr id="10" name="Shape 7"/>
          <p:cNvSpPr/>
          <p:nvPr/>
        </p:nvSpPr>
        <p:spPr>
          <a:xfrm>
            <a:off x="4526280" y="1856232"/>
            <a:ext cx="566928" cy="566928"/>
          </a:xfrm>
          <a:prstGeom prst="ellipse">
            <a:avLst/>
          </a:prstGeom>
          <a:solidFill>
            <a:srgbClr val="065A82"/>
          </a:solidFill>
          <a:ln/>
        </p:spPr>
      </p:sp>
      <p:pic>
        <p:nvPicPr>
          <p:cNvPr id="11" name="Image 1" descr="icons/server_white.png">    </p:cNvPr>
          <p:cNvPicPr>
            <a:picLocks noChangeAspect="1"/>
          </p:cNvPicPr>
          <p:nvPr/>
        </p:nvPicPr>
        <p:blipFill>
          <a:blip r:embed="rId2"/>
          <a:stretch>
            <a:fillRect/>
          </a:stretch>
        </p:blipFill>
        <p:spPr>
          <a:xfrm>
            <a:off x="4681728" y="2011680"/>
            <a:ext cx="256032" cy="256032"/>
          </a:xfrm>
          <a:prstGeom prst="rect">
            <a:avLst/>
          </a:prstGeom>
        </p:spPr>
      </p:pic>
      <p:sp>
        <p:nvSpPr>
          <p:cNvPr id="12" name="Text 8"/>
          <p:cNvSpPr/>
          <p:nvPr/>
        </p:nvSpPr>
        <p:spPr>
          <a:xfrm>
            <a:off x="4498848"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ウェアハウスキャッシュ</a:t>
            </a:r>
            <a:endParaRPr lang="en-US" sz="1350" dirty="0"/>
          </a:p>
        </p:txBody>
      </p:sp>
      <p:sp>
        <p:nvSpPr>
          <p:cNvPr id="13" name="Text 9"/>
          <p:cNvSpPr/>
          <p:nvPr/>
        </p:nvSpPr>
        <p:spPr>
          <a:xfrm>
            <a:off x="4498848" y="3017520"/>
            <a:ext cx="3063240" cy="114300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稼働中のウェアハウスのSSD/メモリにスキャン済みデータを保持。再起動・自動停止で消える</a:t>
            </a:r>
            <a:endParaRPr lang="en-US" sz="1100" dirty="0"/>
          </a:p>
        </p:txBody>
      </p:sp>
      <p:sp>
        <p:nvSpPr>
          <p:cNvPr id="14" name="Shape 10"/>
          <p:cNvSpPr/>
          <p:nvPr/>
        </p:nvSpPr>
        <p:spPr>
          <a:xfrm>
            <a:off x="7991856" y="1600200"/>
            <a:ext cx="3520440" cy="2651760"/>
          </a:xfrm>
          <a:prstGeom prst="roundRect">
            <a:avLst>
              <a:gd name="adj" fmla="val 3448"/>
            </a:avLst>
          </a:prstGeom>
          <a:solidFill>
            <a:srgbClr val="F4F9FC"/>
          </a:solidFill>
          <a:ln/>
          <a:effectLst>
            <a:outerShdw sx="100000" sy="100000" kx="0" ky="0" algn="bl" rotWithShape="0" blurRad="101600" dist="38100" dir="2700000">
              <a:srgbClr val="000000">
                <a:alpha val="12000"/>
              </a:srgbClr>
            </a:outerShdw>
          </a:effectLst>
        </p:spPr>
      </p:sp>
      <p:sp>
        <p:nvSpPr>
          <p:cNvPr id="15" name="Shape 11"/>
          <p:cNvSpPr/>
          <p:nvPr/>
        </p:nvSpPr>
        <p:spPr>
          <a:xfrm>
            <a:off x="8247888" y="1856232"/>
            <a:ext cx="566928" cy="566928"/>
          </a:xfrm>
          <a:prstGeom prst="ellipse">
            <a:avLst/>
          </a:prstGeom>
          <a:solidFill>
            <a:srgbClr val="065A82"/>
          </a:solidFill>
          <a:ln/>
        </p:spPr>
      </p:sp>
      <p:pic>
        <p:nvPicPr>
          <p:cNvPr id="16" name="Image 2" descr="icons/layer_white.png">    </p:cNvPr>
          <p:cNvPicPr>
            <a:picLocks noChangeAspect="1"/>
          </p:cNvPicPr>
          <p:nvPr/>
        </p:nvPicPr>
        <p:blipFill>
          <a:blip r:embed="rId3"/>
          <a:stretch>
            <a:fillRect/>
          </a:stretch>
        </p:blipFill>
        <p:spPr>
          <a:xfrm>
            <a:off x="8403336" y="2011680"/>
            <a:ext cx="256032" cy="256032"/>
          </a:xfrm>
          <a:prstGeom prst="rect">
            <a:avLst/>
          </a:prstGeom>
        </p:spPr>
      </p:pic>
      <p:sp>
        <p:nvSpPr>
          <p:cNvPr id="17" name="Text 12"/>
          <p:cNvSpPr/>
          <p:nvPr/>
        </p:nvSpPr>
        <p:spPr>
          <a:xfrm>
            <a:off x="8220456"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メタデータキャッシュ</a:t>
            </a:r>
            <a:endParaRPr lang="en-US" sz="1350" dirty="0"/>
          </a:p>
        </p:txBody>
      </p:sp>
      <p:sp>
        <p:nvSpPr>
          <p:cNvPr id="18" name="Text 13"/>
          <p:cNvSpPr/>
          <p:nvPr/>
        </p:nvSpPr>
        <p:spPr>
          <a:xfrm>
            <a:off x="8220456" y="3017520"/>
            <a:ext cx="3063240" cy="114300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テーブルサイズや統計情報をCloud Servicesが保持し、件数取得等を高速化</a:t>
            </a:r>
            <a:endParaRPr lang="en-US" sz="1100" dirty="0"/>
          </a:p>
        </p:txBody>
      </p:sp>
      <p:sp>
        <p:nvSpPr>
          <p:cNvPr id="19" name="Shape 14"/>
          <p:cNvSpPr/>
          <p:nvPr/>
        </p:nvSpPr>
        <p:spPr>
          <a:xfrm>
            <a:off x="548640" y="4526280"/>
            <a:ext cx="11109960" cy="1691640"/>
          </a:xfrm>
          <a:prstGeom prst="roundRect">
            <a:avLst>
              <a:gd name="adj" fmla="val 4324"/>
            </a:avLst>
          </a:prstGeom>
          <a:solidFill>
            <a:srgbClr val="1E2A3A"/>
          </a:solidFill>
          <a:ln/>
          <a:effectLst>
            <a:outerShdw sx="100000" sy="100000" kx="0" ky="0" algn="bl" rotWithShape="0" blurRad="101600" dist="38100" dir="2700000">
              <a:srgbClr val="000000">
                <a:alpha val="12000"/>
              </a:srgbClr>
            </a:outerShdw>
          </a:effectLst>
        </p:spPr>
      </p:sp>
      <p:sp>
        <p:nvSpPr>
          <p:cNvPr id="20" name="Shape 15"/>
          <p:cNvSpPr/>
          <p:nvPr/>
        </p:nvSpPr>
        <p:spPr>
          <a:xfrm>
            <a:off x="10652760" y="4672584"/>
            <a:ext cx="822960" cy="292608"/>
          </a:xfrm>
          <a:prstGeom prst="roundRect">
            <a:avLst>
              <a:gd name="adj" fmla="val 18750"/>
            </a:avLst>
          </a:prstGeom>
          <a:solidFill>
            <a:srgbClr val="1C7293"/>
          </a:solidFill>
          <a:ln/>
        </p:spPr>
      </p:sp>
      <p:sp>
        <p:nvSpPr>
          <p:cNvPr id="21" name="Text 16"/>
          <p:cNvSpPr/>
          <p:nvPr/>
        </p:nvSpPr>
        <p:spPr>
          <a:xfrm>
            <a:off x="10652760" y="467258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22" name="Text 17"/>
          <p:cNvSpPr/>
          <p:nvPr/>
        </p:nvSpPr>
        <p:spPr>
          <a:xfrm>
            <a:off x="841248" y="4764024"/>
            <a:ext cx="9682764" cy="1280160"/>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セッション単位で結果キャッシュを無効化（検証用）</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ALTER SESSION SET USE_CACHED_RESULT = FALSE;</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結果キャッシュがヒットしたかはQuery Profileの</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「Query Result Reuse」欄、または実行時間がほぼ0msかで判断できる</a:t>
            </a:r>
            <a:endParaRPr lang="en-US" sz="1300" dirty="0"/>
          </a:p>
        </p:txBody>
      </p:sp>
      <p:sp>
        <p:nvSpPr>
          <p:cNvPr id="23" name="Text 18"/>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4" name="Text 19"/>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キャッシュの活用②  結果キャッシュのヒット条件</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「同じに見えて」キャッシュが効かないケース</a:t>
            </a:r>
            <a:endParaRPr lang="en-US" sz="1300" dirty="0"/>
          </a:p>
        </p:txBody>
      </p:sp>
      <p:sp>
        <p:nvSpPr>
          <p:cNvPr id="4" name="Shape 2"/>
          <p:cNvSpPr/>
          <p:nvPr/>
        </p:nvSpPr>
        <p:spPr>
          <a:xfrm>
            <a:off x="548640" y="1600200"/>
            <a:ext cx="5417820" cy="292608"/>
          </a:xfrm>
          <a:prstGeom prst="roundRect">
            <a:avLst>
              <a:gd name="adj" fmla="val 15625"/>
            </a:avLst>
          </a:prstGeom>
          <a:solidFill>
            <a:srgbClr val="C0392B"/>
          </a:solidFill>
          <a:ln/>
        </p:spPr>
      </p:sp>
      <p:sp>
        <p:nvSpPr>
          <p:cNvPr id="5" name="Text 3"/>
          <p:cNvSpPr/>
          <p:nvPr/>
        </p:nvSpPr>
        <p:spPr>
          <a:xfrm>
            <a:off x="548640" y="1600200"/>
            <a:ext cx="54178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避けるべき</a:t>
            </a:r>
            <a:endParaRPr lang="en-US" sz="1050" dirty="0"/>
          </a:p>
        </p:txBody>
      </p:sp>
      <p:sp>
        <p:nvSpPr>
          <p:cNvPr id="6" name="Shape 4"/>
          <p:cNvSpPr/>
          <p:nvPr/>
        </p:nvSpPr>
        <p:spPr>
          <a:xfrm>
            <a:off x="548640" y="1965960"/>
            <a:ext cx="5417820" cy="2011680"/>
          </a:xfrm>
          <a:prstGeom prst="roundRect">
            <a:avLst>
              <a:gd name="adj" fmla="val 3636"/>
            </a:avLst>
          </a:prstGeom>
          <a:solidFill>
            <a:srgbClr val="1E2A3A"/>
          </a:solidFill>
          <a:ln/>
          <a:effectLst>
            <a:outerShdw sx="100000" sy="100000" kx="0" ky="0" algn="bl" rotWithShape="0" blurRad="101600" dist="38100" dir="2700000">
              <a:srgbClr val="000000">
                <a:alpha val="12000"/>
              </a:srgbClr>
            </a:outerShdw>
          </a:effectLst>
        </p:spPr>
      </p:sp>
      <p:sp>
        <p:nvSpPr>
          <p:cNvPr id="7" name="Text 5"/>
          <p:cNvSpPr/>
          <p:nvPr/>
        </p:nvSpPr>
        <p:spPr>
          <a:xfrm>
            <a:off x="841248" y="2203704"/>
            <a:ext cx="4445996" cy="160020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CURRENT_TIMESTAMP() 等は</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実行毎に値が変わるため</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キャッシュがヒットしない</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SELECT *, CURRENT_TIMESTAMP()</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FROM orders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WHERE status = 'open';</a:t>
            </a:r>
            <a:endParaRPr lang="en-US" sz="1100" dirty="0"/>
          </a:p>
        </p:txBody>
      </p:sp>
      <p:sp>
        <p:nvSpPr>
          <p:cNvPr id="8" name="Shape 6"/>
          <p:cNvSpPr/>
          <p:nvPr/>
        </p:nvSpPr>
        <p:spPr>
          <a:xfrm>
            <a:off x="6240780" y="1600200"/>
            <a:ext cx="5417820" cy="292608"/>
          </a:xfrm>
          <a:prstGeom prst="roundRect">
            <a:avLst>
              <a:gd name="adj" fmla="val 15625"/>
            </a:avLst>
          </a:prstGeom>
          <a:solidFill>
            <a:srgbClr val="1F8A5F"/>
          </a:solidFill>
          <a:ln/>
        </p:spPr>
      </p:sp>
      <p:sp>
        <p:nvSpPr>
          <p:cNvPr id="9" name="Text 7"/>
          <p:cNvSpPr/>
          <p:nvPr/>
        </p:nvSpPr>
        <p:spPr>
          <a:xfrm>
            <a:off x="6240780" y="1600200"/>
            <a:ext cx="54178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推奨</a:t>
            </a:r>
            <a:endParaRPr lang="en-US" sz="1050" dirty="0"/>
          </a:p>
        </p:txBody>
      </p:sp>
      <p:sp>
        <p:nvSpPr>
          <p:cNvPr id="10" name="Shape 8"/>
          <p:cNvSpPr/>
          <p:nvPr/>
        </p:nvSpPr>
        <p:spPr>
          <a:xfrm>
            <a:off x="6240780" y="1965960"/>
            <a:ext cx="5417820" cy="2011680"/>
          </a:xfrm>
          <a:prstGeom prst="roundRect">
            <a:avLst>
              <a:gd name="adj" fmla="val 3636"/>
            </a:avLst>
          </a:prstGeom>
          <a:solidFill>
            <a:srgbClr val="1E2A3A"/>
          </a:solidFill>
          <a:ln/>
          <a:effectLst>
            <a:outerShdw sx="100000" sy="100000" kx="0" ky="0" algn="bl" rotWithShape="0" blurRad="101600" dist="38100" dir="2700000">
              <a:srgbClr val="000000">
                <a:alpha val="12000"/>
              </a:srgbClr>
            </a:outerShdw>
          </a:effectLst>
        </p:spPr>
      </p:sp>
      <p:sp>
        <p:nvSpPr>
          <p:cNvPr id="11" name="Text 9"/>
          <p:cNvSpPr/>
          <p:nvPr/>
        </p:nvSpPr>
        <p:spPr>
          <a:xfrm>
            <a:off x="6533388" y="2203704"/>
            <a:ext cx="4445996" cy="160020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非決定的な関数を含めず</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同一クエリ文字列を保つ</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SELECT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FROM orders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WHERE status = 'open';</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集計や付加情報は呼び出し側で</a:t>
            </a:r>
            <a:endParaRPr lang="en-US" sz="1100" dirty="0"/>
          </a:p>
        </p:txBody>
      </p:sp>
      <p:sp>
        <p:nvSpPr>
          <p:cNvPr id="12" name="Shape 10"/>
          <p:cNvSpPr/>
          <p:nvPr/>
        </p:nvSpPr>
        <p:spPr>
          <a:xfrm>
            <a:off x="548640" y="4315968"/>
            <a:ext cx="100584" cy="100584"/>
          </a:xfrm>
          <a:prstGeom prst="ellipse">
            <a:avLst/>
          </a:prstGeom>
          <a:solidFill>
            <a:srgbClr val="29ADB2"/>
          </a:solidFill>
          <a:ln/>
        </p:spPr>
      </p:sp>
      <p:sp>
        <p:nvSpPr>
          <p:cNvPr id="13" name="Text 11"/>
          <p:cNvSpPr/>
          <p:nvPr/>
        </p:nvSpPr>
        <p:spPr>
          <a:xfrm>
            <a:off x="804672" y="4187952"/>
            <a:ext cx="10853928" cy="45720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クエリ文字列が完全一致：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大文字小文字・空白の差異程度は無視されるが、実質的に同一SQLである必要がある</a:t>
            </a:r>
            <a:endParaRPr lang="en-US" sz="1150" dirty="0"/>
          </a:p>
        </p:txBody>
      </p:sp>
      <p:sp>
        <p:nvSpPr>
          <p:cNvPr id="14" name="Shape 12"/>
          <p:cNvSpPr/>
          <p:nvPr/>
        </p:nvSpPr>
        <p:spPr>
          <a:xfrm>
            <a:off x="548640" y="4773168"/>
            <a:ext cx="100584" cy="100584"/>
          </a:xfrm>
          <a:prstGeom prst="ellipse">
            <a:avLst/>
          </a:prstGeom>
          <a:solidFill>
            <a:srgbClr val="29ADB2"/>
          </a:solidFill>
          <a:ln/>
        </p:spPr>
      </p:sp>
      <p:sp>
        <p:nvSpPr>
          <p:cNvPr id="15" name="Text 13"/>
          <p:cNvSpPr/>
          <p:nvPr/>
        </p:nvSpPr>
        <p:spPr>
          <a:xfrm>
            <a:off x="804672" y="4645152"/>
            <a:ext cx="10853928" cy="45720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対象データが未変更：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テーブルの基底データが変更されていないこと（DML後は無効化）</a:t>
            </a:r>
            <a:endParaRPr lang="en-US" sz="1150" dirty="0"/>
          </a:p>
        </p:txBody>
      </p:sp>
      <p:sp>
        <p:nvSpPr>
          <p:cNvPr id="16" name="Shape 14"/>
          <p:cNvSpPr/>
          <p:nvPr/>
        </p:nvSpPr>
        <p:spPr>
          <a:xfrm>
            <a:off x="548640" y="5230368"/>
            <a:ext cx="100584" cy="100584"/>
          </a:xfrm>
          <a:prstGeom prst="ellipse">
            <a:avLst/>
          </a:prstGeom>
          <a:solidFill>
            <a:srgbClr val="29ADB2"/>
          </a:solidFill>
          <a:ln/>
        </p:spPr>
      </p:sp>
      <p:sp>
        <p:nvSpPr>
          <p:cNvPr id="17" name="Text 15"/>
          <p:cNvSpPr/>
          <p:nvPr/>
        </p:nvSpPr>
        <p:spPr>
          <a:xfrm>
            <a:off x="804672" y="5102352"/>
            <a:ext cx="10853928" cy="45720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非決定的な関数を含まない：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CURRENT_TIMESTAMP()、RANDOM()等を含むクエリは原則キャッシュされない</a:t>
            </a:r>
            <a:endParaRPr lang="en-US" sz="1150" dirty="0"/>
          </a:p>
        </p:txBody>
      </p:sp>
      <p:sp>
        <p:nvSpPr>
          <p:cNvPr id="18" name="Shape 16"/>
          <p:cNvSpPr/>
          <p:nvPr/>
        </p:nvSpPr>
        <p:spPr>
          <a:xfrm>
            <a:off x="548640" y="5687568"/>
            <a:ext cx="100584" cy="100584"/>
          </a:xfrm>
          <a:prstGeom prst="ellipse">
            <a:avLst/>
          </a:prstGeom>
          <a:solidFill>
            <a:srgbClr val="29ADB2"/>
          </a:solidFill>
          <a:ln/>
        </p:spPr>
      </p:sp>
      <p:sp>
        <p:nvSpPr>
          <p:cNvPr id="19" name="Text 17"/>
          <p:cNvSpPr/>
          <p:nvPr/>
        </p:nvSpPr>
        <p:spPr>
          <a:xfrm>
            <a:off x="804672" y="5559552"/>
            <a:ext cx="10853928" cy="45720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有効期限は24時間：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それ以降は再実行が必要（ただし基底データが同じなら再キャッシュされる）</a:t>
            </a:r>
            <a:endParaRPr lang="en-US" sz="11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1" name="Text 19"/>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Query Profileの読み方①  全体構造</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実行計画を木構造のステップとして可視化</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ノードグラフ：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TableScan → Filter → Join → Aggregate等、処理ステップが木構造で表示される</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ノードの太さ：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処理されたデータ量に比例。太いノードがボトルネック候補</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Most Expensive Nodes：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画面上部に処理時間が長いステップが自動でハイライトされる</a:t>
            </a:r>
            <a:endParaRPr lang="en-US" sz="120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Execution Time内訳：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Processing / Local Disk IO / Remote Disk IO / Network等の内訳で待ち要因を特定</a:t>
            </a:r>
            <a:endParaRPr lang="en-US" sz="1200" dirty="0"/>
          </a:p>
        </p:txBody>
      </p:sp>
      <p:sp>
        <p:nvSpPr>
          <p:cNvPr id="12" name="Shape 10"/>
          <p:cNvSpPr/>
          <p:nvPr/>
        </p:nvSpPr>
        <p:spPr>
          <a:xfrm>
            <a:off x="548640" y="4937760"/>
            <a:ext cx="5760720" cy="1097280"/>
          </a:xfrm>
          <a:prstGeom prst="roundRect">
            <a:avLst>
              <a:gd name="adj" fmla="val 5833"/>
            </a:avLst>
          </a:prstGeom>
          <a:solidFill>
            <a:srgbClr val="F4F9FC"/>
          </a:solidFill>
          <a:ln w="15875">
            <a:solidFill>
              <a:srgbClr val="1F8A5F"/>
            </a:solidFill>
            <a:prstDash val="solid"/>
          </a:ln>
        </p:spPr>
      </p:sp>
      <p:sp>
        <p:nvSpPr>
          <p:cNvPr id="13" name="Text 11"/>
          <p:cNvSpPr/>
          <p:nvPr/>
        </p:nvSpPr>
        <p:spPr>
          <a:xfrm>
            <a:off x="777240" y="5047488"/>
            <a:ext cx="5303520" cy="274320"/>
          </a:xfrm>
          <a:prstGeom prst="rect">
            <a:avLst/>
          </a:prstGeom>
          <a:noFill/>
          <a:ln/>
        </p:spPr>
        <p:txBody>
          <a:bodyPr wrap="square" lIns="0" tIns="0" rIns="0" bIns="0" rtlCol="0" anchor="ctr"/>
          <a:lstStyle/>
          <a:p>
            <a:pPr indent="0" marL="0">
              <a:buNone/>
            </a:pPr>
            <a:r>
              <a:rPr lang="en-US" sz="1050" b="1" dirty="0">
                <a:solidFill>
                  <a:srgbClr val="1F8A5F"/>
                </a:solidFill>
                <a:latin typeface="Calibri" pitchFamily="34" charset="0"/>
                <a:ea typeface="Calibri" pitchFamily="34" charset="-122"/>
                <a:cs typeface="Calibri" pitchFamily="34" charset="-120"/>
              </a:rPr>
              <a:t>ポイント</a:t>
            </a:r>
            <a:endParaRPr lang="en-US" sz="1050" dirty="0"/>
          </a:p>
        </p:txBody>
      </p:sp>
      <p:sp>
        <p:nvSpPr>
          <p:cNvPr id="14" name="Text 12"/>
          <p:cNvSpPr/>
          <p:nvPr/>
        </p:nvSpPr>
        <p:spPr>
          <a:xfrm>
            <a:off x="777240" y="5321808"/>
            <a:ext cx="5303520" cy="59436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Processing（純粋な計算）の割合が低く、IOやネットワーク待ちが大半を占める場合は、クエリそのものよりもデータ配置（クラスタリング）やウェアハウスサイズの見直しが効きやすい。</a:t>
            </a:r>
            <a:endParaRPr lang="en-US" sz="1150" dirty="0"/>
          </a:p>
        </p:txBody>
      </p:sp>
      <p:sp>
        <p:nvSpPr>
          <p:cNvPr id="15" name="Shape 13"/>
          <p:cNvSpPr/>
          <p:nvPr/>
        </p:nvSpPr>
        <p:spPr>
          <a:xfrm>
            <a:off x="6583680" y="1600200"/>
            <a:ext cx="5074920" cy="4937760"/>
          </a:xfrm>
          <a:prstGeom prst="roundRect">
            <a:avLst>
              <a:gd name="adj" fmla="val 1481"/>
            </a:avLst>
          </a:prstGeom>
          <a:solidFill>
            <a:srgbClr val="1E2A3A"/>
          </a:solidFill>
          <a:ln/>
          <a:effectLst>
            <a:outerShdw sx="100000" sy="100000" kx="0" ky="0" algn="bl" rotWithShape="0" blurRad="101600" dist="38100" dir="2700000">
              <a:srgbClr val="000000">
                <a:alpha val="12000"/>
              </a:srgbClr>
            </a:outerShdw>
          </a:effectLst>
        </p:spPr>
      </p:sp>
      <p:sp>
        <p:nvSpPr>
          <p:cNvPr id="16" name="Shape 14"/>
          <p:cNvSpPr/>
          <p:nvPr/>
        </p:nvSpPr>
        <p:spPr>
          <a:xfrm>
            <a:off x="10652760" y="1746504"/>
            <a:ext cx="822960" cy="292608"/>
          </a:xfrm>
          <a:prstGeom prst="roundRect">
            <a:avLst>
              <a:gd name="adj" fmla="val 18750"/>
            </a:avLst>
          </a:prstGeom>
          <a:solidFill>
            <a:srgbClr val="1C7293"/>
          </a:solidFill>
          <a:ln/>
        </p:spPr>
      </p:sp>
      <p:sp>
        <p:nvSpPr>
          <p:cNvPr id="17" name="Text 15"/>
          <p:cNvSpPr/>
          <p:nvPr/>
        </p:nvSpPr>
        <p:spPr>
          <a:xfrm>
            <a:off x="10652760" y="174650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8" name="Text 16"/>
          <p:cNvSpPr/>
          <p:nvPr/>
        </p:nvSpPr>
        <p:spPr>
          <a:xfrm>
            <a:off x="6876288" y="1837944"/>
            <a:ext cx="4130528" cy="4526280"/>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Snowsight: クエリ実行後</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「Query ID」をクリック</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 「Profile」タブで表示</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プログラムから確認する場合</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SELECT query_id, total_elapsed_time,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bytes_scanned, partitions_scanned,</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partitions_total,</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bytes_spilled_to_local_storage,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bytes_spilled_to_remote_storage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FROM</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snowflake.account_usage.query_history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WHERE query_id = '&lt;query_id&gt;';</a:t>
            </a:r>
            <a:endParaRPr lang="en-US" sz="130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0"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Query Profileの読み方②  スピル（メモリ溢れ）</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最も影響の大きいパフォーマンス劣化要因</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スピルとは：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ウェアハウスのメモリに収まらない処理が、ローカルSSD→リモートストレージへ溢れること</a:t>
            </a:r>
            <a:endParaRPr lang="en-US" sz="115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Bytes spilled to local storage：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ローカルSSDへの溢れ。体感できる程度の遅延が発生</a:t>
            </a:r>
            <a:endParaRPr lang="en-US" sz="115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Bytes spilled to remote storage：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クラウドストレージへの溢れ。ローカルより一桁以上遅くなることがある</a:t>
            </a:r>
            <a:endParaRPr lang="en-US" sz="115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主な発生源：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大きなORDER BY、ウィンドウ関数のソート、巨大なJOIN、大量データのCTE</a:t>
            </a:r>
            <a:endParaRPr lang="en-US" sz="1150" dirty="0"/>
          </a:p>
        </p:txBody>
      </p:sp>
      <p:sp>
        <p:nvSpPr>
          <p:cNvPr id="12" name="Shape 10"/>
          <p:cNvSpPr/>
          <p:nvPr/>
        </p:nvSpPr>
        <p:spPr>
          <a:xfrm>
            <a:off x="548640" y="4937760"/>
            <a:ext cx="5760720" cy="1097280"/>
          </a:xfrm>
          <a:prstGeom prst="roundRect">
            <a:avLst>
              <a:gd name="adj" fmla="val 5833"/>
            </a:avLst>
          </a:prstGeom>
          <a:solidFill>
            <a:srgbClr val="F4F9FC"/>
          </a:solidFill>
          <a:ln w="15875">
            <a:solidFill>
              <a:srgbClr val="B7791F"/>
            </a:solidFill>
            <a:prstDash val="solid"/>
          </a:ln>
        </p:spPr>
      </p:sp>
      <p:sp>
        <p:nvSpPr>
          <p:cNvPr id="13" name="Text 11"/>
          <p:cNvSpPr/>
          <p:nvPr/>
        </p:nvSpPr>
        <p:spPr>
          <a:xfrm>
            <a:off x="777240" y="5047488"/>
            <a:ext cx="5303520" cy="274320"/>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注意</a:t>
            </a:r>
            <a:endParaRPr lang="en-US" sz="1050" dirty="0"/>
          </a:p>
        </p:txBody>
      </p:sp>
      <p:sp>
        <p:nvSpPr>
          <p:cNvPr id="14" name="Text 12"/>
          <p:cNvSpPr/>
          <p:nvPr/>
        </p:nvSpPr>
        <p:spPr>
          <a:xfrm>
            <a:off x="777240" y="5321808"/>
            <a:ext cx="5303520" cy="59436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対処の優先順位：① クエリでスキャン・ソート対象データを減らす（フィルタ追加、列削減） ② 処理を複数ステップに分割 ③ それでも改善しなければウェアハウスサイズを上げる。</a:t>
            </a:r>
            <a:endParaRPr lang="en-US" sz="1150" dirty="0"/>
          </a:p>
        </p:txBody>
      </p:sp>
      <p:sp>
        <p:nvSpPr>
          <p:cNvPr id="15" name="Shape 13"/>
          <p:cNvSpPr/>
          <p:nvPr/>
        </p:nvSpPr>
        <p:spPr>
          <a:xfrm>
            <a:off x="6583680" y="1600200"/>
            <a:ext cx="5074920" cy="4937760"/>
          </a:xfrm>
          <a:prstGeom prst="roundRect">
            <a:avLst>
              <a:gd name="adj" fmla="val 1481"/>
            </a:avLst>
          </a:prstGeom>
          <a:solidFill>
            <a:srgbClr val="1E2A3A"/>
          </a:solidFill>
          <a:ln/>
          <a:effectLst>
            <a:outerShdw sx="100000" sy="100000" kx="0" ky="0" algn="bl" rotWithShape="0" blurRad="101600" dist="38100" dir="2700000">
              <a:srgbClr val="000000">
                <a:alpha val="12000"/>
              </a:srgbClr>
            </a:outerShdw>
          </a:effectLst>
        </p:spPr>
      </p:sp>
      <p:sp>
        <p:nvSpPr>
          <p:cNvPr id="16" name="Shape 14"/>
          <p:cNvSpPr/>
          <p:nvPr/>
        </p:nvSpPr>
        <p:spPr>
          <a:xfrm>
            <a:off x="10652760" y="1746504"/>
            <a:ext cx="822960" cy="292608"/>
          </a:xfrm>
          <a:prstGeom prst="roundRect">
            <a:avLst>
              <a:gd name="adj" fmla="val 18750"/>
            </a:avLst>
          </a:prstGeom>
          <a:solidFill>
            <a:srgbClr val="1C7293"/>
          </a:solidFill>
          <a:ln/>
        </p:spPr>
      </p:sp>
      <p:sp>
        <p:nvSpPr>
          <p:cNvPr id="17" name="Text 15"/>
          <p:cNvSpPr/>
          <p:nvPr/>
        </p:nvSpPr>
        <p:spPr>
          <a:xfrm>
            <a:off x="10652760" y="174650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8" name="Text 16"/>
          <p:cNvSpPr/>
          <p:nvPr/>
        </p:nvSpPr>
        <p:spPr>
          <a:xfrm>
            <a:off x="6876288" y="1837944"/>
            <a:ext cx="4130528" cy="4526280"/>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直近のスピル発生クエリを洗い出す</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SELECT</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query_id,</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warehouse_name,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bytes_spilled_to_local_storage,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bytes_spilled_to_remote_storage,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total_elapsed_time / 1000 AS elapsed_sec</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FROM</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snowflake.account_usage.query_history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WHERE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bytes_spilled_to_remote_storage &gt; 0</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AND start_time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&gt;= DATEADD('day', -7, CURRENT_DATE())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ORDER BY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bytes_spilled_to_remote_storage DESC</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LIMIT 20;</a:t>
            </a:r>
            <a:endParaRPr lang="en-US" sz="130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0"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実践チューニング①  不要なフルスキャンの解消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Before/Afterで見るプルーニング改善</a:t>
            </a:r>
            <a:endParaRPr lang="en-US" sz="1300" dirty="0"/>
          </a:p>
        </p:txBody>
      </p:sp>
      <p:sp>
        <p:nvSpPr>
          <p:cNvPr id="4" name="Shape 2"/>
          <p:cNvSpPr/>
          <p:nvPr/>
        </p:nvSpPr>
        <p:spPr>
          <a:xfrm>
            <a:off x="548640" y="1600200"/>
            <a:ext cx="11109960" cy="1051560"/>
          </a:xfrm>
          <a:prstGeom prst="roundRect">
            <a:avLst>
              <a:gd name="adj" fmla="val 6087"/>
            </a:avLst>
          </a:prstGeom>
          <a:solidFill>
            <a:srgbClr val="F4F9FC"/>
          </a:solidFill>
          <a:ln w="15875">
            <a:solidFill>
              <a:srgbClr val="1C7293"/>
            </a:solidFill>
            <a:prstDash val="solid"/>
          </a:ln>
        </p:spPr>
      </p:sp>
      <p:sp>
        <p:nvSpPr>
          <p:cNvPr id="5" name="Text 3"/>
          <p:cNvSpPr/>
          <p:nvPr/>
        </p:nvSpPr>
        <p:spPr>
          <a:xfrm>
            <a:off x="777240" y="1709928"/>
            <a:ext cx="1065276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補足</a:t>
            </a:r>
            <a:endParaRPr lang="en-US" sz="1050" dirty="0"/>
          </a:p>
        </p:txBody>
      </p:sp>
      <p:sp>
        <p:nvSpPr>
          <p:cNvPr id="6" name="Text 4"/>
          <p:cNvSpPr/>
          <p:nvPr/>
        </p:nvSpPr>
        <p:spPr>
          <a:xfrm>
            <a:off x="777240" y="1984248"/>
            <a:ext cx="10652760" cy="54864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シナリオ：1日数億行が積み上がるイベントログテーブルから、直近7日分のエラーログだけを抽出したい。クラスタリングキーが無いテーブルでWHERE句に関数をかけていたため、毎回全パーティションを読んでいた。</a:t>
            </a:r>
            <a:endParaRPr lang="en-US" sz="1150" dirty="0"/>
          </a:p>
        </p:txBody>
      </p:sp>
      <p:sp>
        <p:nvSpPr>
          <p:cNvPr id="7" name="Shape 5"/>
          <p:cNvSpPr/>
          <p:nvPr/>
        </p:nvSpPr>
        <p:spPr>
          <a:xfrm>
            <a:off x="548640" y="2834640"/>
            <a:ext cx="5417820" cy="292608"/>
          </a:xfrm>
          <a:prstGeom prst="roundRect">
            <a:avLst>
              <a:gd name="adj" fmla="val 15625"/>
            </a:avLst>
          </a:prstGeom>
          <a:solidFill>
            <a:srgbClr val="C0392B"/>
          </a:solidFill>
          <a:ln/>
        </p:spPr>
      </p:sp>
      <p:sp>
        <p:nvSpPr>
          <p:cNvPr id="8" name="Text 6"/>
          <p:cNvSpPr/>
          <p:nvPr/>
        </p:nvSpPr>
        <p:spPr>
          <a:xfrm>
            <a:off x="548640" y="2834640"/>
            <a:ext cx="54178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避けるべき</a:t>
            </a:r>
            <a:endParaRPr lang="en-US" sz="1050" dirty="0"/>
          </a:p>
        </p:txBody>
      </p:sp>
      <p:sp>
        <p:nvSpPr>
          <p:cNvPr id="9" name="Shape 7"/>
          <p:cNvSpPr/>
          <p:nvPr/>
        </p:nvSpPr>
        <p:spPr>
          <a:xfrm>
            <a:off x="548640" y="3200400"/>
            <a:ext cx="5417820" cy="3383280"/>
          </a:xfrm>
          <a:prstGeom prst="roundRect">
            <a:avLst>
              <a:gd name="adj" fmla="val 2162"/>
            </a:avLst>
          </a:prstGeom>
          <a:solidFill>
            <a:srgbClr val="1E2A3A"/>
          </a:solidFill>
          <a:ln/>
          <a:effectLst>
            <a:outerShdw sx="100000" sy="100000" kx="0" ky="0" algn="bl" rotWithShape="0" blurRad="101600" dist="38100" dir="2700000">
              <a:srgbClr val="000000">
                <a:alpha val="12000"/>
              </a:srgbClr>
            </a:outerShdw>
          </a:effectLst>
        </p:spPr>
      </p:sp>
      <p:sp>
        <p:nvSpPr>
          <p:cNvPr id="10" name="Text 8"/>
          <p:cNvSpPr/>
          <p:nvPr/>
        </p:nvSpPr>
        <p:spPr>
          <a:xfrm>
            <a:off x="841248" y="3438144"/>
            <a:ext cx="4445996" cy="297180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TO_DATEで型変換すると</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プルーニングが効かず</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全パーティションスキャン</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SELECT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FROM event_logs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WHERE TO_DATE(event_ts)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&gt;= DATEADD('day', -7,</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CURRENT_DATE())</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AND level = 'ERROR';</a:t>
            </a:r>
            <a:endParaRPr lang="en-US" sz="1100" dirty="0"/>
          </a:p>
          <a:p>
            <a:pPr indent="0" marL="0">
              <a:lnSpc>
                <a:spcPct val="120000"/>
              </a:lnSpc>
              <a:buNone/>
            </a:pP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Partitions scanned: 8,200</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Partitions total:   8,200</a:t>
            </a:r>
            <a:endParaRPr lang="en-US" sz="1100" dirty="0"/>
          </a:p>
        </p:txBody>
      </p:sp>
      <p:sp>
        <p:nvSpPr>
          <p:cNvPr id="11" name="Shape 9"/>
          <p:cNvSpPr/>
          <p:nvPr/>
        </p:nvSpPr>
        <p:spPr>
          <a:xfrm>
            <a:off x="6240780" y="2834640"/>
            <a:ext cx="5417820" cy="292608"/>
          </a:xfrm>
          <a:prstGeom prst="roundRect">
            <a:avLst>
              <a:gd name="adj" fmla="val 15625"/>
            </a:avLst>
          </a:prstGeom>
          <a:solidFill>
            <a:srgbClr val="1F8A5F"/>
          </a:solidFill>
          <a:ln/>
        </p:spPr>
      </p:sp>
      <p:sp>
        <p:nvSpPr>
          <p:cNvPr id="12" name="Text 10"/>
          <p:cNvSpPr/>
          <p:nvPr/>
        </p:nvSpPr>
        <p:spPr>
          <a:xfrm>
            <a:off x="6240780" y="2834640"/>
            <a:ext cx="54178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推奨</a:t>
            </a:r>
            <a:endParaRPr lang="en-US" sz="1050" dirty="0"/>
          </a:p>
        </p:txBody>
      </p:sp>
      <p:sp>
        <p:nvSpPr>
          <p:cNvPr id="13" name="Shape 11"/>
          <p:cNvSpPr/>
          <p:nvPr/>
        </p:nvSpPr>
        <p:spPr>
          <a:xfrm>
            <a:off x="6240780" y="3200400"/>
            <a:ext cx="5417820" cy="3383280"/>
          </a:xfrm>
          <a:prstGeom prst="roundRect">
            <a:avLst>
              <a:gd name="adj" fmla="val 2162"/>
            </a:avLst>
          </a:prstGeom>
          <a:solidFill>
            <a:srgbClr val="1E2A3A"/>
          </a:solidFill>
          <a:ln/>
          <a:effectLst>
            <a:outerShdw sx="100000" sy="100000" kx="0" ky="0" algn="bl" rotWithShape="0" blurRad="101600" dist="38100" dir="2700000">
              <a:srgbClr val="000000">
                <a:alpha val="12000"/>
              </a:srgbClr>
            </a:outerShdw>
          </a:effectLst>
        </p:spPr>
      </p:sp>
      <p:sp>
        <p:nvSpPr>
          <p:cNvPr id="14" name="Text 12"/>
          <p:cNvSpPr/>
          <p:nvPr/>
        </p:nvSpPr>
        <p:spPr>
          <a:xfrm>
            <a:off x="6533388" y="3438144"/>
            <a:ext cx="4445996" cy="297180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範囲指定 + クラスタリング</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キー(event_ts)でプルーニング</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ALTER TABLE event_logs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CLUSTER BY (event_ts);</a:t>
            </a:r>
            <a:endParaRPr lang="en-US" sz="1100" dirty="0"/>
          </a:p>
          <a:p>
            <a:pPr indent="0" marL="0">
              <a:lnSpc>
                <a:spcPct val="120000"/>
              </a:lnSpc>
              <a:buNone/>
            </a:pP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SELECT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FROM event_logs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WHERE event_ts</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&gt;= DATEADD('day', -7,</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CURRENT_TIMESTAMP())</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AND level = 'ERROR';</a:t>
            </a:r>
            <a:endParaRPr lang="en-US" sz="1100" dirty="0"/>
          </a:p>
          <a:p>
            <a:pPr indent="0" marL="0">
              <a:lnSpc>
                <a:spcPct val="120000"/>
              </a:lnSpc>
              <a:buNone/>
            </a:pP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Partitions scanned: 64</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Partitions total:   8,200</a:t>
            </a:r>
            <a:endParaRPr lang="en-US" sz="1100" dirty="0"/>
          </a:p>
        </p:txBody>
      </p:sp>
      <p:sp>
        <p:nvSpPr>
          <p:cNvPr id="15" name="Text 13"/>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16" name="Text 14"/>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実践チューニング②  スピルの解消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巨大なウィンドウ関数のソートを分割する</a:t>
            </a:r>
            <a:endParaRPr lang="en-US" sz="1300" dirty="0"/>
          </a:p>
        </p:txBody>
      </p:sp>
      <p:sp>
        <p:nvSpPr>
          <p:cNvPr id="4" name="Shape 2"/>
          <p:cNvSpPr/>
          <p:nvPr/>
        </p:nvSpPr>
        <p:spPr>
          <a:xfrm>
            <a:off x="548640" y="1600200"/>
            <a:ext cx="11109960" cy="914400"/>
          </a:xfrm>
          <a:prstGeom prst="roundRect">
            <a:avLst>
              <a:gd name="adj" fmla="val 7000"/>
            </a:avLst>
          </a:prstGeom>
          <a:solidFill>
            <a:srgbClr val="F4F9FC"/>
          </a:solidFill>
          <a:ln w="15875">
            <a:solidFill>
              <a:srgbClr val="1C7293"/>
            </a:solidFill>
            <a:prstDash val="solid"/>
          </a:ln>
        </p:spPr>
      </p:sp>
      <p:sp>
        <p:nvSpPr>
          <p:cNvPr id="5" name="Text 3"/>
          <p:cNvSpPr/>
          <p:nvPr/>
        </p:nvSpPr>
        <p:spPr>
          <a:xfrm>
            <a:off x="777240" y="1709928"/>
            <a:ext cx="1065276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補足</a:t>
            </a:r>
            <a:endParaRPr lang="en-US" sz="1050" dirty="0"/>
          </a:p>
        </p:txBody>
      </p:sp>
      <p:sp>
        <p:nvSpPr>
          <p:cNvPr id="6" name="Text 4"/>
          <p:cNvSpPr/>
          <p:nvPr/>
        </p:nvSpPr>
        <p:spPr>
          <a:xfrm>
            <a:off x="777240" y="1984248"/>
            <a:ext cx="10652760" cy="41148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シナリオ：全顧客×全商品の組み合わせでランキングを計算するクエリが、SMALLウェアハウスでリモートスピルし30分以上かかっていた。</a:t>
            </a:r>
            <a:endParaRPr lang="en-US" sz="1150" dirty="0"/>
          </a:p>
        </p:txBody>
      </p:sp>
      <p:sp>
        <p:nvSpPr>
          <p:cNvPr id="7" name="Shape 5"/>
          <p:cNvSpPr/>
          <p:nvPr/>
        </p:nvSpPr>
        <p:spPr>
          <a:xfrm>
            <a:off x="548640" y="2697480"/>
            <a:ext cx="5417820" cy="292608"/>
          </a:xfrm>
          <a:prstGeom prst="roundRect">
            <a:avLst>
              <a:gd name="adj" fmla="val 15625"/>
            </a:avLst>
          </a:prstGeom>
          <a:solidFill>
            <a:srgbClr val="C0392B"/>
          </a:solidFill>
          <a:ln/>
        </p:spPr>
      </p:sp>
      <p:sp>
        <p:nvSpPr>
          <p:cNvPr id="8" name="Text 6"/>
          <p:cNvSpPr/>
          <p:nvPr/>
        </p:nvSpPr>
        <p:spPr>
          <a:xfrm>
            <a:off x="548640" y="2697480"/>
            <a:ext cx="54178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避けるべき</a:t>
            </a:r>
            <a:endParaRPr lang="en-US" sz="1050" dirty="0"/>
          </a:p>
        </p:txBody>
      </p:sp>
      <p:sp>
        <p:nvSpPr>
          <p:cNvPr id="9" name="Shape 7"/>
          <p:cNvSpPr/>
          <p:nvPr/>
        </p:nvSpPr>
        <p:spPr>
          <a:xfrm>
            <a:off x="548640" y="3063240"/>
            <a:ext cx="5417820" cy="3520440"/>
          </a:xfrm>
          <a:prstGeom prst="roundRect">
            <a:avLst>
              <a:gd name="adj" fmla="val 2078"/>
            </a:avLst>
          </a:prstGeom>
          <a:solidFill>
            <a:srgbClr val="1E2A3A"/>
          </a:solidFill>
          <a:ln/>
          <a:effectLst>
            <a:outerShdw sx="100000" sy="100000" kx="0" ky="0" algn="bl" rotWithShape="0" blurRad="101600" dist="38100" dir="2700000">
              <a:srgbClr val="000000">
                <a:alpha val="12000"/>
              </a:srgbClr>
            </a:outerShdw>
          </a:effectLst>
        </p:spPr>
      </p:sp>
      <p:sp>
        <p:nvSpPr>
          <p:cNvPr id="10" name="Text 8"/>
          <p:cNvSpPr/>
          <p:nvPr/>
        </p:nvSpPr>
        <p:spPr>
          <a:xfrm>
            <a:off x="841248" y="3300984"/>
            <a:ext cx="4445996" cy="310896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巨大なPARTITION全体を</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-- 1回のソートで処理しようとし</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メモリを使い切ってスピル</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SELECT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RANK() OVER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PARTITION BY category</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ORDER BY total_sales DESC</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 AS rnk</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FROM product_sales_huge;</a:t>
            </a:r>
            <a:endParaRPr lang="en-US" sz="1100" dirty="0"/>
          </a:p>
          <a:p>
            <a:pPr indent="0" marL="0">
              <a:lnSpc>
                <a:spcPct val="120000"/>
              </a:lnSpc>
              <a:buNone/>
            </a:pP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 Bytes spilled to remote:</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120 GB</a:t>
            </a:r>
            <a:endParaRPr lang="en-US" sz="1100" dirty="0"/>
          </a:p>
        </p:txBody>
      </p:sp>
      <p:sp>
        <p:nvSpPr>
          <p:cNvPr id="11" name="Shape 9"/>
          <p:cNvSpPr/>
          <p:nvPr/>
        </p:nvSpPr>
        <p:spPr>
          <a:xfrm>
            <a:off x="6240780" y="2697480"/>
            <a:ext cx="5417820" cy="292608"/>
          </a:xfrm>
          <a:prstGeom prst="roundRect">
            <a:avLst>
              <a:gd name="adj" fmla="val 15625"/>
            </a:avLst>
          </a:prstGeom>
          <a:solidFill>
            <a:srgbClr val="1F8A5F"/>
          </a:solidFill>
          <a:ln/>
        </p:spPr>
      </p:sp>
      <p:sp>
        <p:nvSpPr>
          <p:cNvPr id="12" name="Text 10"/>
          <p:cNvSpPr/>
          <p:nvPr/>
        </p:nvSpPr>
        <p:spPr>
          <a:xfrm>
            <a:off x="6240780" y="2697480"/>
            <a:ext cx="54178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推奨</a:t>
            </a:r>
            <a:endParaRPr lang="en-US" sz="1050" dirty="0"/>
          </a:p>
        </p:txBody>
      </p:sp>
      <p:sp>
        <p:nvSpPr>
          <p:cNvPr id="13" name="Shape 11"/>
          <p:cNvSpPr/>
          <p:nvPr/>
        </p:nvSpPr>
        <p:spPr>
          <a:xfrm>
            <a:off x="6240780" y="3063240"/>
            <a:ext cx="5417820" cy="3520440"/>
          </a:xfrm>
          <a:prstGeom prst="roundRect">
            <a:avLst>
              <a:gd name="adj" fmla="val 2078"/>
            </a:avLst>
          </a:prstGeom>
          <a:solidFill>
            <a:srgbClr val="1E2A3A"/>
          </a:solidFill>
          <a:ln/>
          <a:effectLst>
            <a:outerShdw sx="100000" sy="100000" kx="0" ky="0" algn="bl" rotWithShape="0" blurRad="101600" dist="38100" dir="2700000">
              <a:srgbClr val="000000">
                <a:alpha val="12000"/>
              </a:srgbClr>
            </a:outerShdw>
          </a:effectLst>
        </p:spPr>
      </p:sp>
      <p:sp>
        <p:nvSpPr>
          <p:cNvPr id="14" name="Text 12"/>
          <p:cNvSpPr/>
          <p:nvPr/>
        </p:nvSpPr>
        <p:spPr>
          <a:xfrm>
            <a:off x="6533388" y="3300984"/>
            <a:ext cx="4445996" cy="310896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事前にWHEREで対象を絞り、</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必要に応じてMサイズに</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一時的にスケールアップ</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ALTER WAREHOUSE etl_wh</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SET WAREHOUSE_SIZE = 'MEDIUM';</a:t>
            </a:r>
            <a:endParaRPr lang="en-US" sz="1100" dirty="0"/>
          </a:p>
          <a:p>
            <a:pPr indent="0" marL="0">
              <a:lnSpc>
                <a:spcPct val="120000"/>
              </a:lnSpc>
              <a:buNone/>
            </a:pP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SELECT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RANK() OVER (</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PARTITION BY category</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ORDER BY total_sales DESC</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 AS rnk</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FROM product_sales_huge</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WHERE sales_year &gt;= 2024;</a:t>
            </a:r>
            <a:endParaRPr lang="en-US" sz="1100" dirty="0"/>
          </a:p>
        </p:txBody>
      </p:sp>
      <p:sp>
        <p:nvSpPr>
          <p:cNvPr id="15" name="Text 13"/>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16" name="Text 14"/>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実践チューニング③  キューイングの解消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「クエリが遅い」のか「順番待ちなのか」を見極める</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症状：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個々のクエリ実行時間（Execution Time）は短いのに、合計の待ち時間（Queued）が長い</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原因：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単一クラスタのウェアハウスに同時接続が集中し、8並列の上限に達している</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誤った対処：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ウェアハウスサイズを上げる（垂直スケール）→ コストが増えるが並列数自体は変わらない</a:t>
            </a:r>
            <a:endParaRPr lang="en-US" sz="120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正しい対処：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マルチクラスタ化（水平スケール）し、MAX_CLUSTER_COUNTを増やす</a:t>
            </a:r>
            <a:endParaRPr lang="en-US" sz="1200" dirty="0"/>
          </a:p>
        </p:txBody>
      </p:sp>
      <p:sp>
        <p:nvSpPr>
          <p:cNvPr id="12" name="Shape 10"/>
          <p:cNvSpPr/>
          <p:nvPr/>
        </p:nvSpPr>
        <p:spPr>
          <a:xfrm>
            <a:off x="6583680" y="1600200"/>
            <a:ext cx="5074920" cy="3840480"/>
          </a:xfrm>
          <a:prstGeom prst="roundRect">
            <a:avLst>
              <a:gd name="adj" fmla="val 1905"/>
            </a:avLst>
          </a:prstGeom>
          <a:solidFill>
            <a:srgbClr val="1E2A3A"/>
          </a:solidFill>
          <a:ln/>
          <a:effectLst>
            <a:outerShdw sx="100000" sy="100000" kx="0" ky="0" algn="bl" rotWithShape="0" blurRad="101600" dist="38100" dir="2700000">
              <a:srgbClr val="000000">
                <a:alpha val="12000"/>
              </a:srgbClr>
            </a:outerShdw>
          </a:effectLst>
        </p:spPr>
      </p:sp>
      <p:sp>
        <p:nvSpPr>
          <p:cNvPr id="13" name="Shape 11"/>
          <p:cNvSpPr/>
          <p:nvPr/>
        </p:nvSpPr>
        <p:spPr>
          <a:xfrm>
            <a:off x="10652760" y="1746504"/>
            <a:ext cx="822960" cy="292608"/>
          </a:xfrm>
          <a:prstGeom prst="roundRect">
            <a:avLst>
              <a:gd name="adj" fmla="val 18750"/>
            </a:avLst>
          </a:prstGeom>
          <a:solidFill>
            <a:srgbClr val="1C7293"/>
          </a:solidFill>
          <a:ln/>
        </p:spPr>
      </p:sp>
      <p:sp>
        <p:nvSpPr>
          <p:cNvPr id="14" name="Text 12"/>
          <p:cNvSpPr/>
          <p:nvPr/>
        </p:nvSpPr>
        <p:spPr>
          <a:xfrm>
            <a:off x="10652760" y="1746504"/>
            <a:ext cx="8229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5" name="Text 13"/>
          <p:cNvSpPr/>
          <p:nvPr/>
        </p:nvSpPr>
        <p:spPr>
          <a:xfrm>
            <a:off x="6876288" y="1837944"/>
            <a:ext cx="4130528" cy="3429000"/>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BIツール接続用ウェアハウスを</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マルチクラスタに変更</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ALTER WAREHOUSE bi_wh SET</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WAREHOUSE_SIZE = 'SMALL'</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MIN_CLUSTER_COUNT = 1</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MAX_CLUSTER_COUNT = 4</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SCALING_POLICY = 'STANDARD';</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改善確認:</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QUEUED_PROVISIONING_TIME と</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QUEUED_OVERLOAD_TIME が</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縮小しているかを確認</a:t>
            </a:r>
            <a:endParaRPr lang="en-US" sz="1300" dirty="0"/>
          </a:p>
        </p:txBody>
      </p:sp>
      <p:sp>
        <p:nvSpPr>
          <p:cNvPr id="16" name="Shape 14"/>
          <p:cNvSpPr/>
          <p:nvPr/>
        </p:nvSpPr>
        <p:spPr>
          <a:xfrm>
            <a:off x="6583680" y="5577840"/>
            <a:ext cx="5074920" cy="914400"/>
          </a:xfrm>
          <a:prstGeom prst="roundRect">
            <a:avLst>
              <a:gd name="adj" fmla="val 7000"/>
            </a:avLst>
          </a:prstGeom>
          <a:solidFill>
            <a:srgbClr val="F4F9FC"/>
          </a:solidFill>
          <a:ln w="15875">
            <a:solidFill>
              <a:srgbClr val="1F8A5F"/>
            </a:solidFill>
            <a:prstDash val="solid"/>
          </a:ln>
        </p:spPr>
      </p:sp>
      <p:sp>
        <p:nvSpPr>
          <p:cNvPr id="17" name="Text 15"/>
          <p:cNvSpPr/>
          <p:nvPr/>
        </p:nvSpPr>
        <p:spPr>
          <a:xfrm>
            <a:off x="6812280" y="5687568"/>
            <a:ext cx="4617720" cy="274320"/>
          </a:xfrm>
          <a:prstGeom prst="rect">
            <a:avLst/>
          </a:prstGeom>
          <a:noFill/>
          <a:ln/>
        </p:spPr>
        <p:txBody>
          <a:bodyPr wrap="square" lIns="0" tIns="0" rIns="0" bIns="0" rtlCol="0" anchor="ctr"/>
          <a:lstStyle/>
          <a:p>
            <a:pPr indent="0" marL="0">
              <a:buNone/>
            </a:pPr>
            <a:r>
              <a:rPr lang="en-US" sz="1050" b="1" dirty="0">
                <a:solidFill>
                  <a:srgbClr val="1F8A5F"/>
                </a:solidFill>
                <a:latin typeface="Calibri" pitchFamily="34" charset="0"/>
                <a:ea typeface="Calibri" pitchFamily="34" charset="-122"/>
                <a:cs typeface="Calibri" pitchFamily="34" charset="-120"/>
              </a:rPr>
              <a:t>ポイント</a:t>
            </a:r>
            <a:endParaRPr lang="en-US" sz="1050" dirty="0"/>
          </a:p>
        </p:txBody>
      </p:sp>
      <p:sp>
        <p:nvSpPr>
          <p:cNvPr id="18" name="Text 16"/>
          <p:cNvSpPr/>
          <p:nvPr/>
        </p:nvSpPr>
        <p:spPr>
          <a:xfrm>
            <a:off x="6812280" y="5961888"/>
            <a:ext cx="4617720" cy="41148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ACCOUNT_USAGE.QUERY_HISTORYのQUEUED_OVERLOAD_TIME列が大きい場合は、まさにこの「同時実行数オーバー」のサイン。</a:t>
            </a:r>
            <a:endParaRPr lang="en-US" sz="115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0"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チューニングの優先順位</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何から手をつけるべきかの判断フロー</a:t>
            </a:r>
            <a:endParaRPr lang="en-US" sz="1300" dirty="0"/>
          </a:p>
        </p:txBody>
      </p:sp>
      <p:sp>
        <p:nvSpPr>
          <p:cNvPr id="4" name="Shape 2"/>
          <p:cNvSpPr/>
          <p:nvPr/>
        </p:nvSpPr>
        <p:spPr>
          <a:xfrm>
            <a:off x="548640" y="1600200"/>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5" name="Text 3"/>
          <p:cNvSpPr/>
          <p:nvPr/>
        </p:nvSpPr>
        <p:spPr>
          <a:xfrm>
            <a:off x="777240" y="1709928"/>
            <a:ext cx="822960" cy="621792"/>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1691640" y="1709928"/>
            <a:ext cx="3291840" cy="62179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SQLロジックの見直し</a:t>
            </a:r>
            <a:endParaRPr lang="en-US" sz="1350" dirty="0"/>
          </a:p>
        </p:txBody>
      </p:sp>
      <p:sp>
        <p:nvSpPr>
          <p:cNvPr id="7" name="Text 5"/>
          <p:cNvSpPr/>
          <p:nvPr/>
        </p:nvSpPr>
        <p:spPr>
          <a:xfrm>
            <a:off x="5120640" y="1709928"/>
            <a:ext cx="6400800" cy="62179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不要な列・行のスキャン削減、JOIN条件の確認、QUALIFY等の活用</a:t>
            </a:r>
            <a:endParaRPr lang="en-US" sz="1150" dirty="0"/>
          </a:p>
        </p:txBody>
      </p:sp>
      <p:sp>
        <p:nvSpPr>
          <p:cNvPr id="8" name="Shape 6"/>
          <p:cNvSpPr/>
          <p:nvPr/>
        </p:nvSpPr>
        <p:spPr>
          <a:xfrm>
            <a:off x="548640" y="2569464"/>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9" name="Text 7"/>
          <p:cNvSpPr/>
          <p:nvPr/>
        </p:nvSpPr>
        <p:spPr>
          <a:xfrm>
            <a:off x="777240" y="2679192"/>
            <a:ext cx="822960" cy="621792"/>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1691640" y="2679192"/>
            <a:ext cx="3291840" cy="62179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プルーニングの確認</a:t>
            </a:r>
            <a:endParaRPr lang="en-US" sz="1350" dirty="0"/>
          </a:p>
        </p:txBody>
      </p:sp>
      <p:sp>
        <p:nvSpPr>
          <p:cNvPr id="11" name="Text 9"/>
          <p:cNvSpPr/>
          <p:nvPr/>
        </p:nvSpPr>
        <p:spPr>
          <a:xfrm>
            <a:off x="5120640" y="2679192"/>
            <a:ext cx="6400800" cy="62179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WHERE句に関数をかけていないか、クラスタリングキーが適切か</a:t>
            </a:r>
            <a:endParaRPr lang="en-US" sz="1150" dirty="0"/>
          </a:p>
        </p:txBody>
      </p:sp>
      <p:sp>
        <p:nvSpPr>
          <p:cNvPr id="12" name="Shape 10"/>
          <p:cNvSpPr/>
          <p:nvPr/>
        </p:nvSpPr>
        <p:spPr>
          <a:xfrm>
            <a:off x="548640" y="3538728"/>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13" name="Text 11"/>
          <p:cNvSpPr/>
          <p:nvPr/>
        </p:nvSpPr>
        <p:spPr>
          <a:xfrm>
            <a:off x="777240" y="3648456"/>
            <a:ext cx="822960" cy="621792"/>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1691640" y="3648456"/>
            <a:ext cx="3291840" cy="62179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スピルの確認</a:t>
            </a:r>
            <a:endParaRPr lang="en-US" sz="1350" dirty="0"/>
          </a:p>
        </p:txBody>
      </p:sp>
      <p:sp>
        <p:nvSpPr>
          <p:cNvPr id="15" name="Text 13"/>
          <p:cNvSpPr/>
          <p:nvPr/>
        </p:nvSpPr>
        <p:spPr>
          <a:xfrm>
            <a:off x="5120640" y="3648456"/>
            <a:ext cx="6400800" cy="62179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Query Profileでローカル/リモートスピルの有無を確認</a:t>
            </a:r>
            <a:endParaRPr lang="en-US" sz="1150" dirty="0"/>
          </a:p>
        </p:txBody>
      </p:sp>
      <p:sp>
        <p:nvSpPr>
          <p:cNvPr id="16" name="Shape 14"/>
          <p:cNvSpPr/>
          <p:nvPr/>
        </p:nvSpPr>
        <p:spPr>
          <a:xfrm>
            <a:off x="548640" y="4507992"/>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17" name="Text 15"/>
          <p:cNvSpPr/>
          <p:nvPr/>
        </p:nvSpPr>
        <p:spPr>
          <a:xfrm>
            <a:off x="777240" y="4617720"/>
            <a:ext cx="822960" cy="621792"/>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1691640" y="4617720"/>
            <a:ext cx="3291840" cy="62179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ウェアハウスサイズ</a:t>
            </a:r>
            <a:endParaRPr lang="en-US" sz="1350" dirty="0"/>
          </a:p>
        </p:txBody>
      </p:sp>
      <p:sp>
        <p:nvSpPr>
          <p:cNvPr id="19" name="Text 17"/>
          <p:cNvSpPr/>
          <p:nvPr/>
        </p:nvSpPr>
        <p:spPr>
          <a:xfrm>
            <a:off x="5120640" y="4617720"/>
            <a:ext cx="6400800" cy="62179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スピル解消や処理時間短縮が目的。垂直スケール</a:t>
            </a:r>
            <a:endParaRPr lang="en-US" sz="1150" dirty="0"/>
          </a:p>
        </p:txBody>
      </p:sp>
      <p:sp>
        <p:nvSpPr>
          <p:cNvPr id="20" name="Shape 18"/>
          <p:cNvSpPr/>
          <p:nvPr/>
        </p:nvSpPr>
        <p:spPr>
          <a:xfrm>
            <a:off x="548640" y="5477256"/>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21" name="Text 19"/>
          <p:cNvSpPr/>
          <p:nvPr/>
        </p:nvSpPr>
        <p:spPr>
          <a:xfrm>
            <a:off x="777240" y="5586984"/>
            <a:ext cx="822960" cy="621792"/>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1691640" y="5586984"/>
            <a:ext cx="3291840" cy="62179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マルチクラスタ化</a:t>
            </a:r>
            <a:endParaRPr lang="en-US" sz="1350" dirty="0"/>
          </a:p>
        </p:txBody>
      </p:sp>
      <p:sp>
        <p:nvSpPr>
          <p:cNvPr id="23" name="Text 21"/>
          <p:cNvSpPr/>
          <p:nvPr/>
        </p:nvSpPr>
        <p:spPr>
          <a:xfrm>
            <a:off x="5120640" y="5586984"/>
            <a:ext cx="6400800" cy="62179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同時実行数によるキューイング解消が目的。水平スケール</a:t>
            </a:r>
            <a:endParaRPr lang="en-US" sz="1150" dirty="0"/>
          </a:p>
        </p:txBody>
      </p:sp>
      <p:sp>
        <p:nvSpPr>
          <p:cNvPr id="24" name="Text 22"/>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5" name="Text 23"/>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パフォーマンス系アンチパターン</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設計レビュー時に確認したい項目</a:t>
            </a:r>
            <a:endParaRPr lang="en-US" sz="1300" dirty="0"/>
          </a:p>
        </p:txBody>
      </p:sp>
      <p:sp>
        <p:nvSpPr>
          <p:cNvPr id="4" name="Shape 2"/>
          <p:cNvSpPr/>
          <p:nvPr/>
        </p:nvSpPr>
        <p:spPr>
          <a:xfrm>
            <a:off x="548640" y="1600200"/>
            <a:ext cx="5440680" cy="1828800"/>
          </a:xfrm>
          <a:prstGeom prst="roundRect">
            <a:avLst>
              <a:gd name="adj" fmla="val 5000"/>
            </a:avLst>
          </a:prstGeom>
          <a:solidFill>
            <a:srgbClr val="F4F9FC"/>
          </a:solidFill>
          <a:ln w="15875">
            <a:solidFill>
              <a:srgbClr val="B7791F"/>
            </a:solidFill>
            <a:prstDash val="solid"/>
          </a:ln>
        </p:spPr>
      </p:sp>
      <p:pic>
        <p:nvPicPr>
          <p:cNvPr id="5" name="Image 0" descr="icons/warning_amber.png">    </p:cNvPr>
          <p:cNvPicPr>
            <a:picLocks noChangeAspect="1"/>
          </p:cNvPicPr>
          <p:nvPr/>
        </p:nvPicPr>
        <p:blipFill>
          <a:blip r:embed="rId1"/>
          <a:stretch>
            <a:fillRect/>
          </a:stretch>
        </p:blipFill>
        <p:spPr>
          <a:xfrm>
            <a:off x="777240" y="1801368"/>
            <a:ext cx="365760" cy="365760"/>
          </a:xfrm>
          <a:prstGeom prst="rect">
            <a:avLst/>
          </a:prstGeom>
        </p:spPr>
      </p:pic>
      <p:sp>
        <p:nvSpPr>
          <p:cNvPr id="6" name="Text 3"/>
          <p:cNvSpPr/>
          <p:nvPr/>
        </p:nvSpPr>
        <p:spPr>
          <a:xfrm>
            <a:off x="1280160" y="17830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巨大ウェアハウスを常時起動</a:t>
            </a:r>
            <a:endParaRPr lang="en-US" sz="1300" dirty="0"/>
          </a:p>
        </p:txBody>
      </p:sp>
      <p:sp>
        <p:nvSpPr>
          <p:cNvPr id="7" name="Text 4"/>
          <p:cNvSpPr/>
          <p:nvPr/>
        </p:nvSpPr>
        <p:spPr>
          <a:xfrm>
            <a:off x="822960" y="23134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AUTO_SUSPENDを設定せず大型ウェアハウスを放置し、アイドル時間も課金され続ける</a:t>
            </a:r>
            <a:endParaRPr lang="en-US" sz="1100" dirty="0"/>
          </a:p>
        </p:txBody>
      </p:sp>
      <p:sp>
        <p:nvSpPr>
          <p:cNvPr id="8" name="Shape 5"/>
          <p:cNvSpPr/>
          <p:nvPr/>
        </p:nvSpPr>
        <p:spPr>
          <a:xfrm>
            <a:off x="6217920" y="1600200"/>
            <a:ext cx="5440680" cy="1828800"/>
          </a:xfrm>
          <a:prstGeom prst="roundRect">
            <a:avLst>
              <a:gd name="adj" fmla="val 5000"/>
            </a:avLst>
          </a:prstGeom>
          <a:solidFill>
            <a:srgbClr val="F4F9FC"/>
          </a:solidFill>
          <a:ln w="15875">
            <a:solidFill>
              <a:srgbClr val="B7791F"/>
            </a:solidFill>
            <a:prstDash val="solid"/>
          </a:ln>
        </p:spPr>
      </p:sp>
      <p:pic>
        <p:nvPicPr>
          <p:cNvPr id="9" name="Image 1" descr="icons/warning_amber.png">    </p:cNvPr>
          <p:cNvPicPr>
            <a:picLocks noChangeAspect="1"/>
          </p:cNvPicPr>
          <p:nvPr/>
        </p:nvPicPr>
        <p:blipFill>
          <a:blip r:embed="rId2"/>
          <a:stretch>
            <a:fillRect/>
          </a:stretch>
        </p:blipFill>
        <p:spPr>
          <a:xfrm>
            <a:off x="6446520" y="1801368"/>
            <a:ext cx="365760" cy="365760"/>
          </a:xfrm>
          <a:prstGeom prst="rect">
            <a:avLst/>
          </a:prstGeom>
        </p:spPr>
      </p:pic>
      <p:sp>
        <p:nvSpPr>
          <p:cNvPr id="10" name="Text 6"/>
          <p:cNvSpPr/>
          <p:nvPr/>
        </p:nvSpPr>
        <p:spPr>
          <a:xfrm>
            <a:off x="6949440" y="17830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WHERE句に関数を多用</a:t>
            </a:r>
            <a:endParaRPr lang="en-US" sz="1300" dirty="0"/>
          </a:p>
        </p:txBody>
      </p:sp>
      <p:sp>
        <p:nvSpPr>
          <p:cNvPr id="11" name="Text 7"/>
          <p:cNvSpPr/>
          <p:nvPr/>
        </p:nvSpPr>
        <p:spPr>
          <a:xfrm>
            <a:off x="6492240" y="23134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YEAR(col)やTO_VARCHAR(col)等でプルーニングを無効化してしまう</a:t>
            </a:r>
            <a:endParaRPr lang="en-US" sz="1100" dirty="0"/>
          </a:p>
        </p:txBody>
      </p:sp>
      <p:sp>
        <p:nvSpPr>
          <p:cNvPr id="12" name="Shape 8"/>
          <p:cNvSpPr/>
          <p:nvPr/>
        </p:nvSpPr>
        <p:spPr>
          <a:xfrm>
            <a:off x="548640" y="3657600"/>
            <a:ext cx="5440680" cy="1828800"/>
          </a:xfrm>
          <a:prstGeom prst="roundRect">
            <a:avLst>
              <a:gd name="adj" fmla="val 5000"/>
            </a:avLst>
          </a:prstGeom>
          <a:solidFill>
            <a:srgbClr val="F4F9FC"/>
          </a:solidFill>
          <a:ln w="15875">
            <a:solidFill>
              <a:srgbClr val="B7791F"/>
            </a:solidFill>
            <a:prstDash val="solid"/>
          </a:ln>
        </p:spPr>
      </p:sp>
      <p:pic>
        <p:nvPicPr>
          <p:cNvPr id="13" name="Image 2" descr="icons/warning_amber.png">    </p:cNvPr>
          <p:cNvPicPr>
            <a:picLocks noChangeAspect="1"/>
          </p:cNvPicPr>
          <p:nvPr/>
        </p:nvPicPr>
        <p:blipFill>
          <a:blip r:embed="rId3"/>
          <a:stretch>
            <a:fillRect/>
          </a:stretch>
        </p:blipFill>
        <p:spPr>
          <a:xfrm>
            <a:off x="777240" y="3858768"/>
            <a:ext cx="365760" cy="365760"/>
          </a:xfrm>
          <a:prstGeom prst="rect">
            <a:avLst/>
          </a:prstGeom>
        </p:spPr>
      </p:pic>
      <p:sp>
        <p:nvSpPr>
          <p:cNvPr id="14" name="Text 9"/>
          <p:cNvSpPr/>
          <p:nvPr/>
        </p:nvSpPr>
        <p:spPr>
          <a:xfrm>
            <a:off x="1280160" y="38404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全ワークロードを1つのウェアハウスに集約</a:t>
            </a:r>
            <a:endParaRPr lang="en-US" sz="1300" dirty="0"/>
          </a:p>
        </p:txBody>
      </p:sp>
      <p:sp>
        <p:nvSpPr>
          <p:cNvPr id="15" name="Text 10"/>
          <p:cNvSpPr/>
          <p:nvPr/>
        </p:nvSpPr>
        <p:spPr>
          <a:xfrm>
            <a:off x="822960" y="43708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ETLとBIが同居し、互いの負荷でキューイングや巨大化を招く</a:t>
            </a:r>
            <a:endParaRPr lang="en-US" sz="1100" dirty="0"/>
          </a:p>
        </p:txBody>
      </p:sp>
      <p:sp>
        <p:nvSpPr>
          <p:cNvPr id="16" name="Shape 11"/>
          <p:cNvSpPr/>
          <p:nvPr/>
        </p:nvSpPr>
        <p:spPr>
          <a:xfrm>
            <a:off x="6217920" y="3657600"/>
            <a:ext cx="5440680" cy="1828800"/>
          </a:xfrm>
          <a:prstGeom prst="roundRect">
            <a:avLst>
              <a:gd name="adj" fmla="val 5000"/>
            </a:avLst>
          </a:prstGeom>
          <a:solidFill>
            <a:srgbClr val="F4F9FC"/>
          </a:solidFill>
          <a:ln w="15875">
            <a:solidFill>
              <a:srgbClr val="B7791F"/>
            </a:solidFill>
            <a:prstDash val="solid"/>
          </a:ln>
        </p:spPr>
      </p:sp>
      <p:pic>
        <p:nvPicPr>
          <p:cNvPr id="17" name="Image 3" descr="icons/warning_amber.png">    </p:cNvPr>
          <p:cNvPicPr>
            <a:picLocks noChangeAspect="1"/>
          </p:cNvPicPr>
          <p:nvPr/>
        </p:nvPicPr>
        <p:blipFill>
          <a:blip r:embed="rId4"/>
          <a:stretch>
            <a:fillRect/>
          </a:stretch>
        </p:blipFill>
        <p:spPr>
          <a:xfrm>
            <a:off x="6446520" y="3858768"/>
            <a:ext cx="365760" cy="365760"/>
          </a:xfrm>
          <a:prstGeom prst="rect">
            <a:avLst/>
          </a:prstGeom>
        </p:spPr>
      </p:pic>
      <p:sp>
        <p:nvSpPr>
          <p:cNvPr id="18" name="Text 12"/>
          <p:cNvSpPr/>
          <p:nvPr/>
        </p:nvSpPr>
        <p:spPr>
          <a:xfrm>
            <a:off x="6949440" y="38404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クラスタリングキーの付け過ぎ</a:t>
            </a:r>
            <a:endParaRPr lang="en-US" sz="1300" dirty="0"/>
          </a:p>
        </p:txBody>
      </p:sp>
      <p:sp>
        <p:nvSpPr>
          <p:cNvPr id="19" name="Text 13"/>
          <p:cNvSpPr/>
          <p:nvPr/>
        </p:nvSpPr>
        <p:spPr>
          <a:xfrm>
            <a:off x="6492240" y="43708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5列以上指定し、再クラスタリングコストが効果を上回る</a:t>
            </a:r>
            <a:endParaRPr lang="en-US" sz="1100" dirty="0"/>
          </a:p>
        </p:txBody>
      </p:sp>
      <p:sp>
        <p:nvSpPr>
          <p:cNvPr id="20" name="Text 14"/>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1" name="Text 15"/>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65A82">
              <a:alpha val="35000"/>
            </a:srgbClr>
          </a:solidFill>
          <a:ln/>
        </p:spPr>
      </p:sp>
      <p:sp>
        <p:nvSpPr>
          <p:cNvPr id="3" name="Shape 1"/>
          <p:cNvSpPr/>
          <p:nvPr/>
        </p:nvSpPr>
        <p:spPr>
          <a:xfrm>
            <a:off x="10058400" y="4114800"/>
            <a:ext cx="3657600" cy="3657600"/>
          </a:xfrm>
          <a:prstGeom prst="ellipse">
            <a:avLst/>
          </a:prstGeom>
          <a:solidFill>
            <a:srgbClr val="1C7293">
              <a:alpha val="40000"/>
            </a:srgbClr>
          </a:solidFill>
          <a:ln/>
        </p:spPr>
      </p:sp>
      <p:sp>
        <p:nvSpPr>
          <p:cNvPr id="4" name="Text 2"/>
          <p:cNvSpPr/>
          <p:nvPr/>
        </p:nvSpPr>
        <p:spPr>
          <a:xfrm>
            <a:off x="640080" y="50292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まとめ：実装前チェックリスト</a:t>
            </a:r>
            <a:endParaRPr lang="en-US" sz="3000" dirty="0"/>
          </a:p>
        </p:txBody>
      </p:sp>
      <p:sp>
        <p:nvSpPr>
          <p:cNvPr id="5" name="Text 3"/>
          <p:cNvSpPr/>
          <p:nvPr/>
        </p:nvSpPr>
        <p:spPr>
          <a:xfrm>
            <a:off x="640080" y="1097280"/>
            <a:ext cx="7315200" cy="411480"/>
          </a:xfrm>
          <a:prstGeom prst="rect">
            <a:avLst/>
          </a:prstGeom>
          <a:noFill/>
          <a:ln/>
        </p:spPr>
        <p:txBody>
          <a:bodyPr wrap="square" lIns="0" tIns="0" rIns="0" bIns="0" rtlCol="0" anchor="ctr"/>
          <a:lstStyle/>
          <a:p>
            <a:pPr indent="0" marL="0">
              <a:buNone/>
            </a:pPr>
            <a:r>
              <a:rPr lang="en-US" sz="1500" dirty="0">
                <a:solidFill>
                  <a:srgbClr val="EAF4FB"/>
                </a:solidFill>
                <a:latin typeface="Calibri" pitchFamily="34" charset="0"/>
                <a:ea typeface="Calibri" pitchFamily="34" charset="-122"/>
                <a:cs typeface="Calibri" pitchFamily="34" charset="-120"/>
              </a:rPr>
              <a:t>パフォーマンスチューニング編の振り返り</a:t>
            </a:r>
            <a:endParaRPr lang="en-US" sz="1500" dirty="0"/>
          </a:p>
        </p:txBody>
      </p:sp>
      <p:sp>
        <p:nvSpPr>
          <p:cNvPr id="6" name="Shape 4"/>
          <p:cNvSpPr/>
          <p:nvPr/>
        </p:nvSpPr>
        <p:spPr>
          <a:xfrm>
            <a:off x="640080" y="178308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7" name="Image 0" descr="icons/check_white.png">    </p:cNvPr>
          <p:cNvPicPr>
            <a:picLocks noChangeAspect="1"/>
          </p:cNvPicPr>
          <p:nvPr/>
        </p:nvPicPr>
        <p:blipFill>
          <a:blip r:embed="rId1"/>
          <a:stretch>
            <a:fillRect/>
          </a:stretch>
        </p:blipFill>
        <p:spPr>
          <a:xfrm>
            <a:off x="868680" y="1956816"/>
            <a:ext cx="310896" cy="310896"/>
          </a:xfrm>
          <a:prstGeom prst="rect">
            <a:avLst/>
          </a:prstGeom>
        </p:spPr>
      </p:pic>
      <p:sp>
        <p:nvSpPr>
          <p:cNvPr id="8" name="Text 5"/>
          <p:cNvSpPr/>
          <p:nvPr/>
        </p:nvSpPr>
        <p:spPr>
          <a:xfrm>
            <a:off x="1371600" y="178308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WHERE句で列に関数をかけてプルーニングを妨げていないか</a:t>
            </a:r>
            <a:endParaRPr lang="en-US" sz="1250" dirty="0"/>
          </a:p>
        </p:txBody>
      </p:sp>
      <p:sp>
        <p:nvSpPr>
          <p:cNvPr id="9" name="Shape 6"/>
          <p:cNvSpPr/>
          <p:nvPr/>
        </p:nvSpPr>
        <p:spPr>
          <a:xfrm>
            <a:off x="640080" y="256032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0" name="Image 1" descr="icons/check_white.png">    </p:cNvPr>
          <p:cNvPicPr>
            <a:picLocks noChangeAspect="1"/>
          </p:cNvPicPr>
          <p:nvPr/>
        </p:nvPicPr>
        <p:blipFill>
          <a:blip r:embed="rId2"/>
          <a:stretch>
            <a:fillRect/>
          </a:stretch>
        </p:blipFill>
        <p:spPr>
          <a:xfrm>
            <a:off x="868680" y="2734056"/>
            <a:ext cx="310896" cy="310896"/>
          </a:xfrm>
          <a:prstGeom prst="rect">
            <a:avLst/>
          </a:prstGeom>
        </p:spPr>
      </p:pic>
      <p:sp>
        <p:nvSpPr>
          <p:cNvPr id="11" name="Text 7"/>
          <p:cNvSpPr/>
          <p:nvPr/>
        </p:nvSpPr>
        <p:spPr>
          <a:xfrm>
            <a:off x="1371600" y="256032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大規模テーブルにクラスタリングキーが必要か検討したか（3〜4列まで）</a:t>
            </a:r>
            <a:endParaRPr lang="en-US" sz="1250" dirty="0"/>
          </a:p>
        </p:txBody>
      </p:sp>
      <p:sp>
        <p:nvSpPr>
          <p:cNvPr id="12" name="Shape 8"/>
          <p:cNvSpPr/>
          <p:nvPr/>
        </p:nvSpPr>
        <p:spPr>
          <a:xfrm>
            <a:off x="640080" y="333756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3" name="Image 2" descr="icons/check_white.png">    </p:cNvPr>
          <p:cNvPicPr>
            <a:picLocks noChangeAspect="1"/>
          </p:cNvPicPr>
          <p:nvPr/>
        </p:nvPicPr>
        <p:blipFill>
          <a:blip r:embed="rId3"/>
          <a:stretch>
            <a:fillRect/>
          </a:stretch>
        </p:blipFill>
        <p:spPr>
          <a:xfrm>
            <a:off x="868680" y="3511296"/>
            <a:ext cx="310896" cy="310896"/>
          </a:xfrm>
          <a:prstGeom prst="rect">
            <a:avLst/>
          </a:prstGeom>
        </p:spPr>
      </p:pic>
      <p:sp>
        <p:nvSpPr>
          <p:cNvPr id="14" name="Text 9"/>
          <p:cNvSpPr/>
          <p:nvPr/>
        </p:nvSpPr>
        <p:spPr>
          <a:xfrm>
            <a:off x="1371600" y="333756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ワークロード特性（BI/ETL/アドホック）ごとにウェアハウスを分離しているか</a:t>
            </a:r>
            <a:endParaRPr lang="en-US" sz="1250" dirty="0"/>
          </a:p>
        </p:txBody>
      </p:sp>
      <p:sp>
        <p:nvSpPr>
          <p:cNvPr id="15" name="Shape 10"/>
          <p:cNvSpPr/>
          <p:nvPr/>
        </p:nvSpPr>
        <p:spPr>
          <a:xfrm>
            <a:off x="640080" y="411480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6" name="Image 3" descr="icons/check_white.png">    </p:cNvPr>
          <p:cNvPicPr>
            <a:picLocks noChangeAspect="1"/>
          </p:cNvPicPr>
          <p:nvPr/>
        </p:nvPicPr>
        <p:blipFill>
          <a:blip r:embed="rId4"/>
          <a:stretch>
            <a:fillRect/>
          </a:stretch>
        </p:blipFill>
        <p:spPr>
          <a:xfrm>
            <a:off x="868680" y="4288536"/>
            <a:ext cx="310896" cy="310896"/>
          </a:xfrm>
          <a:prstGeom prst="rect">
            <a:avLst/>
          </a:prstGeom>
        </p:spPr>
      </p:pic>
      <p:sp>
        <p:nvSpPr>
          <p:cNvPr id="17" name="Text 11"/>
          <p:cNvSpPr/>
          <p:nvPr/>
        </p:nvSpPr>
        <p:spPr>
          <a:xfrm>
            <a:off x="1371600" y="411480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同時実行のキューイングには、サイズでなくマルチクラスタで対応しているか</a:t>
            </a:r>
            <a:endParaRPr lang="en-US" sz="1250" dirty="0"/>
          </a:p>
        </p:txBody>
      </p:sp>
      <p:sp>
        <p:nvSpPr>
          <p:cNvPr id="18" name="Shape 12"/>
          <p:cNvSpPr/>
          <p:nvPr/>
        </p:nvSpPr>
        <p:spPr>
          <a:xfrm>
            <a:off x="640080" y="489204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9" name="Image 4" descr="icons/check_white.png">    </p:cNvPr>
          <p:cNvPicPr>
            <a:picLocks noChangeAspect="1"/>
          </p:cNvPicPr>
          <p:nvPr/>
        </p:nvPicPr>
        <p:blipFill>
          <a:blip r:embed="rId5"/>
          <a:stretch>
            <a:fillRect/>
          </a:stretch>
        </p:blipFill>
        <p:spPr>
          <a:xfrm>
            <a:off x="868680" y="5065776"/>
            <a:ext cx="310896" cy="310896"/>
          </a:xfrm>
          <a:prstGeom prst="rect">
            <a:avLst/>
          </a:prstGeom>
        </p:spPr>
      </p:pic>
      <p:sp>
        <p:nvSpPr>
          <p:cNvPr id="20" name="Text 13"/>
          <p:cNvSpPr/>
          <p:nvPr/>
        </p:nvSpPr>
        <p:spPr>
          <a:xfrm>
            <a:off x="1371600" y="489204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Query Profileでスピル（ローカル/リモート）の有無を確認したか</a:t>
            </a:r>
            <a:endParaRPr lang="en-US" sz="1250" dirty="0"/>
          </a:p>
        </p:txBody>
      </p:sp>
      <p:sp>
        <p:nvSpPr>
          <p:cNvPr id="21" name="Shape 14"/>
          <p:cNvSpPr/>
          <p:nvPr/>
        </p:nvSpPr>
        <p:spPr>
          <a:xfrm>
            <a:off x="640080" y="566928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22" name="Image 5" descr="icons/check_white.png">    </p:cNvPr>
          <p:cNvPicPr>
            <a:picLocks noChangeAspect="1"/>
          </p:cNvPicPr>
          <p:nvPr/>
        </p:nvPicPr>
        <p:blipFill>
          <a:blip r:embed="rId6"/>
          <a:stretch>
            <a:fillRect/>
          </a:stretch>
        </p:blipFill>
        <p:spPr>
          <a:xfrm>
            <a:off x="868680" y="5843016"/>
            <a:ext cx="310896" cy="310896"/>
          </a:xfrm>
          <a:prstGeom prst="rect">
            <a:avLst/>
          </a:prstGeom>
        </p:spPr>
      </p:pic>
      <p:sp>
        <p:nvSpPr>
          <p:cNvPr id="23" name="Text 15"/>
          <p:cNvSpPr/>
          <p:nvPr/>
        </p:nvSpPr>
        <p:spPr>
          <a:xfrm>
            <a:off x="1371600" y="566928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結果キャッシュが効く形でクエリを書けているか（非決定的関数を避ける）</a:t>
            </a:r>
            <a:endParaRPr lang="en-US" sz="1250" dirty="0"/>
          </a:p>
        </p:txBody>
      </p:sp>
      <p:sp>
        <p:nvSpPr>
          <p:cNvPr id="24" name="Text 16"/>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Snowflake開発者ガイド② パフォーマンスチューニング編</a:t>
            </a:r>
            <a:endParaRPr lang="en-US" sz="900" dirty="0"/>
          </a:p>
        </p:txBody>
      </p:sp>
      <p:sp>
        <p:nvSpPr>
          <p:cNvPr id="25" name="Text 17"/>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1C729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Snowflake開発者ガイド② パフォーマンスチューニング編</dc:title>
  <dc:subject>PptxGenJS Presentation</dc:subject>
  <dc:creator>Snowflake Developer Series</dc:creator>
  <cp:lastModifiedBy>Snowflake Developer Series</cp:lastModifiedBy>
  <cp:revision>1</cp:revision>
  <dcterms:created xsi:type="dcterms:W3CDTF">2026-06-20T20:39:58Z</dcterms:created>
  <dcterms:modified xsi:type="dcterms:W3CDTF">2026-06-20T20:39:58Z</dcterms:modified>
</cp:coreProperties>
</file>