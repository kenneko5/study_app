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image" Target="../media/image-16-1.png"/><Relationship Id="rId6" Type="http://schemas.openxmlformats.org/officeDocument/2006/relationships/image" Target="../media/image-16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84048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pic>
        <p:nvPicPr>
          <p:cNvPr id="5" name="Image 0" descr="icons/snowflak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開発者向けシリーズ  第1回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Snowflake開発者ガイド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AD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SQL開発実践編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CTE・ウィンドウ関数・MERGE・半構造化データ操作を実務レベルで身につける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9ADB2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SQL開発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14884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214884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パフォーマンス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65760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Snowpark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16636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7" name="Text 14"/>
          <p:cNvSpPr/>
          <p:nvPr/>
        </p:nvSpPr>
        <p:spPr>
          <a:xfrm>
            <a:off x="516636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CI/CD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67512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9" name="Text 16"/>
          <p:cNvSpPr/>
          <p:nvPr/>
        </p:nvSpPr>
        <p:spPr>
          <a:xfrm>
            <a:off x="667512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コスト最適化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18388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1" name="Text 18"/>
          <p:cNvSpPr/>
          <p:nvPr/>
        </p:nvSpPr>
        <p:spPr>
          <a:xfrm>
            <a:off x="818388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Streams/Tasks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69264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3" name="Text 20"/>
          <p:cNvSpPr/>
          <p:nvPr/>
        </p:nvSpPr>
        <p:spPr>
          <a:xfrm>
            <a:off x="969264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Cortex AI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本日のアジェンダ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SQL開発実践編で扱う7つのトピック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6093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CTEの実践活用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WITH句・再帰CTEで複雑なクエリを整理する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79392" y="1463040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6093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07992" y="217627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ウィンドウ関数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07992" y="25420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ROW_NUMBER, RANK, LAG/LEAD, QUALIFY句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10144" y="1463040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11312" y="16093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38744" y="217627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MERGE文の実務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38744" y="25420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Upsertパターンと非決定性エラーの回避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27248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32735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77240" y="38404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半構造化データ操作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2062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VARIANT, ドット記法, FLATTEN関数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79392" y="3127248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0560" y="32735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07992" y="38404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日付・文字列操作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07992" y="42062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実務で頻出する関数と注意点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10144" y="3127248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11312" y="32735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238744" y="38404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アンチパターン集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38744" y="42062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やりがちなミスとその回避策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791456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9808" y="4937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77240" y="550468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デバッグ・実行計画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587044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QUERY_HISTORYとProfile画面の読み方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Snowflake開発者ガイド① SQL開発実践編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開発者が知っておくべき前提知識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標準SQLとの違いとSnowflake特有の設計思想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列指向ストレージ：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行ではなく列単位で圧縮・格納されるため、SELECT *よりも必要列だけの指定が高速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5328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404872"/>
            <a:ext cx="5504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マイクロパーティション：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テーブルは自動的に約16MB単位に分割され、WHERE句の絞り込みで読み飛ばし（プルーニング）が起きる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40156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273552"/>
            <a:ext cx="5504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セッション変数とコンテキスト関数：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CURRENT_WAREHOUSE()等、実行コンテキストを取得する関数が豊富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2702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4142232"/>
            <a:ext cx="5504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ゼロコピークローン：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... CLONEで検証用データを即座に複製できる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652760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652760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1837944"/>
            <a:ext cx="4489704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開発時によく使う確認コマンド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CURRENT_WAREHOUSE(),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CURRENT_DATABASE(),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CURRENT_SCHEMA(),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CURRENT_ROLE();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テーブルの統計情報を確認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TABLES LIKE 'ORDERS';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検証用に本番データを即時複製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orders_dev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CLONE orders_prod;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5760720" cy="1005840"/>
          </a:xfrm>
          <a:prstGeom prst="roundRect">
            <a:avLst>
              <a:gd name="adj" fmla="val 6364"/>
            </a:avLst>
          </a:prstGeom>
          <a:solidFill>
            <a:srgbClr val="F4F9FC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846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補足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4589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標準SQLの知識はそのまま活かせるが、「列指向」「マイクロパーティション」を意識したクエリ設計が、実務でのパフォーマンス差につながる。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Snowflake開発者ガイド① SQL開発実践編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CTE（共通テーブル式）の基礎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WITH句でクエリの可読性と再利用性を高める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サブクエリをネストさせず、処理ステップを名前付きで分割できる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31136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03120"/>
            <a:ext cx="5504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同一CTEを複数回参照しても、Snowflakeは内部で結果を再利用しやすく最適化する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98064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670048"/>
            <a:ext cx="5504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複数のCTEはカンマ区切りで連結し、後続のCTEから前のCTEを参照可能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760720" cy="3200400"/>
          </a:xfrm>
          <a:prstGeom prst="roundRect">
            <a:avLst>
              <a:gd name="adj" fmla="val 2286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0" y="348386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348386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41248" y="3575304"/>
            <a:ext cx="517550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monthly_sales AS (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DATE_TRUNC('month', order_date) AS ym,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customer_id,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SUM(amount) AS total_amount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orders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1, 2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top_customers AS (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customer_id, SUM(total_amount) AS ltv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monthly_sales GROUP BY 1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ltv DESC LIMIT 100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m.* FROM monthly_sales m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top_customers USING (customer_id);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652760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0652760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76288" y="1837944"/>
            <a:ext cx="4489704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再帰CTE：組織階層をたどる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RECURSIVE org_chart AS 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アンカー：トップ階層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employee_id, manager_id,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name, 1 AS level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employees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manager_id IS NULL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UNION ALL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再帰：子階層を結合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e.employee_id, e.manager_id,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e.name, o.level + 1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employees 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org_chart o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e.manager_id = o.employee_id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org_chart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level;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Snowflake開発者ガイド① SQL開発実践編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ウィンドウ関数の基本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行をグループ化せずに集計・順位付けする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OVER句：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BYでグループ化、ORDER BYで並び順を指定して計算範囲を定義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順位系関数：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ROW_NUMBER（重複なし連番）、RANK（同順位は欠番あり）、DENSE_RANK（欠番なし）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参照系関数：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LAG/LEADで前後の行の値を取得。第2引数でオフセット行数を指定可能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760720" cy="1051560"/>
          </a:xfrm>
          <a:prstGeom prst="roundRect">
            <a:avLst>
              <a:gd name="adj" fmla="val 6087"/>
            </a:avLst>
          </a:prstGeom>
          <a:solidFill>
            <a:srgbClr val="F4F9FC"/>
          </a:solidFill>
          <a:ln w="15875">
            <a:solidFill>
              <a:srgbClr val="1F8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78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44531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BYと違い、ウィンドウ関数は元の行数を保ったまま集計値を付加できる。明細データに「その月の累計」等を持たせたい場合に有効。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5349240"/>
          </a:xfrm>
          <a:prstGeom prst="roundRect">
            <a:avLst>
              <a:gd name="adj" fmla="val 1441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652760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0652760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76288" y="1837944"/>
            <a:ext cx="4489704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order_id,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customer_id,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order_date,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顧客ごとの注文順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ROW_NUMBER() OVER 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customer_id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order_date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order_seq,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前回注文との金額差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 - LAG(amount) OVER 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customer_id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order_date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amount_diff,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月内累計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SUM(amount) OVER 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customer_id,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DATE_TRUNC('month', order_date)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order_date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month_running_total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Snowflake開発者ガイド① SQL開発実践編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QUALIFY句でウィンドウ関数を直接フィルタ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サブクエリのネストを不要にするSnowflake独自構文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ウィンドウ関数の結果はWHERE句では直接フィルタできない（WHEREはウィンドウ関数の計算前に評価されるため）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57984"/>
            <a:ext cx="5504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QUALIFYはウィンドウ関数の計算後に評価されるため、結果に対して直接条件を書ける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779776"/>
            <a:ext cx="5504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HAVING句がGROUP BYの結果をフィルタするのと同じ関係性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29584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401568"/>
            <a:ext cx="5504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標準SQLではなくSnowflake拡張構文（一部の他DBにも実装あり）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17820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60520"/>
            <a:ext cx="5417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5417820" cy="1874520"/>
          </a:xfrm>
          <a:prstGeom prst="roundRect">
            <a:avLst>
              <a:gd name="adj" fmla="val 3902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4764024"/>
            <a:ext cx="48326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(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*,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RANK() OVER (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PARTITION BY dept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ORDER BY salary DESC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AS rnk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employees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rnk = 1;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40780" y="4160520"/>
            <a:ext cx="5417820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240780" y="4160520"/>
            <a:ext cx="5417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推奨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40780" y="4526280"/>
            <a:ext cx="5417820" cy="1874520"/>
          </a:xfrm>
          <a:prstGeom prst="roundRect">
            <a:avLst>
              <a:gd name="adj" fmla="val 3902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3388" y="4764024"/>
            <a:ext cx="48326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*,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RANK() OVER (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dept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salary DESC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rnk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QUALIFY rnk = 1;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Snowflake開発者ガイド① SQL開発実践編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MERGE文の基本構文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INSERT・UPDATE・DELETEを1つの原子的な操作に統合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MATCHED：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ON条件が一致した行に対してUPDATEまたはDELETEを実行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MATCHED：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ON条件が一致しなかった行（ソース側のみに存在）に対してINSERTを実行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原子性：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MERGE全体が単一トランザクションとして実行され、一部だけ成功することはない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760720" cy="1371600"/>
          </a:xfrm>
          <a:prstGeom prst="roundRect">
            <a:avLst>
              <a:gd name="adj" fmla="val 4667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330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4407408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Snowflakeには「WHEN NOT MATCHED BY SOURCE」（標準SQLの一部DBにある、ターゲット側のみに存在する行を削除する句）は無い。同等の処理にはNOT EXISTSを使ったDELETE文を別途用意する。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74920" cy="5349240"/>
          </a:xfrm>
          <a:prstGeom prst="roundRect">
            <a:avLst>
              <a:gd name="adj" fmla="val 1441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652760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0652760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76288" y="1837944"/>
            <a:ext cx="4489704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典型的なUpsertパターン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INTO customers AS tgt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staging_customers AS src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tgt.customer_id = src.customer_id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MATCHED AND src.updated_at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tgt.updated_at THEN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SET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tgt.name = src.name,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tgt.email = src.email,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tgt.updated_at = src.updated_at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NOT MATCHED THEN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(customer_id, name, email,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updated_at)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VALUES (src.customer_id, src.name,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src.email, src.updated_at);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Snowflake開発者ガイド① SQL開発実践編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MERGE文の落とし穴：非決定性エラー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ソース側に重複キーがあると実行時エラーになる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914400"/>
          </a:xfrm>
          <a:prstGeom prst="roundRect">
            <a:avLst>
              <a:gd name="adj" fmla="val 7000"/>
            </a:avLst>
          </a:prstGeom>
          <a:solidFill>
            <a:srgbClr val="F4F9FC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09928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落とし穴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ON条件でターゲットの1行に対しソース側が複数行マッチすると「multiple matching rows」エラーで失敗する。原因はソースデータ側の重複であることがほとんど。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417820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97480"/>
            <a:ext cx="5417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5417820" cy="3429000"/>
          </a:xfrm>
          <a:prstGeom prst="roundRect">
            <a:avLst>
              <a:gd name="adj" fmla="val 2133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" y="3300984"/>
            <a:ext cx="483260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src に同じ customer_id が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複数行存在するとエラーになる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INTO customers AS tgt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staging_customers AS src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tgt.customer_id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= src.customer_id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MATCHED THEN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SET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tgt.email = src.email;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ERROR: Duplicate row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detected during MERGE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40780" y="2697480"/>
            <a:ext cx="5417820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240780" y="2697480"/>
            <a:ext cx="5417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推奨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40780" y="3063240"/>
            <a:ext cx="5417820" cy="3429000"/>
          </a:xfrm>
          <a:prstGeom prst="roundRect">
            <a:avLst>
              <a:gd name="adj" fmla="val 2133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3388" y="3300984"/>
            <a:ext cx="483260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GROUP BY / QUALIFYで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ソース側を一意化してから結合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INTO customers AS tgt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(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*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staging_customers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QUALIFY ROW_NUMBER() OVER (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customer_id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updated_at DESC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= 1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src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tgt.customer_id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= src.customer_id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MATCHED THEN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SET tgt.email = src.email;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Snowflake開発者ガイド① SQL開発実践編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半構造化データ① VARIANT型の基礎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JSON・Avro・ParquetをそのままSQLで扱う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VARIANT型：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JSON等の階層構造をそのまま1列に格納できる可変型（最大128MB）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ドット記法：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column:key.nested_key の形式でJSON内の値を辿る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明示的キャスト：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::string や ::number でVARIANTから具体的な型に変換する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NULL と JSON null：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VARIANT内の"null"文字列とSQLのNULLは別物として区別される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3840480"/>
          </a:xfrm>
          <a:prstGeom prst="roundRect">
            <a:avLst>
              <a:gd name="adj" fmla="val 1905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652760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652760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1837944"/>
            <a:ext cx="448970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VARIANT列を持つテーブル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events 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event_id INT,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payload VARIANT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ドット記法でJSON値を取得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event_id,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payload:user.id::INT AS user_id,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payload:user.name::STRING AS name,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payload:device_type::STRING AS device,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payload:metrics.duration_ms::NUMBER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duration_ms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events;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5577840"/>
            <a:ext cx="5074920" cy="960120"/>
          </a:xfrm>
          <a:prstGeom prst="roundRect">
            <a:avLst>
              <a:gd name="adj" fmla="val 6667"/>
            </a:avLst>
          </a:prstGeom>
          <a:solidFill>
            <a:srgbClr val="F4F9FC"/>
          </a:solidFill>
          <a:ln w="15875">
            <a:solidFill>
              <a:srgbClr val="1F8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568756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12280" y="596188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抽出した値をリレーショナル列として別途保持しておくと、Snowflakeはその列だけをスキャンできるため、抽出していないVARIANT全体を毎回トラバースするより高速になる。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Snowflake開発者ガイド① SQL開発実践編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半構造化データ② FLATTEN関数で配列を展開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1つのJSON配列を複数行に変換する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FLATTENはVARIANT・OBJECT・ARRAYを行に展開するテーブル関数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31136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03120"/>
            <a:ext cx="5504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LATERAL句と組み合わせ、元の行ごとに配列要素を展開する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98064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670048"/>
            <a:ext cx="5504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展開結果はVALUE列（要素の値）、INDEX列（配列内の位置）等で取得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64992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236976"/>
            <a:ext cx="5504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ネストした配列は、FLATTENを複数回チェーンして順に展開する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760720" cy="1143000"/>
          </a:xfrm>
          <a:prstGeom prst="roundRect">
            <a:avLst>
              <a:gd name="adj" fmla="val 5600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87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436168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デフォルトでは空配列・配列が存在しない行はFLATTEN結果から除外される。元の行を必ず残したい場合はFLATTEN(..., OUTER =&gt; TRUE)を使う。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1600200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652760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0652760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76288" y="1837944"/>
            <a:ext cx="448970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注文明細（items配列）を行に展開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o.order_id,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o.payload:customer_id::INT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customer_id,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item.value:sku::STRING AS sku,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item.value:qty::INT AS qty,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item.value:price::NUMBER AS price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 o,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LATERAL FLATTEN(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 =&gt; o.payload:items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item;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Snowflake開発者ガイド① SQL開発実践編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半構造化データ③ パフォーマンスの注意点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VARIANT列の扱い方がクエリ速度を左右する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filt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抽出 vs 都度パース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0175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値を列に抽出していない場合、クエリのたびにJSON構造全体をスキャン・トラバースする必要がある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70248" y="160020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8562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bu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01168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98848" y="2560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型推論のコスト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98848" y="30175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VARIANT内の型は実行時に解決されるため、明示的な::キャストを省略すると余計な処理が発生する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91856" y="160020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47888" y="18562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201168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0456" y="2560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プルーニング不可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0456" y="301752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VARIANT列はマイクロパーティションのプルーニング対象になりにくく、フィルタが効きにくい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572000"/>
            <a:ext cx="11109960" cy="1783080"/>
          </a:xfrm>
          <a:prstGeom prst="roundRect">
            <a:avLst>
              <a:gd name="adj" fmla="val 4103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652760" y="47183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21" name="Text 16"/>
          <p:cNvSpPr/>
          <p:nvPr/>
        </p:nvSpPr>
        <p:spPr>
          <a:xfrm>
            <a:off x="10652760" y="47183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841248" y="4809744"/>
            <a:ext cx="10524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✗ 都度トラバース：抽出列がなく毎回フルスキャン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events WHERE payload:status::STRING = 'failed';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✓ 抽出列を持つビュー経由でアクセス（プルーニングが効く）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events_typed AS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event_id, payload:status::STRING AS status, payload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events;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events_typed WHERE status = 'failed';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Snowflake開発者ガイド① SQL開発実践編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日付・文字列操作の実践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実務で頻出する関数と落とし穴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DATE_TRUNC：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指定した単位（month, week等）で日時を切り捨てる。月次集計の定番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DATEADD / DATEDIFF：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日付の加減算と差分計算。第1引数は単位（'day', 'month'等）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TRY_CAST / TRY_TO_DATE：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変換失敗時にエラーでなくNULLを返す安全な変換関数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REGEXP_SUBSTR / SPLIT_PART：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正規表現抽出や区切り文字での文字列分割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5760720" cy="1051560"/>
          </a:xfrm>
          <a:prstGeom prst="roundRect">
            <a:avLst>
              <a:gd name="adj" fmla="val 6087"/>
            </a:avLst>
          </a:prstGeom>
          <a:solidFill>
            <a:srgbClr val="F4F9FC"/>
          </a:solidFill>
          <a:ln w="15875">
            <a:solidFill>
              <a:srgbClr val="1F8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9560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523036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外部データ取り込み時はTO_DATE等の厳密な変換関数より、TRY_TO_DATE系を使う方が、不正な値で処理全体が止まるのを防げる。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1600200"/>
            <a:ext cx="5074920" cy="4297680"/>
          </a:xfrm>
          <a:prstGeom prst="roundRect">
            <a:avLst>
              <a:gd name="adj" fmla="val 1702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652760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0652760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76288" y="1837944"/>
            <a:ext cx="448970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order_id,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DATE_TRUNC('week', order_date)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week_start,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DATEDIFF('day', order_date,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CURRENT_DATE()) AS days_ago,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TRY_TO_DATE(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raw_date_string, 'YYYY/MM/DD'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parsed_date,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SPLIT_PART(email, '@', 2)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email_domain,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REGEXP_SUBSTR(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sku, '[A-Z]{3}-[0-9]+'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sku_prefix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orders;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Snowflake開発者ガイド① SQL開発実践編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よくあるアンチパターン①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クエリ設計でやりがちなミス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17820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417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17820" cy="164592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203704"/>
            <a:ext cx="48326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必要な列が2つだけでも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全列をスキャンしてしまう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large_fact_table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customer_id = 123;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0780" y="1600200"/>
            <a:ext cx="5417820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9" name="Text 7"/>
          <p:cNvSpPr/>
          <p:nvPr/>
        </p:nvSpPr>
        <p:spPr>
          <a:xfrm>
            <a:off x="6240780" y="1600200"/>
            <a:ext cx="5417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推奨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40780" y="1965960"/>
            <a:ext cx="5417820" cy="164592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3388" y="2203704"/>
            <a:ext cx="48326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必要な列のみ指定し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スキャン量を削減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order_id, amount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large_fact_table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customer_id = 123;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417820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5417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417820" cy="182880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4443984"/>
            <a:ext cx="48326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関数をかけるとプルーニング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が効かずフルスキャンになる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YEAR(order_date) = 2026;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40780" y="3840480"/>
            <a:ext cx="5417820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240780" y="3840480"/>
            <a:ext cx="5417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推奨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40780" y="4206240"/>
            <a:ext cx="5417820" cy="182880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3388" y="4443984"/>
            <a:ext cx="48326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範囲指定でプルーニングを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有効に保つ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order_date &gt;= '2026-01-01'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order_date &lt; '2027-01-01';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Snowflake開発者ガイド① SQL開発実践編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よくあるアンチパターン②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JOINとサブクエリの落とし穴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17820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417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避けるべき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17820" cy="2240280"/>
          </a:xfrm>
          <a:prstGeom prst="roundRect">
            <a:avLst>
              <a:gd name="adj" fmla="val 3265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203704"/>
            <a:ext cx="48326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相関サブクエリは行ごとに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再評価され低速になりがち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customer_id,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COUNT(*) FROM orders o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o.customer_id = c.id)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order_count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40780" y="1600200"/>
            <a:ext cx="5417820" cy="292608"/>
          </a:xfrm>
          <a:prstGeom prst="roundRect">
            <a:avLst>
              <a:gd name="adj" fmla="val 15625"/>
            </a:avLst>
          </a:prstGeom>
          <a:solidFill>
            <a:srgbClr val="1F8A5F"/>
          </a:solidFill>
          <a:ln/>
        </p:spPr>
      </p:sp>
      <p:sp>
        <p:nvSpPr>
          <p:cNvPr id="9" name="Text 7"/>
          <p:cNvSpPr/>
          <p:nvPr/>
        </p:nvSpPr>
        <p:spPr>
          <a:xfrm>
            <a:off x="6240780" y="1600200"/>
            <a:ext cx="54178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推奨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40780" y="1965960"/>
            <a:ext cx="5417820" cy="2240280"/>
          </a:xfrm>
          <a:prstGeom prst="roundRect">
            <a:avLst>
              <a:gd name="adj" fmla="val 3265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3388" y="2203704"/>
            <a:ext cx="48326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JOIN + GROUP BYで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セットベースに書き換え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c.customer_id,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COUNT(o.order_id)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order_count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orders o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o.customer_id = c.id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c.customer_id;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11109960" cy="128016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544568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補足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4818888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相関サブクエリが必ず悪いわけではないが、行数が多いテーブルでは「JOIN + GROUP BY」や「ウィンドウ関数」へのセットベースな書き換えで実行計画が改善するケースが多い。Query Profileで実際の実行時間を確認しながら判断する。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Snowflake開発者ガイド① SQL開発実践編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デバッグ・実行計画の読み方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クエリが遅い原因をどう特定するか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QUERY_HISTORY：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ACCOUNT_USAGEスキーマ等で過去の実行クエリと所要時間を確認できる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Profile：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Snowsight上でクエリ実行後に表示される、処理ステップごとの可視化画面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scanned vs Pruned：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プロファイル上でスキャン量とプルーニングされた量を比較し、絞り込みの効きを確認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Spilling：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メモリに収まらずローカルディスク／リモートストレージに溢れた処理は要注意のサイン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5212080"/>
          </a:xfrm>
          <a:prstGeom prst="roundRect">
            <a:avLst>
              <a:gd name="adj" fmla="val 1441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652760" y="17465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652760" y="17465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1837944"/>
            <a:ext cx="4489704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直近の重いクエリを確認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query_id,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query_text,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total_elapsed_time / 1000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elapsed_sec,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bytes_scanned,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warehouse_name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snowflake.account_usage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.query_history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start_time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&gt;= DATEADD('day', -1,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CURRENT_TIMESTAMP())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total_elapsed_time DESC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20;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Snowflake開発者ガイド① SQL開発実践編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11480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まとめ：実装前チェックリスト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SQL開発実践編の振り返り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7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5681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830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WHERE句で直接ウィンドウ関数をフィルタしようとしていないか（QUALIFYを使う）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0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3405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5603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MERGE文のソース側でON条件キーが一意になっているか（QUALIFY/GROUP BYで担保）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33756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3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1129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33756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*で不要な列までスキャンしていないか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11480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6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8853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11480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WHERE句の比較列に関数をかけてプルーニングを妨げていないか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40080" y="489204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9" name="Image 4" descr="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6577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71600" y="489204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VARIANT列の頻出アクセスパスを、リレーショナル列として抽出済みか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40080" y="566928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2" name="Image 5" descr="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843016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71600" y="56692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重いクエリはQuery Profileでスキャン量とSpillingを確認したか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Snowflake開発者ガイド① SQL開発実践編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Snowflake開発者ガイド① SQL開発実践編</dc:title>
  <dc:subject>PptxGenJS Presentation</dc:subject>
  <dc:creator>Snowflake Developer Series</dc:creator>
  <cp:lastModifiedBy>Snowflake Developer Series</cp:lastModifiedBy>
  <cp:revision>1</cp:revision>
  <dcterms:created xsi:type="dcterms:W3CDTF">2026-06-20T20:34:54Z</dcterms:created>
  <dcterms:modified xsi:type="dcterms:W3CDTF">2026-06-20T20:34:54Z</dcterms:modified>
</cp:coreProperties>
</file>