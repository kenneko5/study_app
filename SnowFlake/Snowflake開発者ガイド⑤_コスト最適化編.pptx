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1.png"/><Relationship Id="rId4" Type="http://schemas.openxmlformats.org/officeDocument/2006/relationships/image" Target="../media/image-13-1.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1.png"/><Relationship Id="rId6" Type="http://schemas.openxmlformats.org/officeDocument/2006/relationships/image" Target="../media/image-16-1.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961120" y="-1371600"/>
            <a:ext cx="4572000" cy="4572000"/>
          </a:xfrm>
          <a:prstGeom prst="ellipse">
            <a:avLst/>
          </a:prstGeom>
          <a:solidFill>
            <a:srgbClr val="065A82">
              <a:alpha val="40000"/>
            </a:srgbClr>
          </a:solidFill>
          <a:ln/>
        </p:spPr>
      </p:sp>
      <p:sp>
        <p:nvSpPr>
          <p:cNvPr id="3" name="Shape 1"/>
          <p:cNvSpPr/>
          <p:nvPr/>
        </p:nvSpPr>
        <p:spPr>
          <a:xfrm>
            <a:off x="10515600" y="3840480"/>
            <a:ext cx="2926080" cy="2926080"/>
          </a:xfrm>
          <a:prstGeom prst="ellipse">
            <a:avLst/>
          </a:prstGeom>
          <a:solidFill>
            <a:srgbClr val="1C7293">
              <a:alpha val="45000"/>
            </a:srgbClr>
          </a:solidFill>
          <a:ln/>
        </p:spPr>
      </p:sp>
      <p:sp>
        <p:nvSpPr>
          <p:cNvPr id="4" name="Shape 2"/>
          <p:cNvSpPr/>
          <p:nvPr/>
        </p:nvSpPr>
        <p:spPr>
          <a:xfrm>
            <a:off x="-1097280" y="4572000"/>
            <a:ext cx="3657600" cy="3657600"/>
          </a:xfrm>
          <a:prstGeom prst="ellipse">
            <a:avLst/>
          </a:prstGeom>
          <a:solidFill>
            <a:srgbClr val="065A82">
              <a:alpha val="35000"/>
            </a:srgbClr>
          </a:solidFill>
          <a:ln/>
        </p:spPr>
      </p:sp>
      <p:pic>
        <p:nvPicPr>
          <p:cNvPr id="5" name="Image 0" descr="icons/snowflake_white.png">    </p:cNvPr>
          <p:cNvPicPr>
            <a:picLocks noChangeAspect="1"/>
          </p:cNvPicPr>
          <p:nvPr/>
        </p:nvPicPr>
        <p:blipFill>
          <a:blip r:embed="rId1"/>
          <a:stretch>
            <a:fillRect/>
          </a:stretch>
        </p:blipFill>
        <p:spPr>
          <a:xfrm>
            <a:off x="640080" y="594360"/>
            <a:ext cx="502920" cy="502920"/>
          </a:xfrm>
          <a:prstGeom prst="rect">
            <a:avLst/>
          </a:prstGeom>
        </p:spPr>
      </p:pic>
      <p:sp>
        <p:nvSpPr>
          <p:cNvPr id="6" name="Text 3"/>
          <p:cNvSpPr/>
          <p:nvPr/>
        </p:nvSpPr>
        <p:spPr>
          <a:xfrm>
            <a:off x="1234440" y="548640"/>
            <a:ext cx="5486400" cy="457200"/>
          </a:xfrm>
          <a:prstGeom prst="rect">
            <a:avLst/>
          </a:prstGeom>
          <a:noFill/>
          <a:ln/>
        </p:spPr>
        <p:txBody>
          <a:bodyPr wrap="square" lIns="0" tIns="0" rIns="0" bIns="0" rtlCol="0" anchor="ctr"/>
          <a:lstStyle/>
          <a:p>
            <a:pPr indent="0" marL="0">
              <a:buNone/>
            </a:pPr>
            <a:r>
              <a:rPr lang="en-US" sz="1400" spc="200" kern="0" dirty="0">
                <a:solidFill>
                  <a:srgbClr val="EAF4FB"/>
                </a:solidFill>
                <a:latin typeface="Calibri" pitchFamily="34" charset="0"/>
                <a:ea typeface="Calibri" pitchFamily="34" charset="-122"/>
                <a:cs typeface="Calibri" pitchFamily="34" charset="-120"/>
              </a:rPr>
              <a:t>開発者向けシリーズ  第5回</a:t>
            </a:r>
            <a:endParaRPr lang="en-US" sz="1400" dirty="0"/>
          </a:p>
        </p:txBody>
      </p:sp>
      <p:sp>
        <p:nvSpPr>
          <p:cNvPr id="7" name="Text 4"/>
          <p:cNvSpPr/>
          <p:nvPr/>
        </p:nvSpPr>
        <p:spPr>
          <a:xfrm>
            <a:off x="640080" y="214884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Snowflake開発者ガイド</a:t>
            </a:r>
            <a:endParaRPr lang="en-US" sz="4400" dirty="0"/>
          </a:p>
        </p:txBody>
      </p:sp>
      <p:sp>
        <p:nvSpPr>
          <p:cNvPr id="8" name="Text 5"/>
          <p:cNvSpPr/>
          <p:nvPr/>
        </p:nvSpPr>
        <p:spPr>
          <a:xfrm>
            <a:off x="640080" y="2926080"/>
            <a:ext cx="10515600" cy="731520"/>
          </a:xfrm>
          <a:prstGeom prst="rect">
            <a:avLst/>
          </a:prstGeom>
          <a:noFill/>
          <a:ln/>
        </p:spPr>
        <p:txBody>
          <a:bodyPr wrap="square" lIns="0" tIns="0" rIns="0" bIns="0" rtlCol="0" anchor="ctr"/>
          <a:lstStyle/>
          <a:p>
            <a:pPr indent="0" marL="0">
              <a:buNone/>
            </a:pPr>
            <a:r>
              <a:rPr lang="en-US" sz="3200" b="1" dirty="0">
                <a:solidFill>
                  <a:srgbClr val="29ADB2"/>
                </a:solidFill>
                <a:latin typeface="Cambria" pitchFamily="34" charset="0"/>
                <a:ea typeface="Cambria" pitchFamily="34" charset="-122"/>
                <a:cs typeface="Cambria" pitchFamily="34" charset="-120"/>
              </a:rPr>
              <a:t>コスト最適化編</a:t>
            </a:r>
            <a:endParaRPr lang="en-US" sz="3200" dirty="0"/>
          </a:p>
        </p:txBody>
      </p:sp>
      <p:sp>
        <p:nvSpPr>
          <p:cNvPr id="9" name="Text 6"/>
          <p:cNvSpPr/>
          <p:nvPr/>
        </p:nvSpPr>
        <p:spPr>
          <a:xfrm>
            <a:off x="658368" y="3703320"/>
            <a:ext cx="9601200" cy="548640"/>
          </a:xfrm>
          <a:prstGeom prst="rect">
            <a:avLst/>
          </a:prstGeom>
          <a:noFill/>
          <a:ln/>
        </p:spPr>
        <p:txBody>
          <a:bodyPr wrap="square" lIns="0" tIns="0" rIns="0" bIns="0" rtlCol="0" anchor="ctr"/>
          <a:lstStyle/>
          <a:p>
            <a:pPr indent="0" marL="0">
              <a:buNone/>
            </a:pPr>
            <a:r>
              <a:rPr lang="en-US" sz="1600" dirty="0">
                <a:solidFill>
                  <a:srgbClr val="EAF4FB"/>
                </a:solidFill>
                <a:latin typeface="Calibri" pitchFamily="34" charset="0"/>
                <a:ea typeface="Calibri" pitchFamily="34" charset="-122"/>
                <a:cs typeface="Calibri" pitchFamily="34" charset="-120"/>
              </a:rPr>
              <a:t>ウェアハウス設計とガバナンスでクレジット消費を可視化・削減する</a:t>
            </a:r>
            <a:endParaRPr lang="en-US" sz="1600" dirty="0"/>
          </a:p>
        </p:txBody>
      </p:sp>
      <p:sp>
        <p:nvSpPr>
          <p:cNvPr id="10" name="Shape 7"/>
          <p:cNvSpPr/>
          <p:nvPr/>
        </p:nvSpPr>
        <p:spPr>
          <a:xfrm>
            <a:off x="640080" y="5760720"/>
            <a:ext cx="1417320" cy="365760"/>
          </a:xfrm>
          <a:prstGeom prst="roundRect">
            <a:avLst>
              <a:gd name="adj" fmla="val 50000"/>
            </a:avLst>
          </a:prstGeom>
          <a:solidFill>
            <a:srgbClr val="065A82"/>
          </a:solidFill>
          <a:ln/>
        </p:spPr>
      </p:sp>
      <p:sp>
        <p:nvSpPr>
          <p:cNvPr id="11" name="Text 8"/>
          <p:cNvSpPr/>
          <p:nvPr/>
        </p:nvSpPr>
        <p:spPr>
          <a:xfrm>
            <a:off x="64008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① SQL開発</a:t>
            </a:r>
            <a:endParaRPr lang="en-US" sz="850" dirty="0"/>
          </a:p>
        </p:txBody>
      </p:sp>
      <p:sp>
        <p:nvSpPr>
          <p:cNvPr id="12" name="Shape 9"/>
          <p:cNvSpPr/>
          <p:nvPr/>
        </p:nvSpPr>
        <p:spPr>
          <a:xfrm>
            <a:off x="2148840" y="5760720"/>
            <a:ext cx="1417320" cy="365760"/>
          </a:xfrm>
          <a:prstGeom prst="roundRect">
            <a:avLst>
              <a:gd name="adj" fmla="val 50000"/>
            </a:avLst>
          </a:prstGeom>
          <a:solidFill>
            <a:srgbClr val="065A82"/>
          </a:solidFill>
          <a:ln/>
        </p:spPr>
      </p:sp>
      <p:sp>
        <p:nvSpPr>
          <p:cNvPr id="13" name="Text 10"/>
          <p:cNvSpPr/>
          <p:nvPr/>
        </p:nvSpPr>
        <p:spPr>
          <a:xfrm>
            <a:off x="214884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② パフォーマンス</a:t>
            </a:r>
            <a:endParaRPr lang="en-US" sz="850" dirty="0"/>
          </a:p>
        </p:txBody>
      </p:sp>
      <p:sp>
        <p:nvSpPr>
          <p:cNvPr id="14" name="Shape 11"/>
          <p:cNvSpPr/>
          <p:nvPr/>
        </p:nvSpPr>
        <p:spPr>
          <a:xfrm>
            <a:off x="3657600" y="5760720"/>
            <a:ext cx="1417320" cy="365760"/>
          </a:xfrm>
          <a:prstGeom prst="roundRect">
            <a:avLst>
              <a:gd name="adj" fmla="val 50000"/>
            </a:avLst>
          </a:prstGeom>
          <a:solidFill>
            <a:srgbClr val="065A82"/>
          </a:solidFill>
          <a:ln/>
        </p:spPr>
      </p:sp>
      <p:sp>
        <p:nvSpPr>
          <p:cNvPr id="15" name="Text 12"/>
          <p:cNvSpPr/>
          <p:nvPr/>
        </p:nvSpPr>
        <p:spPr>
          <a:xfrm>
            <a:off x="365760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③ Snowpark</a:t>
            </a:r>
            <a:endParaRPr lang="en-US" sz="850" dirty="0"/>
          </a:p>
        </p:txBody>
      </p:sp>
      <p:sp>
        <p:nvSpPr>
          <p:cNvPr id="16" name="Shape 13"/>
          <p:cNvSpPr/>
          <p:nvPr/>
        </p:nvSpPr>
        <p:spPr>
          <a:xfrm>
            <a:off x="5166360" y="5760720"/>
            <a:ext cx="1417320" cy="365760"/>
          </a:xfrm>
          <a:prstGeom prst="roundRect">
            <a:avLst>
              <a:gd name="adj" fmla="val 50000"/>
            </a:avLst>
          </a:prstGeom>
          <a:solidFill>
            <a:srgbClr val="065A82"/>
          </a:solidFill>
          <a:ln/>
        </p:spPr>
      </p:sp>
      <p:sp>
        <p:nvSpPr>
          <p:cNvPr id="17" name="Text 14"/>
          <p:cNvSpPr/>
          <p:nvPr/>
        </p:nvSpPr>
        <p:spPr>
          <a:xfrm>
            <a:off x="516636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④ CI/CD</a:t>
            </a:r>
            <a:endParaRPr lang="en-US" sz="850" dirty="0"/>
          </a:p>
        </p:txBody>
      </p:sp>
      <p:sp>
        <p:nvSpPr>
          <p:cNvPr id="18" name="Shape 15"/>
          <p:cNvSpPr/>
          <p:nvPr/>
        </p:nvSpPr>
        <p:spPr>
          <a:xfrm>
            <a:off x="6675120" y="5760720"/>
            <a:ext cx="1417320" cy="365760"/>
          </a:xfrm>
          <a:prstGeom prst="roundRect">
            <a:avLst>
              <a:gd name="adj" fmla="val 50000"/>
            </a:avLst>
          </a:prstGeom>
          <a:solidFill>
            <a:srgbClr val="29ADB2"/>
          </a:solidFill>
          <a:ln/>
        </p:spPr>
      </p:sp>
      <p:sp>
        <p:nvSpPr>
          <p:cNvPr id="19" name="Text 16"/>
          <p:cNvSpPr/>
          <p:nvPr/>
        </p:nvSpPr>
        <p:spPr>
          <a:xfrm>
            <a:off x="6675120" y="5760720"/>
            <a:ext cx="1417320" cy="3657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⑤ コスト最適化</a:t>
            </a:r>
            <a:endParaRPr lang="en-US" sz="850" dirty="0"/>
          </a:p>
        </p:txBody>
      </p:sp>
      <p:sp>
        <p:nvSpPr>
          <p:cNvPr id="20" name="Shape 17"/>
          <p:cNvSpPr/>
          <p:nvPr/>
        </p:nvSpPr>
        <p:spPr>
          <a:xfrm>
            <a:off x="8183880" y="5760720"/>
            <a:ext cx="1417320" cy="365760"/>
          </a:xfrm>
          <a:prstGeom prst="roundRect">
            <a:avLst>
              <a:gd name="adj" fmla="val 50000"/>
            </a:avLst>
          </a:prstGeom>
          <a:solidFill>
            <a:srgbClr val="065A82"/>
          </a:solidFill>
          <a:ln/>
        </p:spPr>
      </p:sp>
      <p:sp>
        <p:nvSpPr>
          <p:cNvPr id="21" name="Text 18"/>
          <p:cNvSpPr/>
          <p:nvPr/>
        </p:nvSpPr>
        <p:spPr>
          <a:xfrm>
            <a:off x="818388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⑥ Streams/Tasks</a:t>
            </a:r>
            <a:endParaRPr lang="en-US" sz="850" dirty="0"/>
          </a:p>
        </p:txBody>
      </p:sp>
      <p:sp>
        <p:nvSpPr>
          <p:cNvPr id="22" name="Shape 19"/>
          <p:cNvSpPr/>
          <p:nvPr/>
        </p:nvSpPr>
        <p:spPr>
          <a:xfrm>
            <a:off x="9692640" y="5760720"/>
            <a:ext cx="1417320" cy="365760"/>
          </a:xfrm>
          <a:prstGeom prst="roundRect">
            <a:avLst>
              <a:gd name="adj" fmla="val 50000"/>
            </a:avLst>
          </a:prstGeom>
          <a:solidFill>
            <a:srgbClr val="065A82"/>
          </a:solidFill>
          <a:ln/>
        </p:spPr>
      </p:sp>
      <p:sp>
        <p:nvSpPr>
          <p:cNvPr id="23" name="Text 20"/>
          <p:cNvSpPr/>
          <p:nvPr/>
        </p:nvSpPr>
        <p:spPr>
          <a:xfrm>
            <a:off x="9692640" y="5760720"/>
            <a:ext cx="1417320" cy="365760"/>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⑦ Cortex AI</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本日のアジェンダ</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コスト最適化編で扱う7つのトピック</a:t>
            </a:r>
            <a:endParaRPr lang="en-US" sz="1300" dirty="0"/>
          </a:p>
        </p:txBody>
      </p:sp>
      <p:sp>
        <p:nvSpPr>
          <p:cNvPr id="4" name="Shape 2"/>
          <p:cNvSpPr/>
          <p:nvPr/>
        </p:nvSpPr>
        <p:spPr>
          <a:xfrm>
            <a:off x="548640"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5" name="Text 3"/>
          <p:cNvSpPr/>
          <p:nvPr/>
        </p:nvSpPr>
        <p:spPr>
          <a:xfrm>
            <a:off x="749808"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777240"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課金の仕組み</a:t>
            </a:r>
            <a:endParaRPr lang="en-US" sz="1400" dirty="0"/>
          </a:p>
        </p:txBody>
      </p:sp>
      <p:sp>
        <p:nvSpPr>
          <p:cNvPr id="7" name="Text 5"/>
          <p:cNvSpPr/>
          <p:nvPr/>
        </p:nvSpPr>
        <p:spPr>
          <a:xfrm>
            <a:off x="777240"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クレジット消費の3つの構成要素</a:t>
            </a:r>
            <a:endParaRPr lang="en-US" sz="1000" dirty="0"/>
          </a:p>
        </p:txBody>
      </p:sp>
      <p:sp>
        <p:nvSpPr>
          <p:cNvPr id="8" name="Shape 6"/>
          <p:cNvSpPr/>
          <p:nvPr/>
        </p:nvSpPr>
        <p:spPr>
          <a:xfrm>
            <a:off x="4279392"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9" name="Text 7"/>
          <p:cNvSpPr/>
          <p:nvPr/>
        </p:nvSpPr>
        <p:spPr>
          <a:xfrm>
            <a:off x="4480560"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02</a:t>
            </a:r>
            <a:endParaRPr lang="en-US" sz="2400" dirty="0"/>
          </a:p>
        </p:txBody>
      </p:sp>
      <p:sp>
        <p:nvSpPr>
          <p:cNvPr id="10" name="Text 8"/>
          <p:cNvSpPr/>
          <p:nvPr/>
        </p:nvSpPr>
        <p:spPr>
          <a:xfrm>
            <a:off x="4507992"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ウェアハウスの自動停止</a:t>
            </a:r>
            <a:endParaRPr lang="en-US" sz="1400" dirty="0"/>
          </a:p>
        </p:txBody>
      </p:sp>
      <p:sp>
        <p:nvSpPr>
          <p:cNvPr id="11" name="Text 9"/>
          <p:cNvSpPr/>
          <p:nvPr/>
        </p:nvSpPr>
        <p:spPr>
          <a:xfrm>
            <a:off x="4507992"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アイドル時間の課金を最小化する</a:t>
            </a:r>
            <a:endParaRPr lang="en-US" sz="1000" dirty="0"/>
          </a:p>
        </p:txBody>
      </p:sp>
      <p:sp>
        <p:nvSpPr>
          <p:cNvPr id="12" name="Shape 10"/>
          <p:cNvSpPr/>
          <p:nvPr/>
        </p:nvSpPr>
        <p:spPr>
          <a:xfrm>
            <a:off x="8010144" y="1463040"/>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13" name="Text 11"/>
          <p:cNvSpPr/>
          <p:nvPr/>
        </p:nvSpPr>
        <p:spPr>
          <a:xfrm>
            <a:off x="8211312" y="1609344"/>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03</a:t>
            </a:r>
            <a:endParaRPr lang="en-US" sz="2400" dirty="0"/>
          </a:p>
        </p:txBody>
      </p:sp>
      <p:sp>
        <p:nvSpPr>
          <p:cNvPr id="14" name="Text 12"/>
          <p:cNvSpPr/>
          <p:nvPr/>
        </p:nvSpPr>
        <p:spPr>
          <a:xfrm>
            <a:off x="8238744" y="2176272"/>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Resource Monitor</a:t>
            </a:r>
            <a:endParaRPr lang="en-US" sz="1400" dirty="0"/>
          </a:p>
        </p:txBody>
      </p:sp>
      <p:sp>
        <p:nvSpPr>
          <p:cNvPr id="15" name="Text 13"/>
          <p:cNvSpPr/>
          <p:nvPr/>
        </p:nvSpPr>
        <p:spPr>
          <a:xfrm>
            <a:off x="8238744" y="2542032"/>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クレジット使用量の上限設定とアラート</a:t>
            </a:r>
            <a:endParaRPr lang="en-US" sz="1000" dirty="0"/>
          </a:p>
        </p:txBody>
      </p:sp>
      <p:sp>
        <p:nvSpPr>
          <p:cNvPr id="16" name="Shape 14"/>
          <p:cNvSpPr/>
          <p:nvPr/>
        </p:nvSpPr>
        <p:spPr>
          <a:xfrm>
            <a:off x="548640"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17" name="Text 15"/>
          <p:cNvSpPr/>
          <p:nvPr/>
        </p:nvSpPr>
        <p:spPr>
          <a:xfrm>
            <a:off x="749808"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04</a:t>
            </a:r>
            <a:endParaRPr lang="en-US" sz="2400" dirty="0"/>
          </a:p>
        </p:txBody>
      </p:sp>
      <p:sp>
        <p:nvSpPr>
          <p:cNvPr id="18" name="Text 16"/>
          <p:cNvSpPr/>
          <p:nvPr/>
        </p:nvSpPr>
        <p:spPr>
          <a:xfrm>
            <a:off x="777240"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ストレージコスト最適化</a:t>
            </a:r>
            <a:endParaRPr lang="en-US" sz="1400" dirty="0"/>
          </a:p>
        </p:txBody>
      </p:sp>
      <p:sp>
        <p:nvSpPr>
          <p:cNvPr id="19" name="Text 17"/>
          <p:cNvSpPr/>
          <p:nvPr/>
        </p:nvSpPr>
        <p:spPr>
          <a:xfrm>
            <a:off x="777240"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Time Travel・Fail-safe・Transientテーブル</a:t>
            </a:r>
            <a:endParaRPr lang="en-US" sz="1000" dirty="0"/>
          </a:p>
        </p:txBody>
      </p:sp>
      <p:sp>
        <p:nvSpPr>
          <p:cNvPr id="20" name="Shape 18"/>
          <p:cNvSpPr/>
          <p:nvPr/>
        </p:nvSpPr>
        <p:spPr>
          <a:xfrm>
            <a:off x="4279392"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1" name="Text 19"/>
          <p:cNvSpPr/>
          <p:nvPr/>
        </p:nvSpPr>
        <p:spPr>
          <a:xfrm>
            <a:off x="4480560"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05</a:t>
            </a:r>
            <a:endParaRPr lang="en-US" sz="2400" dirty="0"/>
          </a:p>
        </p:txBody>
      </p:sp>
      <p:sp>
        <p:nvSpPr>
          <p:cNvPr id="22" name="Text 20"/>
          <p:cNvSpPr/>
          <p:nvPr/>
        </p:nvSpPr>
        <p:spPr>
          <a:xfrm>
            <a:off x="4507992"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クエリコストの可視化</a:t>
            </a:r>
            <a:endParaRPr lang="en-US" sz="1400" dirty="0"/>
          </a:p>
        </p:txBody>
      </p:sp>
      <p:sp>
        <p:nvSpPr>
          <p:cNvPr id="23" name="Text 21"/>
          <p:cNvSpPr/>
          <p:nvPr/>
        </p:nvSpPr>
        <p:spPr>
          <a:xfrm>
            <a:off x="4507992"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どのクエリ・誰が消費しているかを把握する</a:t>
            </a:r>
            <a:endParaRPr lang="en-US" sz="1000" dirty="0"/>
          </a:p>
        </p:txBody>
      </p:sp>
      <p:sp>
        <p:nvSpPr>
          <p:cNvPr id="24" name="Shape 22"/>
          <p:cNvSpPr/>
          <p:nvPr/>
        </p:nvSpPr>
        <p:spPr>
          <a:xfrm>
            <a:off x="8010144" y="3127248"/>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5" name="Text 23"/>
          <p:cNvSpPr/>
          <p:nvPr/>
        </p:nvSpPr>
        <p:spPr>
          <a:xfrm>
            <a:off x="8211312" y="3273552"/>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06</a:t>
            </a:r>
            <a:endParaRPr lang="en-US" sz="2400" dirty="0"/>
          </a:p>
        </p:txBody>
      </p:sp>
      <p:sp>
        <p:nvSpPr>
          <p:cNvPr id="26" name="Text 24"/>
          <p:cNvSpPr/>
          <p:nvPr/>
        </p:nvSpPr>
        <p:spPr>
          <a:xfrm>
            <a:off x="8238744" y="3840480"/>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Serverless機能のコスト</a:t>
            </a:r>
            <a:endParaRPr lang="en-US" sz="1400" dirty="0"/>
          </a:p>
        </p:txBody>
      </p:sp>
      <p:sp>
        <p:nvSpPr>
          <p:cNvPr id="27" name="Text 25"/>
          <p:cNvSpPr/>
          <p:nvPr/>
        </p:nvSpPr>
        <p:spPr>
          <a:xfrm>
            <a:off x="8238744" y="4206240"/>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Snowpipe・Tasks等の隠れたコスト要因</a:t>
            </a:r>
            <a:endParaRPr lang="en-US" sz="1000" dirty="0"/>
          </a:p>
        </p:txBody>
      </p:sp>
      <p:sp>
        <p:nvSpPr>
          <p:cNvPr id="28" name="Shape 26"/>
          <p:cNvSpPr/>
          <p:nvPr/>
        </p:nvSpPr>
        <p:spPr>
          <a:xfrm>
            <a:off x="548640" y="4791456"/>
            <a:ext cx="3502152" cy="1481328"/>
          </a:xfrm>
          <a:prstGeom prst="roundRect">
            <a:avLst>
              <a:gd name="adj" fmla="val 4938"/>
            </a:avLst>
          </a:prstGeom>
          <a:solidFill>
            <a:srgbClr val="F4F9FC"/>
          </a:solidFill>
          <a:ln/>
          <a:effectLst>
            <a:outerShdw sx="100000" sy="100000" kx="0" ky="0" algn="bl" rotWithShape="0" blurRad="101600" dist="38100" dir="2700000">
              <a:srgbClr val="000000">
                <a:alpha val="12000"/>
              </a:srgbClr>
            </a:outerShdw>
          </a:effectLst>
        </p:spPr>
      </p:sp>
      <p:sp>
        <p:nvSpPr>
          <p:cNvPr id="29" name="Text 27"/>
          <p:cNvSpPr/>
          <p:nvPr/>
        </p:nvSpPr>
        <p:spPr>
          <a:xfrm>
            <a:off x="749808" y="4937760"/>
            <a:ext cx="914400" cy="54864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07</a:t>
            </a:r>
            <a:endParaRPr lang="en-US" sz="2400" dirty="0"/>
          </a:p>
        </p:txBody>
      </p:sp>
      <p:sp>
        <p:nvSpPr>
          <p:cNvPr id="30" name="Text 28"/>
          <p:cNvSpPr/>
          <p:nvPr/>
        </p:nvSpPr>
        <p:spPr>
          <a:xfrm>
            <a:off x="777240" y="5504688"/>
            <a:ext cx="3044952" cy="36576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組織的なガバナンス</a:t>
            </a:r>
            <a:endParaRPr lang="en-US" sz="1400" dirty="0"/>
          </a:p>
        </p:txBody>
      </p:sp>
      <p:sp>
        <p:nvSpPr>
          <p:cNvPr id="31" name="Text 29"/>
          <p:cNvSpPr/>
          <p:nvPr/>
        </p:nvSpPr>
        <p:spPr>
          <a:xfrm>
            <a:off x="777240" y="5870448"/>
            <a:ext cx="3044952" cy="457200"/>
          </a:xfrm>
          <a:prstGeom prst="rect">
            <a:avLst/>
          </a:prstGeom>
          <a:noFill/>
          <a:ln/>
        </p:spPr>
        <p:txBody>
          <a:bodyPr wrap="square" lIns="0" tIns="0" rIns="0" bIns="0" rtlCol="0" anchor="t"/>
          <a:lstStyle/>
          <a:p>
            <a:pPr indent="0" marL="0">
              <a:buNone/>
            </a:pPr>
            <a:r>
              <a:rPr lang="en-US" sz="1000" dirty="0">
                <a:solidFill>
                  <a:srgbClr val="64748B"/>
                </a:solidFill>
                <a:latin typeface="Calibri" pitchFamily="34" charset="0"/>
                <a:ea typeface="Calibri" pitchFamily="34" charset="-122"/>
                <a:cs typeface="Calibri" pitchFamily="34" charset="-120"/>
              </a:rPr>
              <a:t>タグ付けとコスト責任の明確化</a:t>
            </a:r>
            <a:endParaRPr lang="en-US" sz="1000" dirty="0"/>
          </a:p>
        </p:txBody>
      </p:sp>
      <p:sp>
        <p:nvSpPr>
          <p:cNvPr id="32" name="Text 30"/>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33" name="Text 31"/>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Snowflakeの課金の仕組み</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クレジット消費の3つの構成要素</a:t>
            </a:r>
            <a:endParaRPr lang="en-US" sz="1300" dirty="0"/>
          </a:p>
        </p:txBody>
      </p:sp>
      <p:sp>
        <p:nvSpPr>
          <p:cNvPr id="4" name="Shape 2"/>
          <p:cNvSpPr/>
          <p:nvPr/>
        </p:nvSpPr>
        <p:spPr>
          <a:xfrm>
            <a:off x="548640"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5" name="Shape 3"/>
          <p:cNvSpPr/>
          <p:nvPr/>
        </p:nvSpPr>
        <p:spPr>
          <a:xfrm>
            <a:off x="804672" y="1856232"/>
            <a:ext cx="566928" cy="566928"/>
          </a:xfrm>
          <a:prstGeom prst="ellipse">
            <a:avLst/>
          </a:prstGeom>
          <a:solidFill>
            <a:srgbClr val="065A82"/>
          </a:solidFill>
          <a:ln/>
        </p:spPr>
      </p:sp>
      <p:pic>
        <p:nvPicPr>
          <p:cNvPr id="6" name="Image 0" descr="icons/server_white.png">    </p:cNvPr>
          <p:cNvPicPr>
            <a:picLocks noChangeAspect="1"/>
          </p:cNvPicPr>
          <p:nvPr/>
        </p:nvPicPr>
        <p:blipFill>
          <a:blip r:embed="rId1"/>
          <a:stretch>
            <a:fillRect/>
          </a:stretch>
        </p:blipFill>
        <p:spPr>
          <a:xfrm>
            <a:off x="960120" y="2011680"/>
            <a:ext cx="256032" cy="256032"/>
          </a:xfrm>
          <a:prstGeom prst="rect">
            <a:avLst/>
          </a:prstGeom>
        </p:spPr>
      </p:pic>
      <p:sp>
        <p:nvSpPr>
          <p:cNvPr id="7" name="Text 4"/>
          <p:cNvSpPr/>
          <p:nvPr/>
        </p:nvSpPr>
        <p:spPr>
          <a:xfrm>
            <a:off x="777240"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コンピュート</a:t>
            </a:r>
            <a:endParaRPr lang="en-US" sz="1350" dirty="0"/>
          </a:p>
        </p:txBody>
      </p:sp>
      <p:sp>
        <p:nvSpPr>
          <p:cNvPr id="8" name="Text 5"/>
          <p:cNvSpPr/>
          <p:nvPr/>
        </p:nvSpPr>
        <p:spPr>
          <a:xfrm>
            <a:off x="777240"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仮想ウェアハウスの稼働時間（秒単位、最低60秒）に応じて課金。最大の費用構成要素</a:t>
            </a:r>
            <a:endParaRPr lang="en-US" sz="1100" dirty="0"/>
          </a:p>
        </p:txBody>
      </p:sp>
      <p:sp>
        <p:nvSpPr>
          <p:cNvPr id="9" name="Shape 6"/>
          <p:cNvSpPr/>
          <p:nvPr/>
        </p:nvSpPr>
        <p:spPr>
          <a:xfrm>
            <a:off x="4270248"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10" name="Shape 7"/>
          <p:cNvSpPr/>
          <p:nvPr/>
        </p:nvSpPr>
        <p:spPr>
          <a:xfrm>
            <a:off x="4526280" y="1856232"/>
            <a:ext cx="566928" cy="566928"/>
          </a:xfrm>
          <a:prstGeom prst="ellipse">
            <a:avLst/>
          </a:prstGeom>
          <a:solidFill>
            <a:srgbClr val="065A82"/>
          </a:solidFill>
          <a:ln/>
        </p:spPr>
      </p:sp>
      <p:pic>
        <p:nvPicPr>
          <p:cNvPr id="11" name="Image 1" descr="icons/database_white.png">    </p:cNvPr>
          <p:cNvPicPr>
            <a:picLocks noChangeAspect="1"/>
          </p:cNvPicPr>
          <p:nvPr/>
        </p:nvPicPr>
        <p:blipFill>
          <a:blip r:embed="rId2"/>
          <a:stretch>
            <a:fillRect/>
          </a:stretch>
        </p:blipFill>
        <p:spPr>
          <a:xfrm>
            <a:off x="4681728" y="2011680"/>
            <a:ext cx="256032" cy="256032"/>
          </a:xfrm>
          <a:prstGeom prst="rect">
            <a:avLst/>
          </a:prstGeom>
        </p:spPr>
      </p:pic>
      <p:sp>
        <p:nvSpPr>
          <p:cNvPr id="12" name="Text 8"/>
          <p:cNvSpPr/>
          <p:nvPr/>
        </p:nvSpPr>
        <p:spPr>
          <a:xfrm>
            <a:off x="4498848"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ストレージ</a:t>
            </a:r>
            <a:endParaRPr lang="en-US" sz="1350" dirty="0"/>
          </a:p>
        </p:txBody>
      </p:sp>
      <p:sp>
        <p:nvSpPr>
          <p:cNvPr id="13" name="Text 9"/>
          <p:cNvSpPr/>
          <p:nvPr/>
        </p:nvSpPr>
        <p:spPr>
          <a:xfrm>
            <a:off x="4498848"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圧縮後のデータ量に応じて課金。Time Travel・Fail-safeの保持データも対象</a:t>
            </a:r>
            <a:endParaRPr lang="en-US" sz="1100" dirty="0"/>
          </a:p>
        </p:txBody>
      </p:sp>
      <p:sp>
        <p:nvSpPr>
          <p:cNvPr id="14" name="Shape 10"/>
          <p:cNvSpPr/>
          <p:nvPr/>
        </p:nvSpPr>
        <p:spPr>
          <a:xfrm>
            <a:off x="7991856" y="1600200"/>
            <a:ext cx="3520440" cy="2651760"/>
          </a:xfrm>
          <a:prstGeom prst="roundRect">
            <a:avLst>
              <a:gd name="adj" fmla="val 3448"/>
            </a:avLst>
          </a:prstGeom>
          <a:solidFill>
            <a:srgbClr val="F4F9FC"/>
          </a:solidFill>
          <a:ln/>
          <a:effectLst>
            <a:outerShdw sx="100000" sy="100000" kx="0" ky="0" algn="bl" rotWithShape="0" blurRad="101600" dist="38100" dir="2700000">
              <a:srgbClr val="000000">
                <a:alpha val="12000"/>
              </a:srgbClr>
            </a:outerShdw>
          </a:effectLst>
        </p:spPr>
      </p:sp>
      <p:sp>
        <p:nvSpPr>
          <p:cNvPr id="15" name="Shape 11"/>
          <p:cNvSpPr/>
          <p:nvPr/>
        </p:nvSpPr>
        <p:spPr>
          <a:xfrm>
            <a:off x="8247888" y="1856232"/>
            <a:ext cx="566928" cy="566928"/>
          </a:xfrm>
          <a:prstGeom prst="ellipse">
            <a:avLst/>
          </a:prstGeom>
          <a:solidFill>
            <a:srgbClr val="065A82"/>
          </a:solidFill>
          <a:ln/>
        </p:spPr>
      </p:sp>
      <p:pic>
        <p:nvPicPr>
          <p:cNvPr id="16" name="Image 2" descr="icons/cloud_white.png">    </p:cNvPr>
          <p:cNvPicPr>
            <a:picLocks noChangeAspect="1"/>
          </p:cNvPicPr>
          <p:nvPr/>
        </p:nvPicPr>
        <p:blipFill>
          <a:blip r:embed="rId3"/>
          <a:stretch>
            <a:fillRect/>
          </a:stretch>
        </p:blipFill>
        <p:spPr>
          <a:xfrm>
            <a:off x="8403336" y="2011680"/>
            <a:ext cx="256032" cy="256032"/>
          </a:xfrm>
          <a:prstGeom prst="rect">
            <a:avLst/>
          </a:prstGeom>
        </p:spPr>
      </p:pic>
      <p:sp>
        <p:nvSpPr>
          <p:cNvPr id="17" name="Text 12"/>
          <p:cNvSpPr/>
          <p:nvPr/>
        </p:nvSpPr>
        <p:spPr>
          <a:xfrm>
            <a:off x="8220456"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クラウドサービス</a:t>
            </a:r>
            <a:endParaRPr lang="en-US" sz="1350" dirty="0"/>
          </a:p>
        </p:txBody>
      </p:sp>
      <p:sp>
        <p:nvSpPr>
          <p:cNvPr id="18" name="Text 13"/>
          <p:cNvSpPr/>
          <p:nvPr/>
        </p:nvSpPr>
        <p:spPr>
          <a:xfrm>
            <a:off x="8220456" y="3017520"/>
            <a:ext cx="3063240" cy="114300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ウェアハウス利用量の概ね10%まで無料。超過分のみ課金される補助的要素</a:t>
            </a:r>
            <a:endParaRPr lang="en-US" sz="1100" dirty="0"/>
          </a:p>
        </p:txBody>
      </p:sp>
      <p:sp>
        <p:nvSpPr>
          <p:cNvPr id="19" name="Shape 14"/>
          <p:cNvSpPr/>
          <p:nvPr/>
        </p:nvSpPr>
        <p:spPr>
          <a:xfrm>
            <a:off x="548640" y="4526280"/>
            <a:ext cx="11109960" cy="1188720"/>
          </a:xfrm>
          <a:prstGeom prst="roundRect">
            <a:avLst>
              <a:gd name="adj" fmla="val 5385"/>
            </a:avLst>
          </a:prstGeom>
          <a:solidFill>
            <a:srgbClr val="F4F9FC"/>
          </a:solidFill>
          <a:ln w="15875">
            <a:solidFill>
              <a:srgbClr val="1F8A5F"/>
            </a:solidFill>
            <a:prstDash val="solid"/>
          </a:ln>
        </p:spPr>
      </p:sp>
      <p:sp>
        <p:nvSpPr>
          <p:cNvPr id="20" name="Text 15"/>
          <p:cNvSpPr/>
          <p:nvPr/>
        </p:nvSpPr>
        <p:spPr>
          <a:xfrm>
            <a:off x="777240" y="4636008"/>
            <a:ext cx="1065276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21" name="Text 16"/>
          <p:cNvSpPr/>
          <p:nvPr/>
        </p:nvSpPr>
        <p:spPr>
          <a:xfrm>
            <a:off x="777240" y="4910328"/>
            <a:ext cx="10652760" cy="68580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コンピュートが費用の大半を占めることがほとんど。最適化の優先順位は「①ウェアハウス運用の見直し → ②ストレージ設定の見直し」の順で着手するのが効率的。</a:t>
            </a:r>
            <a:endParaRPr lang="en-US" sz="1150" dirty="0"/>
          </a:p>
        </p:txBody>
      </p:sp>
      <p:sp>
        <p:nvSpPr>
          <p:cNvPr id="22"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3"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ウェアハウスの自動停止設定</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最も即効性の高いコスト削減策</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AUTO_SUSPEND：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指定秒数アイドル状態が続くと自動的にウェアハウスを停止</a:t>
            </a:r>
            <a:endParaRPr lang="en-US" sz="115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推奨値60秒：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BI/アドホック用途は60秒を基本とし、頻繁な再開でキャッシュが切れる影響とのバランスを見る</a:t>
            </a:r>
            <a:endParaRPr lang="en-US" sz="115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AUTO_RESUME：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クエリ実行時に自動的に再開。基本的にTRUEのまま運用する</a:t>
            </a:r>
            <a:endParaRPr lang="en-US" sz="115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秒単位課金との関係：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最低60秒の課金単位があるため、極端に短い間隔での起動・停止の繰り返しはやや非効率</a:t>
            </a:r>
            <a:endParaRPr lang="en-US" sz="1150" dirty="0"/>
          </a:p>
        </p:txBody>
      </p:sp>
      <p:sp>
        <p:nvSpPr>
          <p:cNvPr id="12" name="Shape 10"/>
          <p:cNvSpPr/>
          <p:nvPr/>
        </p:nvSpPr>
        <p:spPr>
          <a:xfrm>
            <a:off x="6583680" y="1600200"/>
            <a:ext cx="2400300" cy="292608"/>
          </a:xfrm>
          <a:prstGeom prst="roundRect">
            <a:avLst>
              <a:gd name="adj" fmla="val 15625"/>
            </a:avLst>
          </a:prstGeom>
          <a:solidFill>
            <a:srgbClr val="C0392B"/>
          </a:solidFill>
          <a:ln/>
        </p:spPr>
      </p:sp>
      <p:sp>
        <p:nvSpPr>
          <p:cNvPr id="13" name="Text 11"/>
          <p:cNvSpPr/>
          <p:nvPr/>
        </p:nvSpPr>
        <p:spPr>
          <a:xfrm>
            <a:off x="6583680" y="1600200"/>
            <a:ext cx="24003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避けるべき</a:t>
            </a:r>
            <a:endParaRPr lang="en-US" sz="1050" dirty="0"/>
          </a:p>
        </p:txBody>
      </p:sp>
      <p:sp>
        <p:nvSpPr>
          <p:cNvPr id="14" name="Shape 12"/>
          <p:cNvSpPr/>
          <p:nvPr/>
        </p:nvSpPr>
        <p:spPr>
          <a:xfrm>
            <a:off x="6583680" y="1965960"/>
            <a:ext cx="2400300" cy="4572000"/>
          </a:xfrm>
          <a:prstGeom prst="roundRect">
            <a:avLst>
              <a:gd name="adj" fmla="val 3048"/>
            </a:avLst>
          </a:prstGeom>
          <a:solidFill>
            <a:srgbClr val="1E2A3A"/>
          </a:solidFill>
          <a:ln/>
          <a:effectLst>
            <a:outerShdw sx="100000" sy="100000" kx="0" ky="0" algn="bl" rotWithShape="0" blurRad="101600" dist="38100" dir="2700000">
              <a:srgbClr val="000000">
                <a:alpha val="12000"/>
              </a:srgbClr>
            </a:outerShdw>
          </a:effectLst>
        </p:spPr>
      </p:sp>
      <p:sp>
        <p:nvSpPr>
          <p:cNvPr id="15" name="Text 13"/>
          <p:cNvSpPr/>
          <p:nvPr/>
        </p:nvSpPr>
        <p:spPr>
          <a:xfrm>
            <a:off x="6876288" y="2203704"/>
            <a:ext cx="1669877" cy="416052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自動停止が無効、または</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長すぎる設定</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CREATE WAREHOUSE analytics_wh</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WAREHOUSE_SIZE = 'LARGE'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AUTO_SUSPEND = 3600</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AUTO_RESUME = TRUE;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-- 1時間アイドルでも課金継続</a:t>
            </a:r>
            <a:endParaRPr lang="en-US" sz="1100" dirty="0"/>
          </a:p>
        </p:txBody>
      </p:sp>
      <p:sp>
        <p:nvSpPr>
          <p:cNvPr id="16" name="Shape 14"/>
          <p:cNvSpPr/>
          <p:nvPr/>
        </p:nvSpPr>
        <p:spPr>
          <a:xfrm>
            <a:off x="9258300" y="1600200"/>
            <a:ext cx="2400300" cy="292608"/>
          </a:xfrm>
          <a:prstGeom prst="roundRect">
            <a:avLst>
              <a:gd name="adj" fmla="val 15625"/>
            </a:avLst>
          </a:prstGeom>
          <a:solidFill>
            <a:srgbClr val="1F8A5F"/>
          </a:solidFill>
          <a:ln/>
        </p:spPr>
      </p:sp>
      <p:sp>
        <p:nvSpPr>
          <p:cNvPr id="17" name="Text 15"/>
          <p:cNvSpPr/>
          <p:nvPr/>
        </p:nvSpPr>
        <p:spPr>
          <a:xfrm>
            <a:off x="9258300" y="1600200"/>
            <a:ext cx="24003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 推奨</a:t>
            </a:r>
            <a:endParaRPr lang="en-US" sz="1050" dirty="0"/>
          </a:p>
        </p:txBody>
      </p:sp>
      <p:sp>
        <p:nvSpPr>
          <p:cNvPr id="18" name="Shape 16"/>
          <p:cNvSpPr/>
          <p:nvPr/>
        </p:nvSpPr>
        <p:spPr>
          <a:xfrm>
            <a:off x="9258300" y="1965960"/>
            <a:ext cx="2400300" cy="4572000"/>
          </a:xfrm>
          <a:prstGeom prst="roundRect">
            <a:avLst>
              <a:gd name="adj" fmla="val 3048"/>
            </a:avLst>
          </a:prstGeom>
          <a:solidFill>
            <a:srgbClr val="1E2A3A"/>
          </a:solidFill>
          <a:ln/>
          <a:effectLst>
            <a:outerShdw sx="100000" sy="100000" kx="0" ky="0" algn="bl" rotWithShape="0" blurRad="101600" dist="38100" dir="2700000">
              <a:srgbClr val="000000">
                <a:alpha val="12000"/>
              </a:srgbClr>
            </a:outerShdw>
          </a:effectLst>
        </p:spPr>
      </p:sp>
      <p:sp>
        <p:nvSpPr>
          <p:cNvPr id="19" name="Text 17"/>
          <p:cNvSpPr/>
          <p:nvPr/>
        </p:nvSpPr>
        <p:spPr>
          <a:xfrm>
            <a:off x="9550908" y="2203704"/>
            <a:ext cx="1669877" cy="4160520"/>
          </a:xfrm>
          <a:prstGeom prst="rect">
            <a:avLst/>
          </a:prstGeom>
          <a:noFill/>
          <a:ln/>
        </p:spPr>
        <p:txBody>
          <a:bodyPr wrap="square" lIns="0" tIns="0" rIns="0" bIns="0" rtlCol="0" anchor="t"/>
          <a:lstStyle/>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-- 60秒で自動停止し</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アイドルコストを最小化</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CREATE WAREHOUSE analytics_wh</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WAREHOUSE_SIZE = 'LARGE'</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AUTO_SUSPEND = 60</a:t>
            </a:r>
            <a:endParaRPr lang="en-US" sz="1100" dirty="0"/>
          </a:p>
          <a:p>
            <a:pPr indent="0" marL="0">
              <a:lnSpc>
                <a:spcPct val="120000"/>
              </a:lnSpc>
              <a:buNone/>
            </a:pPr>
            <a:r>
              <a:rPr lang="en-US" sz="1100" dirty="0">
                <a:solidFill>
                  <a:srgbClr val="E8F0F7"/>
                </a:solidFill>
                <a:latin typeface="Courier New" pitchFamily="34" charset="0"/>
                <a:ea typeface="Courier New" pitchFamily="34" charset="-122"/>
                <a:cs typeface="Courier New" pitchFamily="34" charset="-120"/>
              </a:rPr>
              <a:t>  AUTO_RESUME = TRUE;</a:t>
            </a:r>
            <a:endParaRPr lang="en-US" sz="1100" dirty="0"/>
          </a:p>
        </p:txBody>
      </p:sp>
      <p:sp>
        <p:nvSpPr>
          <p:cNvPr id="20" name="Text 18"/>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1" name="Text 19"/>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Resource Monitor①  基本概念</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クレジット使用量に上限とアラートを設定する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CREDIT_QUOTA：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監視期間内（日次・月次等）に消費可能なクレジット上限を設定</a:t>
            </a:r>
            <a:endParaRPr lang="en-US" sz="115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TRIGGERS：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使用率が一定割合に達した時点での挙動（通知のみ／停止）を複数段階で設定可能</a:t>
            </a:r>
            <a:endParaRPr lang="en-US" sz="115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NOTIFY：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指定割合到達時に管理者へ通知のみ行う</a:t>
            </a:r>
            <a:endParaRPr lang="en-US" sz="115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SUSPEND / SUSPEND_IMMEDIATE：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上限到達時にウェアハウスを実行完了後／即座に停止させる</a:t>
            </a:r>
            <a:endParaRPr lang="en-US" sz="1150" dirty="0"/>
          </a:p>
        </p:txBody>
      </p:sp>
      <p:sp>
        <p:nvSpPr>
          <p:cNvPr id="12" name="Shape 10"/>
          <p:cNvSpPr/>
          <p:nvPr/>
        </p:nvSpPr>
        <p:spPr>
          <a:xfrm>
            <a:off x="548640" y="4983480"/>
            <a:ext cx="5760720" cy="1188720"/>
          </a:xfrm>
          <a:prstGeom prst="roundRect">
            <a:avLst>
              <a:gd name="adj" fmla="val 5385"/>
            </a:avLst>
          </a:prstGeom>
          <a:solidFill>
            <a:srgbClr val="F4F9FC"/>
          </a:solidFill>
          <a:ln w="15875">
            <a:solidFill>
              <a:srgbClr val="B7791F"/>
            </a:solidFill>
            <a:prstDash val="solid"/>
          </a:ln>
        </p:spPr>
      </p:sp>
      <p:sp>
        <p:nvSpPr>
          <p:cNvPr id="13" name="Text 11"/>
          <p:cNvSpPr/>
          <p:nvPr/>
        </p:nvSpPr>
        <p:spPr>
          <a:xfrm>
            <a:off x="777240" y="5093208"/>
            <a:ext cx="5303520" cy="274320"/>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注意</a:t>
            </a:r>
            <a:endParaRPr lang="en-US" sz="1050" dirty="0"/>
          </a:p>
        </p:txBody>
      </p:sp>
      <p:sp>
        <p:nvSpPr>
          <p:cNvPr id="14" name="Text 12"/>
          <p:cNvSpPr/>
          <p:nvPr/>
        </p:nvSpPr>
        <p:spPr>
          <a:xfrm>
            <a:off x="777240" y="5367528"/>
            <a:ext cx="5303520" cy="68580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SUSPEND_IMMEDIATEは実行中のクエリも強制終了するため、重要な本番パイプラインに使う場合は事前に業務影響を確認する。多くの場合はNOTIFYで早期警告のみに留め、実際の停止は慎重に検討する。</a:t>
            </a:r>
            <a:endParaRPr lang="en-US" sz="1150" dirty="0"/>
          </a:p>
        </p:txBody>
      </p:sp>
      <p:sp>
        <p:nvSpPr>
          <p:cNvPr id="15" name="Shape 13"/>
          <p:cNvSpPr/>
          <p:nvPr/>
        </p:nvSpPr>
        <p:spPr>
          <a:xfrm>
            <a:off x="6583680" y="1600200"/>
            <a:ext cx="5074920" cy="4114800"/>
          </a:xfrm>
          <a:prstGeom prst="roundRect">
            <a:avLst>
              <a:gd name="adj" fmla="val 1778"/>
            </a:avLst>
          </a:prstGeom>
          <a:solidFill>
            <a:srgbClr val="1E2A3A"/>
          </a:solidFill>
          <a:ln/>
          <a:effectLst>
            <a:outerShdw sx="100000" sy="100000" kx="0" ky="0" algn="bl" rotWithShape="0" blurRad="101600" dist="38100" dir="2700000">
              <a:srgbClr val="000000">
                <a:alpha val="12000"/>
              </a:srgbClr>
            </a:outerShdw>
          </a:effectLst>
        </p:spPr>
      </p:sp>
      <p:sp>
        <p:nvSpPr>
          <p:cNvPr id="16" name="Shape 14"/>
          <p:cNvSpPr/>
          <p:nvPr/>
        </p:nvSpPr>
        <p:spPr>
          <a:xfrm>
            <a:off x="10835640" y="1746504"/>
            <a:ext cx="640080" cy="292608"/>
          </a:xfrm>
          <a:prstGeom prst="roundRect">
            <a:avLst>
              <a:gd name="adj" fmla="val 18750"/>
            </a:avLst>
          </a:prstGeom>
          <a:solidFill>
            <a:srgbClr val="1C7293"/>
          </a:solidFill>
          <a:ln/>
        </p:spPr>
      </p:sp>
      <p:sp>
        <p:nvSpPr>
          <p:cNvPr id="17" name="Text 15"/>
          <p:cNvSpPr/>
          <p:nvPr/>
        </p:nvSpPr>
        <p:spPr>
          <a:xfrm>
            <a:off x="10835640" y="174650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8" name="Text 16"/>
          <p:cNvSpPr/>
          <p:nvPr/>
        </p:nvSpPr>
        <p:spPr>
          <a:xfrm>
            <a:off x="6876288" y="2130552"/>
            <a:ext cx="4130528" cy="3401568"/>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月次でクレジット上限を監視</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CREATE RESOURCE MONITOR</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analytics_monitor</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WITH</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CREDIT_QUOTA = 1000</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FREQUENCY = MONTHLY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START_TIMESTAMP = IMMEDIATELY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TRIGGERS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ON 75 PERCENT DO NOTIFY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ON 90 PERCENT DO NOTIFY</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ON 100 PERCENT DO SUSPEND;</a:t>
            </a:r>
            <a:endParaRPr lang="en-US" sz="1300" dirty="0"/>
          </a:p>
        </p:txBody>
      </p:sp>
      <p:sp>
        <p:nvSpPr>
          <p:cNvPr id="19"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0"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Resource Monitor②  適用範囲の設計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アカウント全体か、ウェアハウス単位か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アカウント全体監視：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ON ACCOUNTで全ウェアハウスの合計消費量を監視。組織全体の予算管理に使う</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ウェアハウス単位監視：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特定ウェアハウスにのみ割り当て、チーム・用途別の予算管理に使う</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階層的な設計：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アカウント全体の大枠監視＋重要ウェアハウス個別監視、の二段構えが実務的</a:t>
            </a:r>
            <a:endParaRPr lang="en-US" sz="1200" dirty="0"/>
          </a:p>
        </p:txBody>
      </p:sp>
      <p:sp>
        <p:nvSpPr>
          <p:cNvPr id="10" name="Shape 8"/>
          <p:cNvSpPr/>
          <p:nvPr/>
        </p:nvSpPr>
        <p:spPr>
          <a:xfrm>
            <a:off x="6583680" y="1600200"/>
            <a:ext cx="5074920" cy="4114800"/>
          </a:xfrm>
          <a:prstGeom prst="roundRect">
            <a:avLst>
              <a:gd name="adj" fmla="val 1778"/>
            </a:avLst>
          </a:prstGeom>
          <a:solidFill>
            <a:srgbClr val="1E2A3A"/>
          </a:solidFill>
          <a:ln/>
          <a:effectLst>
            <a:outerShdw sx="100000" sy="100000" kx="0" ky="0" algn="bl" rotWithShape="0" blurRad="101600" dist="38100" dir="2700000">
              <a:srgbClr val="000000">
                <a:alpha val="12000"/>
              </a:srgbClr>
            </a:outerShdw>
          </a:effectLst>
        </p:spPr>
      </p:sp>
      <p:sp>
        <p:nvSpPr>
          <p:cNvPr id="11" name="Shape 9"/>
          <p:cNvSpPr/>
          <p:nvPr/>
        </p:nvSpPr>
        <p:spPr>
          <a:xfrm>
            <a:off x="10835640" y="1746504"/>
            <a:ext cx="640080" cy="292608"/>
          </a:xfrm>
          <a:prstGeom prst="roundRect">
            <a:avLst>
              <a:gd name="adj" fmla="val 18750"/>
            </a:avLst>
          </a:prstGeom>
          <a:solidFill>
            <a:srgbClr val="1C7293"/>
          </a:solidFill>
          <a:ln/>
        </p:spPr>
      </p:sp>
      <p:sp>
        <p:nvSpPr>
          <p:cNvPr id="12" name="Text 10"/>
          <p:cNvSpPr/>
          <p:nvPr/>
        </p:nvSpPr>
        <p:spPr>
          <a:xfrm>
            <a:off x="10835640" y="174650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3" name="Text 11"/>
          <p:cNvSpPr/>
          <p:nvPr/>
        </p:nvSpPr>
        <p:spPr>
          <a:xfrm>
            <a:off x="6876288" y="2130552"/>
            <a:ext cx="4130528" cy="3401568"/>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特定ウェアハウスに割り当て</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WAREHOUSE etl_wh</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SET RESOURCE_MONITOR</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 analytics_monitor;</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アカウント全体に適用する場合</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ACCOUNT</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SET RESOURCE_MONITOR</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 account_wide_monitor;</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現在の使用状況を確認</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SHOW RESOURCE MONITORS;</a:t>
            </a:r>
            <a:endParaRPr lang="en-US" sz="1300" dirty="0"/>
          </a:p>
        </p:txBody>
      </p:sp>
      <p:sp>
        <p:nvSpPr>
          <p:cNvPr id="14" name="Shape 12"/>
          <p:cNvSpPr/>
          <p:nvPr/>
        </p:nvSpPr>
        <p:spPr>
          <a:xfrm>
            <a:off x="548640" y="4983480"/>
            <a:ext cx="5760720" cy="1005840"/>
          </a:xfrm>
          <a:prstGeom prst="roundRect">
            <a:avLst>
              <a:gd name="adj" fmla="val 6364"/>
            </a:avLst>
          </a:prstGeom>
          <a:solidFill>
            <a:srgbClr val="F4F9FC"/>
          </a:solidFill>
          <a:ln w="15875">
            <a:solidFill>
              <a:srgbClr val="1C7293"/>
            </a:solidFill>
            <a:prstDash val="solid"/>
          </a:ln>
        </p:spPr>
      </p:sp>
      <p:sp>
        <p:nvSpPr>
          <p:cNvPr id="15" name="Text 13"/>
          <p:cNvSpPr/>
          <p:nvPr/>
        </p:nvSpPr>
        <p:spPr>
          <a:xfrm>
            <a:off x="777240" y="5093208"/>
            <a:ext cx="530352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補足</a:t>
            </a:r>
            <a:endParaRPr lang="en-US" sz="1050" dirty="0"/>
          </a:p>
        </p:txBody>
      </p:sp>
      <p:sp>
        <p:nvSpPr>
          <p:cNvPr id="16" name="Text 14"/>
          <p:cNvSpPr/>
          <p:nvPr/>
        </p:nvSpPr>
        <p:spPr>
          <a:xfrm>
            <a:off x="777240" y="5367528"/>
            <a:ext cx="5303520" cy="50292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Resource Monitorはあくまで「予算超過の検知・防止」のための安全網。日々のコスト最適化はウェアハウス設計やクエリ改善で行うのが基本。</a:t>
            </a:r>
            <a:endParaRPr lang="en-US" sz="11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8" name="Text 16"/>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ストレージコスト最適化</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Time Travel・Fail-safeの保持期間を見直す</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DATA_RETENTION_TIME_IN_DAYS：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Time Travelの保持日数。テーブル・スキーマ・DB単位で設定可能（最大90日）</a:t>
            </a:r>
            <a:endParaRPr lang="en-US" sz="115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Fail-safe：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Time Travel終了後に追加で7日間保持される復旧専用領域（永久テーブルのみ、設定不可）</a:t>
            </a:r>
            <a:endParaRPr lang="en-US" sz="115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ストレージ肥大化：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保持期間を必要以上に長く設定すると、変更の多いテーブルでストレージが膨らむ</a:t>
            </a:r>
            <a:endParaRPr lang="en-US" sz="1150" dirty="0"/>
          </a:p>
        </p:txBody>
      </p:sp>
      <p:sp>
        <p:nvSpPr>
          <p:cNvPr id="10" name="Shape 8"/>
          <p:cNvSpPr/>
          <p:nvPr/>
        </p:nvSpPr>
        <p:spPr>
          <a:xfrm>
            <a:off x="548640" y="3995928"/>
            <a:ext cx="100584" cy="100584"/>
          </a:xfrm>
          <a:prstGeom prst="ellipse">
            <a:avLst/>
          </a:prstGeom>
          <a:solidFill>
            <a:srgbClr val="29ADB2"/>
          </a:solidFill>
          <a:ln/>
        </p:spPr>
      </p:sp>
      <p:sp>
        <p:nvSpPr>
          <p:cNvPr id="11" name="Text 9"/>
          <p:cNvSpPr/>
          <p:nvPr/>
        </p:nvSpPr>
        <p:spPr>
          <a:xfrm>
            <a:off x="804672" y="3867912"/>
            <a:ext cx="5504688" cy="777240"/>
          </a:xfrm>
          <a:prstGeom prst="rect">
            <a:avLst/>
          </a:prstGeom>
          <a:noFill/>
          <a:ln/>
        </p:spPr>
        <p:txBody>
          <a:bodyPr wrap="square" lIns="0" tIns="0" rIns="0" bIns="0" rtlCol="0" anchor="t"/>
          <a:lstStyle/>
          <a:p>
            <a:pPr indent="0" marL="0">
              <a:lnSpc>
                <a:spcPct val="115000"/>
              </a:lnSpc>
              <a:buNone/>
            </a:pPr>
            <a:r>
              <a:rPr lang="en-US" sz="1150" b="1" dirty="0">
                <a:solidFill>
                  <a:srgbClr val="21295C"/>
                </a:solidFill>
                <a:latin typeface="Calibri" pitchFamily="34" charset="0"/>
                <a:ea typeface="Calibri" pitchFamily="34" charset="-122"/>
                <a:cs typeface="Calibri" pitchFamily="34" charset="-120"/>
              </a:rPr>
              <a:t>最小化の判断基準： </a:t>
            </a:r>
            <a:pPr indent="0" marL="0">
              <a:lnSpc>
                <a:spcPct val="115000"/>
              </a:lnSpc>
              <a:buNone/>
            </a:pPr>
            <a:r>
              <a:rPr lang="en-US" sz="1150" dirty="0">
                <a:solidFill>
                  <a:srgbClr val="1E293B"/>
                </a:solidFill>
                <a:latin typeface="Calibri" pitchFamily="34" charset="0"/>
                <a:ea typeface="Calibri" pitchFamily="34" charset="-122"/>
                <a:cs typeface="Calibri" pitchFamily="34" charset="-120"/>
              </a:rPr>
              <a:t>誤操作からの復旧に必要な期間を業務要件から逆算し、過剰な日数を避ける</a:t>
            </a:r>
            <a:endParaRPr lang="en-US" sz="1150" dirty="0"/>
          </a:p>
        </p:txBody>
      </p:sp>
      <p:sp>
        <p:nvSpPr>
          <p:cNvPr id="12" name="Shape 10"/>
          <p:cNvSpPr/>
          <p:nvPr/>
        </p:nvSpPr>
        <p:spPr>
          <a:xfrm>
            <a:off x="6583680" y="1600200"/>
            <a:ext cx="5074920" cy="4937760"/>
          </a:xfrm>
          <a:prstGeom prst="roundRect">
            <a:avLst>
              <a:gd name="adj" fmla="val 1481"/>
            </a:avLst>
          </a:prstGeom>
          <a:solidFill>
            <a:srgbClr val="1E2A3A"/>
          </a:solidFill>
          <a:ln/>
          <a:effectLst>
            <a:outerShdw sx="100000" sy="100000" kx="0" ky="0" algn="bl" rotWithShape="0" blurRad="101600" dist="38100" dir="2700000">
              <a:srgbClr val="000000">
                <a:alpha val="12000"/>
              </a:srgbClr>
            </a:outerShdw>
          </a:effectLst>
        </p:spPr>
      </p:sp>
      <p:sp>
        <p:nvSpPr>
          <p:cNvPr id="13" name="Shape 11"/>
          <p:cNvSpPr/>
          <p:nvPr/>
        </p:nvSpPr>
        <p:spPr>
          <a:xfrm>
            <a:off x="10835640" y="1746504"/>
            <a:ext cx="640080" cy="292608"/>
          </a:xfrm>
          <a:prstGeom prst="roundRect">
            <a:avLst>
              <a:gd name="adj" fmla="val 18750"/>
            </a:avLst>
          </a:prstGeom>
          <a:solidFill>
            <a:srgbClr val="1C7293"/>
          </a:solidFill>
          <a:ln/>
        </p:spPr>
      </p:sp>
      <p:sp>
        <p:nvSpPr>
          <p:cNvPr id="14" name="Text 12"/>
          <p:cNvSpPr/>
          <p:nvPr/>
        </p:nvSpPr>
        <p:spPr>
          <a:xfrm>
            <a:off x="10835640" y="174650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5" name="Text 13"/>
          <p:cNvSpPr/>
          <p:nvPr/>
        </p:nvSpPr>
        <p:spPr>
          <a:xfrm>
            <a:off x="6876288" y="2130552"/>
            <a:ext cx="4130528" cy="4224528"/>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一時的な作業テーブルは</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Time Travelを最小化</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TABLE staging.tmp_orders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SET DATA_RETENTION_TIME_IN_DAYS = 0;</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重要な本番テーブルは</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業務要件に応じて設定</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ALTER TABLE prod.orders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SET DATA_RETENTION_TIME_IN_DAYS = 7;</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現在の設定を確認</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SHOW PARAMETERS LIKE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'DATA_RETENTION_TIME_IN_DAYS'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IN TABLE prod.orders;</a:t>
            </a:r>
            <a:endParaRPr lang="en-US" sz="1300" dirty="0"/>
          </a:p>
        </p:txBody>
      </p:sp>
      <p:sp>
        <p:nvSpPr>
          <p:cNvPr id="16" name="Text 14"/>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7" name="Text 15"/>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Transient / Temporaryテーブルの活用</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Fail-safeを持たないテーブル種別でコスト削減</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Permanent（通常）：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Time Travel＋Fail-safe（7日間）の両方を持つ。本番の重要データ向け</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Transient：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Time Travelのみ（Fail-safeなし）。中間テーブルやステージング向け</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Temporary：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セッション終了で自動削除。一時的な検証・テスト用途向け</a:t>
            </a:r>
            <a:endParaRPr lang="en-US" sz="1200" dirty="0"/>
          </a:p>
        </p:txBody>
      </p:sp>
      <p:sp>
        <p:nvSpPr>
          <p:cNvPr id="10" name="Shape 8"/>
          <p:cNvSpPr/>
          <p:nvPr/>
        </p:nvSpPr>
        <p:spPr>
          <a:xfrm>
            <a:off x="548640" y="4160520"/>
            <a:ext cx="5760720" cy="1188720"/>
          </a:xfrm>
          <a:prstGeom prst="roundRect">
            <a:avLst>
              <a:gd name="adj" fmla="val 5385"/>
            </a:avLst>
          </a:prstGeom>
          <a:solidFill>
            <a:srgbClr val="F4F9FC"/>
          </a:solidFill>
          <a:ln w="15875">
            <a:solidFill>
              <a:srgbClr val="1F8A5F"/>
            </a:solidFill>
            <a:prstDash val="solid"/>
          </a:ln>
        </p:spPr>
      </p:sp>
      <p:sp>
        <p:nvSpPr>
          <p:cNvPr id="11" name="Text 9"/>
          <p:cNvSpPr/>
          <p:nvPr/>
        </p:nvSpPr>
        <p:spPr>
          <a:xfrm>
            <a:off x="777240" y="4270248"/>
            <a:ext cx="5303520" cy="274320"/>
          </a:xfrm>
          <a:prstGeom prst="rect">
            <a:avLst/>
          </a:prstGeom>
          <a:noFill/>
          <a:ln/>
        </p:spPr>
        <p:txBody>
          <a:bodyPr wrap="square" lIns="0" tIns="0" rIns="0" bIns="0" rtlCol="0" anchor="ctr"/>
          <a:lstStyle/>
          <a:p>
            <a:pPr indent="0" marL="0">
              <a:buNone/>
            </a:pPr>
            <a:r>
              <a:rPr lang="en-US" sz="1050" b="1" dirty="0">
                <a:solidFill>
                  <a:srgbClr val="1F8A5F"/>
                </a:solidFill>
                <a:latin typeface="Calibri" pitchFamily="34" charset="0"/>
                <a:ea typeface="Calibri" pitchFamily="34" charset="-122"/>
                <a:cs typeface="Calibri" pitchFamily="34" charset="-120"/>
              </a:rPr>
              <a:t>ポイント</a:t>
            </a:r>
            <a:endParaRPr lang="en-US" sz="1050" dirty="0"/>
          </a:p>
        </p:txBody>
      </p:sp>
      <p:sp>
        <p:nvSpPr>
          <p:cNvPr id="12" name="Text 10"/>
          <p:cNvSpPr/>
          <p:nvPr/>
        </p:nvSpPr>
        <p:spPr>
          <a:xfrm>
            <a:off x="777240" y="4544568"/>
            <a:ext cx="5303520" cy="68580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ETLパイプラインの中間テーブルや一時的な集計テーブルをPermanentのまま放置すると、不要なFail-safeコストが発生し続ける。用途に応じてTransient/Temporaryへ切り替える。</a:t>
            </a:r>
            <a:endParaRPr lang="en-US" sz="1150" dirty="0"/>
          </a:p>
        </p:txBody>
      </p:sp>
      <p:sp>
        <p:nvSpPr>
          <p:cNvPr id="13" name="Shape 11"/>
          <p:cNvSpPr/>
          <p:nvPr/>
        </p:nvSpPr>
        <p:spPr>
          <a:xfrm>
            <a:off x="6583680" y="1600200"/>
            <a:ext cx="5074920" cy="3840480"/>
          </a:xfrm>
          <a:prstGeom prst="roundRect">
            <a:avLst>
              <a:gd name="adj" fmla="val 1905"/>
            </a:avLst>
          </a:prstGeom>
          <a:solidFill>
            <a:srgbClr val="1E2A3A"/>
          </a:solidFill>
          <a:ln/>
          <a:effectLst>
            <a:outerShdw sx="100000" sy="100000" kx="0" ky="0" algn="bl" rotWithShape="0" blurRad="101600" dist="38100" dir="2700000">
              <a:srgbClr val="000000">
                <a:alpha val="12000"/>
              </a:srgbClr>
            </a:outerShdw>
          </a:effectLst>
        </p:spPr>
      </p:sp>
      <p:sp>
        <p:nvSpPr>
          <p:cNvPr id="14" name="Shape 12"/>
          <p:cNvSpPr/>
          <p:nvPr/>
        </p:nvSpPr>
        <p:spPr>
          <a:xfrm>
            <a:off x="10835640" y="1746504"/>
            <a:ext cx="640080" cy="292608"/>
          </a:xfrm>
          <a:prstGeom prst="roundRect">
            <a:avLst>
              <a:gd name="adj" fmla="val 18750"/>
            </a:avLst>
          </a:prstGeom>
          <a:solidFill>
            <a:srgbClr val="1C7293"/>
          </a:solidFill>
          <a:ln/>
        </p:spPr>
      </p:sp>
      <p:sp>
        <p:nvSpPr>
          <p:cNvPr id="15" name="Text 13"/>
          <p:cNvSpPr/>
          <p:nvPr/>
        </p:nvSpPr>
        <p:spPr>
          <a:xfrm>
            <a:off x="10835640" y="174650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6" name="Text 14"/>
          <p:cNvSpPr/>
          <p:nvPr/>
        </p:nvSpPr>
        <p:spPr>
          <a:xfrm>
            <a:off x="6876288" y="2130552"/>
            <a:ext cx="4130528" cy="3127248"/>
          </a:xfrm>
          <a:prstGeom prst="rect">
            <a:avLst/>
          </a:prstGeom>
          <a:noFill/>
          <a:ln/>
        </p:spPr>
        <p:txBody>
          <a:bodyPr wrap="square" lIns="0" tIns="0" rIns="0" bIns="0" rtlCol="0" anchor="t"/>
          <a:lstStyle/>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ETLの中間テーブルはTransientに</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CREATE TRANSIENT TABLE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staging.orders_intermediate AS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SELECT * FROM raw.orders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WHERE load_date = CURRENT_DATE();</a:t>
            </a:r>
            <a:endParaRPr lang="en-US" sz="1300" dirty="0"/>
          </a:p>
          <a:p>
            <a:pPr indent="0" marL="0">
              <a:lnSpc>
                <a:spcPct val="120000"/>
              </a:lnSpc>
              <a:buNone/>
            </a:pP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検証用の使い捨てテーブルは</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Temporaryに</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CREATE TEMPORARY TABLE</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  scratch.test_calc AS</a:t>
            </a:r>
            <a:endParaRPr lang="en-US" sz="1300" dirty="0"/>
          </a:p>
          <a:p>
            <a:pPr indent="0" marL="0">
              <a:lnSpc>
                <a:spcPct val="120000"/>
              </a:lnSpc>
              <a:buNone/>
            </a:pPr>
            <a:r>
              <a:rPr lang="en-US" sz="1300" dirty="0">
                <a:solidFill>
                  <a:srgbClr val="E8F0F7"/>
                </a:solidFill>
                <a:latin typeface="Courier New" pitchFamily="34" charset="0"/>
                <a:ea typeface="Courier New" pitchFamily="34" charset="-122"/>
                <a:cs typeface="Courier New" pitchFamily="34" charset="-120"/>
              </a:rPr>
              <a:t>SELECT * FROM prod.orders LIMIT 1000;</a:t>
            </a:r>
            <a:endParaRPr lang="en-US" sz="130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8" name="Text 16"/>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クエリコストの可視化</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「誰が」「何に」クレジットを消費しているかを把握する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WAREHOUSE_METERING_HISTORY：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ウェアハウスごとの時間帯別クレジット消費量を確認できるビュー</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QUERY_HISTORY：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個々のクエリの実行時間・warehouse_nameからコストの内訳を分析</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ユーザー・ロール単位の集計：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誰がどれだけウェアハウスを使っているかをuser_name等で集計し可視化</a:t>
            </a:r>
            <a:endParaRPr lang="en-US" sz="1200" dirty="0"/>
          </a:p>
        </p:txBody>
      </p:sp>
      <p:sp>
        <p:nvSpPr>
          <p:cNvPr id="10" name="Shape 8"/>
          <p:cNvSpPr/>
          <p:nvPr/>
        </p:nvSpPr>
        <p:spPr>
          <a:xfrm>
            <a:off x="548640" y="4251960"/>
            <a:ext cx="11109960" cy="1920240"/>
          </a:xfrm>
          <a:prstGeom prst="roundRect">
            <a:avLst>
              <a:gd name="adj" fmla="val 3810"/>
            </a:avLst>
          </a:prstGeom>
          <a:solidFill>
            <a:srgbClr val="1E2A3A"/>
          </a:solidFill>
          <a:ln/>
          <a:effectLst>
            <a:outerShdw sx="100000" sy="100000" kx="0" ky="0" algn="bl" rotWithShape="0" blurRad="101600" dist="38100" dir="2700000">
              <a:srgbClr val="000000">
                <a:alpha val="12000"/>
              </a:srgbClr>
            </a:outerShdw>
          </a:effectLst>
        </p:spPr>
      </p:sp>
      <p:sp>
        <p:nvSpPr>
          <p:cNvPr id="11" name="Shape 9"/>
          <p:cNvSpPr/>
          <p:nvPr/>
        </p:nvSpPr>
        <p:spPr>
          <a:xfrm>
            <a:off x="10835640" y="4398264"/>
            <a:ext cx="640080" cy="292608"/>
          </a:xfrm>
          <a:prstGeom prst="roundRect">
            <a:avLst>
              <a:gd name="adj" fmla="val 18750"/>
            </a:avLst>
          </a:prstGeom>
          <a:solidFill>
            <a:srgbClr val="1C7293"/>
          </a:solidFill>
          <a:ln/>
        </p:spPr>
      </p:sp>
      <p:sp>
        <p:nvSpPr>
          <p:cNvPr id="12" name="Text 10"/>
          <p:cNvSpPr/>
          <p:nvPr/>
        </p:nvSpPr>
        <p:spPr>
          <a:xfrm>
            <a:off x="10835640" y="439826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3" name="Text 11"/>
          <p:cNvSpPr/>
          <p:nvPr/>
        </p:nvSpPr>
        <p:spPr>
          <a:xfrm>
            <a:off x="841248" y="4782312"/>
            <a:ext cx="9682764" cy="1207008"/>
          </a:xfrm>
          <a:prstGeom prst="rect">
            <a:avLst/>
          </a:prstGeom>
          <a:noFill/>
          <a:ln/>
        </p:spPr>
        <p:txBody>
          <a:bodyPr wrap="square" lIns="0" tIns="0" rIns="0" bIns="0" rtlCol="0" anchor="t"/>
          <a:lstStyle/>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ウェアハウス別の直近30日クレジット消費</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SELECT</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warehouse_name,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DATE_TRUNC('day', start_time) AS usage_date,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SUM(credits_used) AS daily_credits</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FROM</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snowflake.account_usage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.warehouse_metering_history</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WHERE start_time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&gt;= DATEADD('day', -30, CURRENT_DATE())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GROUP BY 1, 2</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ORDER BY daily_credits DESC;</a:t>
            </a:r>
            <a:endParaRPr lang="en-US" sz="700" dirty="0"/>
          </a:p>
        </p:txBody>
      </p:sp>
      <p:sp>
        <p:nvSpPr>
          <p:cNvPr id="14" name="Text 1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5" name="Text 13"/>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クラスタリングとコストのトレードオフ</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自動クラスタリングは「無料」ではない</a:t>
            </a:r>
            <a:endParaRPr lang="en-US" sz="1300" dirty="0"/>
          </a:p>
        </p:txBody>
      </p:sp>
      <p:sp>
        <p:nvSpPr>
          <p:cNvPr id="4" name="Shape 2"/>
          <p:cNvSpPr/>
          <p:nvPr/>
        </p:nvSpPr>
        <p:spPr>
          <a:xfrm>
            <a:off x="548640" y="1527048"/>
            <a:ext cx="100584" cy="100584"/>
          </a:xfrm>
          <a:prstGeom prst="ellipse">
            <a:avLst/>
          </a:prstGeom>
          <a:solidFill>
            <a:srgbClr val="29ADB2"/>
          </a:solidFill>
          <a:ln/>
        </p:spPr>
      </p:sp>
      <p:sp>
        <p:nvSpPr>
          <p:cNvPr id="5" name="Text 3"/>
          <p:cNvSpPr/>
          <p:nvPr/>
        </p:nvSpPr>
        <p:spPr>
          <a:xfrm>
            <a:off x="804672" y="1399032"/>
            <a:ext cx="10853928" cy="566928"/>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再クラスタリングのコスト：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自動クラスタリングはバックグラウンドで動作し、専用のクレジットを消費する</a:t>
            </a:r>
            <a:endParaRPr lang="en-US" sz="1200" dirty="0"/>
          </a:p>
        </p:txBody>
      </p:sp>
      <p:sp>
        <p:nvSpPr>
          <p:cNvPr id="6" name="Shape 4"/>
          <p:cNvSpPr/>
          <p:nvPr/>
        </p:nvSpPr>
        <p:spPr>
          <a:xfrm>
            <a:off x="548640" y="2093976"/>
            <a:ext cx="100584" cy="100584"/>
          </a:xfrm>
          <a:prstGeom prst="ellipse">
            <a:avLst/>
          </a:prstGeom>
          <a:solidFill>
            <a:srgbClr val="29ADB2"/>
          </a:solidFill>
          <a:ln/>
        </p:spPr>
      </p:sp>
      <p:sp>
        <p:nvSpPr>
          <p:cNvPr id="7" name="Text 5"/>
          <p:cNvSpPr/>
          <p:nvPr/>
        </p:nvSpPr>
        <p:spPr>
          <a:xfrm>
            <a:off x="804672" y="1965960"/>
            <a:ext cx="10853928" cy="566928"/>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更新頻度との関係：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頻繁にDML（INSERT/UPDATE/DELETE）が発生するテーブルほど再クラスタリングコストが増える</a:t>
            </a:r>
            <a:endParaRPr lang="en-US" sz="1200" dirty="0"/>
          </a:p>
        </p:txBody>
      </p:sp>
      <p:sp>
        <p:nvSpPr>
          <p:cNvPr id="8" name="Shape 6"/>
          <p:cNvSpPr/>
          <p:nvPr/>
        </p:nvSpPr>
        <p:spPr>
          <a:xfrm>
            <a:off x="548640" y="2660904"/>
            <a:ext cx="100584" cy="100584"/>
          </a:xfrm>
          <a:prstGeom prst="ellipse">
            <a:avLst/>
          </a:prstGeom>
          <a:solidFill>
            <a:srgbClr val="29ADB2"/>
          </a:solidFill>
          <a:ln/>
        </p:spPr>
      </p:sp>
      <p:sp>
        <p:nvSpPr>
          <p:cNvPr id="9" name="Text 7"/>
          <p:cNvSpPr/>
          <p:nvPr/>
        </p:nvSpPr>
        <p:spPr>
          <a:xfrm>
            <a:off x="804672" y="2532888"/>
            <a:ext cx="10853928" cy="566928"/>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費用対効果の検証：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クラスタリングキー設定前後でクエリ削減コストと再クラスタリングコストを比較する</a:t>
            </a:r>
            <a:endParaRPr lang="en-US" sz="1200" dirty="0"/>
          </a:p>
        </p:txBody>
      </p:sp>
      <p:sp>
        <p:nvSpPr>
          <p:cNvPr id="10" name="Shape 8"/>
          <p:cNvSpPr/>
          <p:nvPr/>
        </p:nvSpPr>
        <p:spPr>
          <a:xfrm>
            <a:off x="548640" y="3383280"/>
            <a:ext cx="11109960" cy="2194560"/>
          </a:xfrm>
          <a:prstGeom prst="roundRect">
            <a:avLst>
              <a:gd name="adj" fmla="val 3333"/>
            </a:avLst>
          </a:prstGeom>
          <a:solidFill>
            <a:srgbClr val="1E2A3A"/>
          </a:solidFill>
          <a:ln/>
          <a:effectLst>
            <a:outerShdw sx="100000" sy="100000" kx="0" ky="0" algn="bl" rotWithShape="0" blurRad="101600" dist="38100" dir="2700000">
              <a:srgbClr val="000000">
                <a:alpha val="12000"/>
              </a:srgbClr>
            </a:outerShdw>
          </a:effectLst>
        </p:spPr>
      </p:sp>
      <p:sp>
        <p:nvSpPr>
          <p:cNvPr id="11" name="Shape 9"/>
          <p:cNvSpPr/>
          <p:nvPr/>
        </p:nvSpPr>
        <p:spPr>
          <a:xfrm>
            <a:off x="10835640" y="3529584"/>
            <a:ext cx="640080" cy="292608"/>
          </a:xfrm>
          <a:prstGeom prst="roundRect">
            <a:avLst>
              <a:gd name="adj" fmla="val 18750"/>
            </a:avLst>
          </a:prstGeom>
          <a:solidFill>
            <a:srgbClr val="1C7293"/>
          </a:solidFill>
          <a:ln/>
        </p:spPr>
      </p:sp>
      <p:sp>
        <p:nvSpPr>
          <p:cNvPr id="12" name="Text 10"/>
          <p:cNvSpPr/>
          <p:nvPr/>
        </p:nvSpPr>
        <p:spPr>
          <a:xfrm>
            <a:off x="10835640" y="352958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3" name="Text 11"/>
          <p:cNvSpPr/>
          <p:nvPr/>
        </p:nvSpPr>
        <p:spPr>
          <a:xfrm>
            <a:off x="841248" y="3913632"/>
            <a:ext cx="9682764" cy="1481328"/>
          </a:xfrm>
          <a:prstGeom prst="rect">
            <a:avLst/>
          </a:prstGeom>
          <a:noFill/>
          <a:ln/>
        </p:spPr>
        <p:txBody>
          <a:bodyPr wrap="square" lIns="0" tIns="0" rIns="0" bIns="0" rtlCol="0" anchor="t"/>
          <a:lstStyle/>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自動クラスタリングのコストを確認</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SELECT</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table_name,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SUM(credits_used) AS clustering_credits</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FROM</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snowflake.account_usage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.automatic_clustering_history</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WHERE start_time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  &gt;= DATEADD('day', -30, CURRENT_DATE())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GROUP BY table_name</a:t>
            </a:r>
            <a:endParaRPr lang="en-US" sz="700" dirty="0"/>
          </a:p>
          <a:p>
            <a:pPr indent="0" marL="0">
              <a:lnSpc>
                <a:spcPct val="120000"/>
              </a:lnSpc>
              <a:buNone/>
            </a:pPr>
            <a:r>
              <a:rPr lang="en-US" sz="700" dirty="0">
                <a:solidFill>
                  <a:srgbClr val="E8F0F7"/>
                </a:solidFill>
                <a:latin typeface="Courier New" pitchFamily="34" charset="0"/>
                <a:ea typeface="Courier New" pitchFamily="34" charset="-122"/>
                <a:cs typeface="Courier New" pitchFamily="34" charset="-120"/>
              </a:rPr>
              <a:t>ORDER BY clustering_credits DESC;</a:t>
            </a:r>
            <a:endParaRPr lang="en-US" sz="700" dirty="0"/>
          </a:p>
        </p:txBody>
      </p:sp>
      <p:sp>
        <p:nvSpPr>
          <p:cNvPr id="14" name="Shape 12"/>
          <p:cNvSpPr/>
          <p:nvPr/>
        </p:nvSpPr>
        <p:spPr>
          <a:xfrm>
            <a:off x="548640" y="5715000"/>
            <a:ext cx="11109960" cy="685800"/>
          </a:xfrm>
          <a:prstGeom prst="roundRect">
            <a:avLst>
              <a:gd name="adj" fmla="val 9333"/>
            </a:avLst>
          </a:prstGeom>
          <a:solidFill>
            <a:srgbClr val="F4F9FC"/>
          </a:solidFill>
          <a:ln w="15875">
            <a:solidFill>
              <a:srgbClr val="B7791F"/>
            </a:solidFill>
            <a:prstDash val="solid"/>
          </a:ln>
        </p:spPr>
      </p:sp>
      <p:sp>
        <p:nvSpPr>
          <p:cNvPr id="15" name="Text 13"/>
          <p:cNvSpPr/>
          <p:nvPr/>
        </p:nvSpPr>
        <p:spPr>
          <a:xfrm>
            <a:off x="777240" y="5824728"/>
            <a:ext cx="10652760" cy="274320"/>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注意</a:t>
            </a:r>
            <a:endParaRPr lang="en-US" sz="1050" dirty="0"/>
          </a:p>
        </p:txBody>
      </p:sp>
      <p:sp>
        <p:nvSpPr>
          <p:cNvPr id="16" name="Text 14"/>
          <p:cNvSpPr/>
          <p:nvPr/>
        </p:nvSpPr>
        <p:spPr>
          <a:xfrm>
            <a:off x="777240" y="6099048"/>
            <a:ext cx="10652760" cy="18288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更新が激しいテーブルにクラスタリングキーを設定すると、再クラスタリングコストがクエリ削減効果を上回ることがある。</a:t>
            </a:r>
            <a:endParaRPr lang="en-US" sz="1150" dirty="0"/>
          </a:p>
        </p:txBody>
      </p:sp>
      <p:sp>
        <p:nvSpPr>
          <p:cNvPr id="17" name="Text 15"/>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8" name="Text 16"/>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Serverless機能の隠れたコスト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ウェアハウスを使わない機能にも課金が発生する</a:t>
            </a:r>
            <a:endParaRPr lang="en-US" sz="1300" dirty="0"/>
          </a:p>
        </p:txBody>
      </p:sp>
      <p:sp>
        <p:nvSpPr>
          <p:cNvPr id="4" name="Shape 2"/>
          <p:cNvSpPr/>
          <p:nvPr/>
        </p:nvSpPr>
        <p:spPr>
          <a:xfrm>
            <a:off x="548640"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5" name="Shape 3"/>
          <p:cNvSpPr/>
          <p:nvPr/>
        </p:nvSpPr>
        <p:spPr>
          <a:xfrm>
            <a:off x="804672" y="1856232"/>
            <a:ext cx="566928" cy="566928"/>
          </a:xfrm>
          <a:prstGeom prst="ellipse">
            <a:avLst/>
          </a:prstGeom>
          <a:solidFill>
            <a:srgbClr val="065A82"/>
          </a:solidFill>
          <a:ln/>
        </p:spPr>
      </p:sp>
      <p:pic>
        <p:nvPicPr>
          <p:cNvPr id="6" name="Image 0" descr="icons/sync_white.png">    </p:cNvPr>
          <p:cNvPicPr>
            <a:picLocks noChangeAspect="1"/>
          </p:cNvPicPr>
          <p:nvPr/>
        </p:nvPicPr>
        <p:blipFill>
          <a:blip r:embed="rId1"/>
          <a:stretch>
            <a:fillRect/>
          </a:stretch>
        </p:blipFill>
        <p:spPr>
          <a:xfrm>
            <a:off x="960120" y="2011680"/>
            <a:ext cx="256032" cy="256032"/>
          </a:xfrm>
          <a:prstGeom prst="rect">
            <a:avLst/>
          </a:prstGeom>
        </p:spPr>
      </p:pic>
      <p:sp>
        <p:nvSpPr>
          <p:cNvPr id="7" name="Text 4"/>
          <p:cNvSpPr/>
          <p:nvPr/>
        </p:nvSpPr>
        <p:spPr>
          <a:xfrm>
            <a:off x="777240"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Snowpipe</a:t>
            </a:r>
            <a:endParaRPr lang="en-US" sz="1350" dirty="0"/>
          </a:p>
        </p:txBody>
      </p:sp>
      <p:sp>
        <p:nvSpPr>
          <p:cNvPr id="8" name="Text 5"/>
          <p:cNvSpPr/>
          <p:nvPr/>
        </p:nvSpPr>
        <p:spPr>
          <a:xfrm>
            <a:off x="777240"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継続的データ取り込み。ファイル数が多いほどオーバーヘッドのコスト比率が増える</a:t>
            </a:r>
            <a:endParaRPr lang="en-US" sz="1100" dirty="0"/>
          </a:p>
        </p:txBody>
      </p:sp>
      <p:sp>
        <p:nvSpPr>
          <p:cNvPr id="9" name="Shape 6"/>
          <p:cNvSpPr/>
          <p:nvPr/>
        </p:nvSpPr>
        <p:spPr>
          <a:xfrm>
            <a:off x="4270248"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10" name="Shape 7"/>
          <p:cNvSpPr/>
          <p:nvPr/>
        </p:nvSpPr>
        <p:spPr>
          <a:xfrm>
            <a:off x="4526280" y="1856232"/>
            <a:ext cx="566928" cy="566928"/>
          </a:xfrm>
          <a:prstGeom prst="ellipse">
            <a:avLst/>
          </a:prstGeom>
          <a:solidFill>
            <a:srgbClr val="065A82"/>
          </a:solidFill>
          <a:ln/>
        </p:spPr>
      </p:sp>
      <p:pic>
        <p:nvPicPr>
          <p:cNvPr id="11" name="Image 1" descr="icons/clock_white.png">    </p:cNvPr>
          <p:cNvPicPr>
            <a:picLocks noChangeAspect="1"/>
          </p:cNvPicPr>
          <p:nvPr/>
        </p:nvPicPr>
        <p:blipFill>
          <a:blip r:embed="rId2"/>
          <a:stretch>
            <a:fillRect/>
          </a:stretch>
        </p:blipFill>
        <p:spPr>
          <a:xfrm>
            <a:off x="4681728" y="2011680"/>
            <a:ext cx="256032" cy="256032"/>
          </a:xfrm>
          <a:prstGeom prst="rect">
            <a:avLst/>
          </a:prstGeom>
        </p:spPr>
      </p:pic>
      <p:sp>
        <p:nvSpPr>
          <p:cNvPr id="12" name="Text 8"/>
          <p:cNvSpPr/>
          <p:nvPr/>
        </p:nvSpPr>
        <p:spPr>
          <a:xfrm>
            <a:off x="4498848"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Serverless Tasks</a:t>
            </a:r>
            <a:endParaRPr lang="en-US" sz="1350" dirty="0"/>
          </a:p>
        </p:txBody>
      </p:sp>
      <p:sp>
        <p:nvSpPr>
          <p:cNvPr id="13" name="Text 9"/>
          <p:cNvSpPr/>
          <p:nvPr/>
        </p:nvSpPr>
        <p:spPr>
          <a:xfrm>
            <a:off x="4498848"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ユーザー管理ウェアハウス不要のタスク実行。専用クレジットレートで課金</a:t>
            </a:r>
            <a:endParaRPr lang="en-US" sz="1100" dirty="0"/>
          </a:p>
        </p:txBody>
      </p:sp>
      <p:sp>
        <p:nvSpPr>
          <p:cNvPr id="14" name="Shape 10"/>
          <p:cNvSpPr/>
          <p:nvPr/>
        </p:nvSpPr>
        <p:spPr>
          <a:xfrm>
            <a:off x="7991856" y="1600200"/>
            <a:ext cx="3520440" cy="2377440"/>
          </a:xfrm>
          <a:prstGeom prst="roundRect">
            <a:avLst>
              <a:gd name="adj" fmla="val 3846"/>
            </a:avLst>
          </a:prstGeom>
          <a:solidFill>
            <a:srgbClr val="F4F9FC"/>
          </a:solidFill>
          <a:ln/>
          <a:effectLst>
            <a:outerShdw sx="100000" sy="100000" kx="0" ky="0" algn="bl" rotWithShape="0" blurRad="101600" dist="38100" dir="2700000">
              <a:srgbClr val="000000">
                <a:alpha val="12000"/>
              </a:srgbClr>
            </a:outerShdw>
          </a:effectLst>
        </p:spPr>
      </p:sp>
      <p:sp>
        <p:nvSpPr>
          <p:cNvPr id="15" name="Shape 11"/>
          <p:cNvSpPr/>
          <p:nvPr/>
        </p:nvSpPr>
        <p:spPr>
          <a:xfrm>
            <a:off x="8247888" y="1856232"/>
            <a:ext cx="566928" cy="566928"/>
          </a:xfrm>
          <a:prstGeom prst="ellipse">
            <a:avLst/>
          </a:prstGeom>
          <a:solidFill>
            <a:srgbClr val="065A82"/>
          </a:solidFill>
          <a:ln/>
        </p:spPr>
      </p:sp>
      <p:pic>
        <p:nvPicPr>
          <p:cNvPr id="16" name="Image 2" descr="icons/filter_white.png">    </p:cNvPr>
          <p:cNvPicPr>
            <a:picLocks noChangeAspect="1"/>
          </p:cNvPicPr>
          <p:nvPr/>
        </p:nvPicPr>
        <p:blipFill>
          <a:blip r:embed="rId3"/>
          <a:stretch>
            <a:fillRect/>
          </a:stretch>
        </p:blipFill>
        <p:spPr>
          <a:xfrm>
            <a:off x="8403336" y="2011680"/>
            <a:ext cx="256032" cy="256032"/>
          </a:xfrm>
          <a:prstGeom prst="rect">
            <a:avLst/>
          </a:prstGeom>
        </p:spPr>
      </p:pic>
      <p:sp>
        <p:nvSpPr>
          <p:cNvPr id="17" name="Text 12"/>
          <p:cNvSpPr/>
          <p:nvPr/>
        </p:nvSpPr>
        <p:spPr>
          <a:xfrm>
            <a:off x="8220456" y="2560320"/>
            <a:ext cx="3063240" cy="457200"/>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Search Optimization</a:t>
            </a:r>
            <a:endParaRPr lang="en-US" sz="1350" dirty="0"/>
          </a:p>
        </p:txBody>
      </p:sp>
      <p:sp>
        <p:nvSpPr>
          <p:cNvPr id="18" name="Text 13"/>
          <p:cNvSpPr/>
          <p:nvPr/>
        </p:nvSpPr>
        <p:spPr>
          <a:xfrm>
            <a:off x="8220456" y="3017520"/>
            <a:ext cx="3063240" cy="86868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検索高速化サービス。維持コストが常時発生する点に注意</a:t>
            </a:r>
            <a:endParaRPr lang="en-US" sz="1100" dirty="0"/>
          </a:p>
        </p:txBody>
      </p:sp>
      <p:sp>
        <p:nvSpPr>
          <p:cNvPr id="19" name="Shape 14"/>
          <p:cNvSpPr/>
          <p:nvPr/>
        </p:nvSpPr>
        <p:spPr>
          <a:xfrm>
            <a:off x="548640" y="4206240"/>
            <a:ext cx="11109960" cy="1280160"/>
          </a:xfrm>
          <a:prstGeom prst="roundRect">
            <a:avLst>
              <a:gd name="adj" fmla="val 5000"/>
            </a:avLst>
          </a:prstGeom>
          <a:solidFill>
            <a:srgbClr val="F4F9FC"/>
          </a:solidFill>
          <a:ln w="15875">
            <a:solidFill>
              <a:srgbClr val="B7791F"/>
            </a:solidFill>
            <a:prstDash val="solid"/>
          </a:ln>
        </p:spPr>
      </p:sp>
      <p:sp>
        <p:nvSpPr>
          <p:cNvPr id="20" name="Text 15"/>
          <p:cNvSpPr/>
          <p:nvPr/>
        </p:nvSpPr>
        <p:spPr>
          <a:xfrm>
            <a:off x="777240" y="4315968"/>
            <a:ext cx="10652760" cy="274320"/>
          </a:xfrm>
          <a:prstGeom prst="rect">
            <a:avLst/>
          </a:prstGeom>
          <a:noFill/>
          <a:ln/>
        </p:spPr>
        <p:txBody>
          <a:bodyPr wrap="square" lIns="0" tIns="0" rIns="0" bIns="0" rtlCol="0" anchor="ctr"/>
          <a:lstStyle/>
          <a:p>
            <a:pPr indent="0" marL="0">
              <a:buNone/>
            </a:pPr>
            <a:r>
              <a:rPr lang="en-US" sz="1050" b="1" dirty="0">
                <a:solidFill>
                  <a:srgbClr val="B7791F"/>
                </a:solidFill>
                <a:latin typeface="Calibri" pitchFamily="34" charset="0"/>
                <a:ea typeface="Calibri" pitchFamily="34" charset="-122"/>
                <a:cs typeface="Calibri" pitchFamily="34" charset="-120"/>
              </a:rPr>
              <a:t>注意</a:t>
            </a:r>
            <a:endParaRPr lang="en-US" sz="1050" dirty="0"/>
          </a:p>
        </p:txBody>
      </p:sp>
      <p:sp>
        <p:nvSpPr>
          <p:cNvPr id="21" name="Text 16"/>
          <p:cNvSpPr/>
          <p:nvPr/>
        </p:nvSpPr>
        <p:spPr>
          <a:xfrm>
            <a:off x="777240" y="4590288"/>
            <a:ext cx="10652760" cy="777240"/>
          </a:xfrm>
          <a:prstGeom prst="rect">
            <a:avLst/>
          </a:prstGeom>
          <a:noFill/>
          <a:ln/>
        </p:spPr>
        <p:txBody>
          <a:bodyPr wrap="square" lIns="0" tIns="0" rIns="0" bIns="0" rtlCol="0" anchor="t"/>
          <a:lstStyle/>
          <a:p>
            <a:pPr indent="0" marL="0">
              <a:lnSpc>
                <a:spcPct val="120000"/>
              </a:lnSpc>
              <a:buNone/>
            </a:pPr>
            <a:r>
              <a:rPr lang="en-US" sz="1150" dirty="0">
                <a:solidFill>
                  <a:srgbClr val="1E293B"/>
                </a:solidFill>
                <a:latin typeface="Calibri" pitchFamily="34" charset="0"/>
                <a:ea typeface="Calibri" pitchFamily="34" charset="-122"/>
                <a:cs typeface="Calibri" pitchFamily="34" charset="-120"/>
              </a:rPr>
              <a:t>Serverless機能はウェアハウスのResource Monitorでは捕捉されない。METERING_DAILY_HISTORY等のビューで、サービスタイプ別の消費を別途監視する必要がある。</a:t>
            </a:r>
            <a:endParaRPr lang="en-US" sz="1150" dirty="0"/>
          </a:p>
        </p:txBody>
      </p:sp>
      <p:sp>
        <p:nvSpPr>
          <p:cNvPr id="22" name="Text 17"/>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3" name="Text 18"/>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組織的なガバナンス</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タグ付けでコスト責任を明確にする</a:t>
            </a:r>
            <a:endParaRPr lang="en-US" sz="1300" dirty="0"/>
          </a:p>
        </p:txBody>
      </p:sp>
      <p:sp>
        <p:nvSpPr>
          <p:cNvPr id="4" name="Shape 2"/>
          <p:cNvSpPr/>
          <p:nvPr/>
        </p:nvSpPr>
        <p:spPr>
          <a:xfrm>
            <a:off x="548640" y="1664208"/>
            <a:ext cx="100584" cy="100584"/>
          </a:xfrm>
          <a:prstGeom prst="ellipse">
            <a:avLst/>
          </a:prstGeom>
          <a:solidFill>
            <a:srgbClr val="29ADB2"/>
          </a:solidFill>
          <a:ln/>
        </p:spPr>
      </p:sp>
      <p:sp>
        <p:nvSpPr>
          <p:cNvPr id="5" name="Text 3"/>
          <p:cNvSpPr/>
          <p:nvPr/>
        </p:nvSpPr>
        <p:spPr>
          <a:xfrm>
            <a:off x="804672" y="153619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オブジェクトタグ：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ウェアハウス・データベース等にcost_center等のタグを付与し、部門別コストを集計</a:t>
            </a:r>
            <a:endParaRPr lang="en-US" sz="1200" dirty="0"/>
          </a:p>
        </p:txBody>
      </p:sp>
      <p:sp>
        <p:nvSpPr>
          <p:cNvPr id="6" name="Shape 4"/>
          <p:cNvSpPr/>
          <p:nvPr/>
        </p:nvSpPr>
        <p:spPr>
          <a:xfrm>
            <a:off x="548640" y="2441448"/>
            <a:ext cx="100584" cy="100584"/>
          </a:xfrm>
          <a:prstGeom prst="ellipse">
            <a:avLst/>
          </a:prstGeom>
          <a:solidFill>
            <a:srgbClr val="29ADB2"/>
          </a:solidFill>
          <a:ln/>
        </p:spPr>
      </p:sp>
      <p:sp>
        <p:nvSpPr>
          <p:cNvPr id="7" name="Text 5"/>
          <p:cNvSpPr/>
          <p:nvPr/>
        </p:nvSpPr>
        <p:spPr>
          <a:xfrm>
            <a:off x="804672" y="231343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命名規則の統一：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ウェアハウス名にチーム名・用途を含め、誰が何のために作成したか一目で分かるようにする</a:t>
            </a:r>
            <a:endParaRPr lang="en-US" sz="1200" dirty="0"/>
          </a:p>
        </p:txBody>
      </p:sp>
      <p:sp>
        <p:nvSpPr>
          <p:cNvPr id="8" name="Shape 6"/>
          <p:cNvSpPr/>
          <p:nvPr/>
        </p:nvSpPr>
        <p:spPr>
          <a:xfrm>
            <a:off x="548640" y="3218688"/>
            <a:ext cx="100584" cy="100584"/>
          </a:xfrm>
          <a:prstGeom prst="ellipse">
            <a:avLst/>
          </a:prstGeom>
          <a:solidFill>
            <a:srgbClr val="29ADB2"/>
          </a:solidFill>
          <a:ln/>
        </p:spPr>
      </p:sp>
      <p:sp>
        <p:nvSpPr>
          <p:cNvPr id="9" name="Text 7"/>
          <p:cNvSpPr/>
          <p:nvPr/>
        </p:nvSpPr>
        <p:spPr>
          <a:xfrm>
            <a:off x="804672" y="3090672"/>
            <a:ext cx="5504688" cy="777240"/>
          </a:xfrm>
          <a:prstGeom prst="rect">
            <a:avLst/>
          </a:prstGeom>
          <a:noFill/>
          <a:ln/>
        </p:spPr>
        <p:txBody>
          <a:bodyPr wrap="square" lIns="0" tIns="0" rIns="0" bIns="0" rtlCol="0" anchor="t"/>
          <a:lstStyle/>
          <a:p>
            <a:pPr indent="0" marL="0">
              <a:lnSpc>
                <a:spcPct val="115000"/>
              </a:lnSpc>
              <a:buNone/>
            </a:pPr>
            <a:r>
              <a:rPr lang="en-US" sz="1200" b="1" dirty="0">
                <a:solidFill>
                  <a:srgbClr val="21295C"/>
                </a:solidFill>
                <a:latin typeface="Calibri" pitchFamily="34" charset="0"/>
                <a:ea typeface="Calibri" pitchFamily="34" charset="-122"/>
                <a:cs typeface="Calibri" pitchFamily="34" charset="-120"/>
              </a:rPr>
              <a:t>定期レビュー： </a:t>
            </a:r>
            <a:pPr indent="0" marL="0">
              <a:lnSpc>
                <a:spcPct val="115000"/>
              </a:lnSpc>
              <a:buNone/>
            </a:pPr>
            <a:r>
              <a:rPr lang="en-US" sz="1200" dirty="0">
                <a:solidFill>
                  <a:srgbClr val="1E293B"/>
                </a:solidFill>
                <a:latin typeface="Calibri" pitchFamily="34" charset="0"/>
                <a:ea typeface="Calibri" pitchFamily="34" charset="-122"/>
                <a:cs typeface="Calibri" pitchFamily="34" charset="-120"/>
              </a:rPr>
              <a:t>月次でWAREHOUSE_METERING_HISTORYを確認し、想定外の消費増加を早期発見する</a:t>
            </a:r>
            <a:endParaRPr lang="en-US" sz="1200" dirty="0"/>
          </a:p>
        </p:txBody>
      </p:sp>
      <p:sp>
        <p:nvSpPr>
          <p:cNvPr id="10" name="Shape 8"/>
          <p:cNvSpPr/>
          <p:nvPr/>
        </p:nvSpPr>
        <p:spPr>
          <a:xfrm>
            <a:off x="6583680" y="1600200"/>
            <a:ext cx="5074920" cy="4937760"/>
          </a:xfrm>
          <a:prstGeom prst="roundRect">
            <a:avLst>
              <a:gd name="adj" fmla="val 1481"/>
            </a:avLst>
          </a:prstGeom>
          <a:solidFill>
            <a:srgbClr val="1E2A3A"/>
          </a:solidFill>
          <a:ln/>
          <a:effectLst>
            <a:outerShdw sx="100000" sy="100000" kx="0" ky="0" algn="bl" rotWithShape="0" blurRad="101600" dist="38100" dir="2700000">
              <a:srgbClr val="000000">
                <a:alpha val="12000"/>
              </a:srgbClr>
            </a:outerShdw>
          </a:effectLst>
        </p:spPr>
      </p:sp>
      <p:sp>
        <p:nvSpPr>
          <p:cNvPr id="11" name="Shape 9"/>
          <p:cNvSpPr/>
          <p:nvPr/>
        </p:nvSpPr>
        <p:spPr>
          <a:xfrm>
            <a:off x="10835640" y="1746504"/>
            <a:ext cx="640080" cy="292608"/>
          </a:xfrm>
          <a:prstGeom prst="roundRect">
            <a:avLst>
              <a:gd name="adj" fmla="val 18750"/>
            </a:avLst>
          </a:prstGeom>
          <a:solidFill>
            <a:srgbClr val="1C7293"/>
          </a:solidFill>
          <a:ln/>
        </p:spPr>
      </p:sp>
      <p:sp>
        <p:nvSpPr>
          <p:cNvPr id="12" name="Text 10"/>
          <p:cNvSpPr/>
          <p:nvPr/>
        </p:nvSpPr>
        <p:spPr>
          <a:xfrm>
            <a:off x="10835640" y="1746504"/>
            <a:ext cx="640080" cy="2926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SQL</a:t>
            </a:r>
            <a:endParaRPr lang="en-US" sz="950" dirty="0"/>
          </a:p>
        </p:txBody>
      </p:sp>
      <p:sp>
        <p:nvSpPr>
          <p:cNvPr id="13" name="Text 11"/>
          <p:cNvSpPr/>
          <p:nvPr/>
        </p:nvSpPr>
        <p:spPr>
          <a:xfrm>
            <a:off x="6876288" y="2130552"/>
            <a:ext cx="4130528" cy="4224528"/>
          </a:xfrm>
          <a:prstGeom prst="rect">
            <a:avLst/>
          </a:prstGeom>
          <a:noFill/>
          <a:ln/>
        </p:spPr>
        <p:txBody>
          <a:bodyPr wrap="square" lIns="0" tIns="0" rIns="0" bIns="0" rtlCol="0" anchor="t"/>
          <a:lstStyle/>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コストセンタータグの作成と付与</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CREATE TAG cost_center;</a:t>
            </a:r>
            <a:endParaRPr lang="en-US" sz="1200" dirty="0"/>
          </a:p>
          <a:p>
            <a:pPr indent="0" marL="0">
              <a:lnSpc>
                <a:spcPct val="120000"/>
              </a:lnSpc>
              <a:buNone/>
            </a:pP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ALTER WAREHOUSE marketing_bi_wh</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SET TAG cost_center = 'MARKETING';</a:t>
            </a:r>
            <a:endParaRPr lang="en-US" sz="1200" dirty="0"/>
          </a:p>
          <a:p>
            <a:pPr indent="0" marL="0">
              <a:lnSpc>
                <a:spcPct val="120000"/>
              </a:lnSpc>
              <a:buNone/>
            </a:pP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タグ別のコスト集計</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SELECT</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tag_value,</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SUM(credits_used) AS total_credits</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FROM</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snowflake.account_usage.tag_references</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tr</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JOIN</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snowflake.account_usage</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.warehouse_metering_history wh</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  ON tr.object_name = wh.warehouse_name</a:t>
            </a:r>
            <a:endParaRPr lang="en-US" sz="1200" dirty="0"/>
          </a:p>
          <a:p>
            <a:pPr indent="0" marL="0">
              <a:lnSpc>
                <a:spcPct val="120000"/>
              </a:lnSpc>
              <a:buNone/>
            </a:pPr>
            <a:r>
              <a:rPr lang="en-US" sz="1200" dirty="0">
                <a:solidFill>
                  <a:srgbClr val="E8F0F7"/>
                </a:solidFill>
                <a:latin typeface="Courier New" pitchFamily="34" charset="0"/>
                <a:ea typeface="Courier New" pitchFamily="34" charset="-122"/>
                <a:cs typeface="Courier New" pitchFamily="34" charset="-120"/>
              </a:rPr>
              <a:t>GROUP BY tag_value;</a:t>
            </a:r>
            <a:endParaRPr lang="en-US" sz="1200" dirty="0"/>
          </a:p>
        </p:txBody>
      </p:sp>
      <p:sp>
        <p:nvSpPr>
          <p:cNvPr id="14" name="Text 1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15" name="Text 13"/>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コスト系アンチパターン</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気づかないうちに膨らむコストの原因</a:t>
            </a:r>
            <a:endParaRPr lang="en-US" sz="1300" dirty="0"/>
          </a:p>
        </p:txBody>
      </p:sp>
      <p:sp>
        <p:nvSpPr>
          <p:cNvPr id="4" name="Shape 2"/>
          <p:cNvSpPr/>
          <p:nvPr/>
        </p:nvSpPr>
        <p:spPr>
          <a:xfrm>
            <a:off x="548640" y="1600200"/>
            <a:ext cx="5440680" cy="1828800"/>
          </a:xfrm>
          <a:prstGeom prst="roundRect">
            <a:avLst>
              <a:gd name="adj" fmla="val 5000"/>
            </a:avLst>
          </a:prstGeom>
          <a:solidFill>
            <a:srgbClr val="F4F9FC"/>
          </a:solidFill>
          <a:ln w="15875">
            <a:solidFill>
              <a:srgbClr val="B7791F"/>
            </a:solidFill>
            <a:prstDash val="solid"/>
          </a:ln>
        </p:spPr>
      </p:sp>
      <p:pic>
        <p:nvPicPr>
          <p:cNvPr id="5" name="Image 0" descr="icons/warning_amber.png">    </p:cNvPr>
          <p:cNvPicPr>
            <a:picLocks noChangeAspect="1"/>
          </p:cNvPicPr>
          <p:nvPr/>
        </p:nvPicPr>
        <p:blipFill>
          <a:blip r:embed="rId1"/>
          <a:stretch>
            <a:fillRect/>
          </a:stretch>
        </p:blipFill>
        <p:spPr>
          <a:xfrm>
            <a:off x="777240" y="1801368"/>
            <a:ext cx="365760" cy="365760"/>
          </a:xfrm>
          <a:prstGeom prst="rect">
            <a:avLst/>
          </a:prstGeom>
        </p:spPr>
      </p:pic>
      <p:sp>
        <p:nvSpPr>
          <p:cNvPr id="6" name="Text 3"/>
          <p:cNvSpPr/>
          <p:nvPr/>
        </p:nvSpPr>
        <p:spPr>
          <a:xfrm>
            <a:off x="1280160" y="17830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個人ごとに乱立したウェアハウス</a:t>
            </a:r>
            <a:endParaRPr lang="en-US" sz="1300" dirty="0"/>
          </a:p>
        </p:txBody>
      </p:sp>
      <p:sp>
        <p:nvSpPr>
          <p:cNvPr id="7" name="Text 4"/>
          <p:cNvSpPr/>
          <p:nvPr/>
        </p:nvSpPr>
        <p:spPr>
          <a:xfrm>
            <a:off x="822960" y="23134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メンバーが各自専用ウェアハウスを作成し、未使用のものが放置される</a:t>
            </a:r>
            <a:endParaRPr lang="en-US" sz="1100" dirty="0"/>
          </a:p>
        </p:txBody>
      </p:sp>
      <p:sp>
        <p:nvSpPr>
          <p:cNvPr id="8" name="Shape 5"/>
          <p:cNvSpPr/>
          <p:nvPr/>
        </p:nvSpPr>
        <p:spPr>
          <a:xfrm>
            <a:off x="6217920" y="1600200"/>
            <a:ext cx="5440680" cy="1828800"/>
          </a:xfrm>
          <a:prstGeom prst="roundRect">
            <a:avLst>
              <a:gd name="adj" fmla="val 5000"/>
            </a:avLst>
          </a:prstGeom>
          <a:solidFill>
            <a:srgbClr val="F4F9FC"/>
          </a:solidFill>
          <a:ln w="15875">
            <a:solidFill>
              <a:srgbClr val="B7791F"/>
            </a:solidFill>
            <a:prstDash val="solid"/>
          </a:ln>
        </p:spPr>
      </p:sp>
      <p:pic>
        <p:nvPicPr>
          <p:cNvPr id="9" name="Image 1" descr="icons/warning_amber.png">    </p:cNvPr>
          <p:cNvPicPr>
            <a:picLocks noChangeAspect="1"/>
          </p:cNvPicPr>
          <p:nvPr/>
        </p:nvPicPr>
        <p:blipFill>
          <a:blip r:embed="rId2"/>
          <a:stretch>
            <a:fillRect/>
          </a:stretch>
        </p:blipFill>
        <p:spPr>
          <a:xfrm>
            <a:off x="6446520" y="1801368"/>
            <a:ext cx="365760" cy="365760"/>
          </a:xfrm>
          <a:prstGeom prst="rect">
            <a:avLst/>
          </a:prstGeom>
        </p:spPr>
      </p:pic>
      <p:sp>
        <p:nvSpPr>
          <p:cNvPr id="10" name="Text 6"/>
          <p:cNvSpPr/>
          <p:nvPr/>
        </p:nvSpPr>
        <p:spPr>
          <a:xfrm>
            <a:off x="6949440" y="17830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全テーブル一律でTime Travel最大</a:t>
            </a:r>
            <a:endParaRPr lang="en-US" sz="1300" dirty="0"/>
          </a:p>
        </p:txBody>
      </p:sp>
      <p:sp>
        <p:nvSpPr>
          <p:cNvPr id="11" name="Text 7"/>
          <p:cNvSpPr/>
          <p:nvPr/>
        </p:nvSpPr>
        <p:spPr>
          <a:xfrm>
            <a:off x="6492240" y="23134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一時的な中間テーブルにも90日保持を設定し、ストレージが肥大化</a:t>
            </a:r>
            <a:endParaRPr lang="en-US" sz="1100" dirty="0"/>
          </a:p>
        </p:txBody>
      </p:sp>
      <p:sp>
        <p:nvSpPr>
          <p:cNvPr id="12" name="Shape 8"/>
          <p:cNvSpPr/>
          <p:nvPr/>
        </p:nvSpPr>
        <p:spPr>
          <a:xfrm>
            <a:off x="548640" y="3657600"/>
            <a:ext cx="5440680" cy="1828800"/>
          </a:xfrm>
          <a:prstGeom prst="roundRect">
            <a:avLst>
              <a:gd name="adj" fmla="val 5000"/>
            </a:avLst>
          </a:prstGeom>
          <a:solidFill>
            <a:srgbClr val="F4F9FC"/>
          </a:solidFill>
          <a:ln w="15875">
            <a:solidFill>
              <a:srgbClr val="B7791F"/>
            </a:solidFill>
            <a:prstDash val="solid"/>
          </a:ln>
        </p:spPr>
      </p:sp>
      <p:pic>
        <p:nvPicPr>
          <p:cNvPr id="13" name="Image 2" descr="icons/warning_amber.png">    </p:cNvPr>
          <p:cNvPicPr>
            <a:picLocks noChangeAspect="1"/>
          </p:cNvPicPr>
          <p:nvPr/>
        </p:nvPicPr>
        <p:blipFill>
          <a:blip r:embed="rId3"/>
          <a:stretch>
            <a:fillRect/>
          </a:stretch>
        </p:blipFill>
        <p:spPr>
          <a:xfrm>
            <a:off x="777240" y="3858768"/>
            <a:ext cx="365760" cy="365760"/>
          </a:xfrm>
          <a:prstGeom prst="rect">
            <a:avLst/>
          </a:prstGeom>
        </p:spPr>
      </p:pic>
      <p:sp>
        <p:nvSpPr>
          <p:cNvPr id="14" name="Text 9"/>
          <p:cNvSpPr/>
          <p:nvPr/>
        </p:nvSpPr>
        <p:spPr>
          <a:xfrm>
            <a:off x="1280160" y="38404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大きすぎる常用ウェアハウス</a:t>
            </a:r>
            <a:endParaRPr lang="en-US" sz="1300" dirty="0"/>
          </a:p>
        </p:txBody>
      </p:sp>
      <p:sp>
        <p:nvSpPr>
          <p:cNvPr id="15" name="Text 10"/>
          <p:cNvSpPr/>
          <p:nvPr/>
        </p:nvSpPr>
        <p:spPr>
          <a:xfrm>
            <a:off x="822960" y="43708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「念のため」とXLサイズを通常運用に使い続け、過剰な課金が継続する</a:t>
            </a:r>
            <a:endParaRPr lang="en-US" sz="1100" dirty="0"/>
          </a:p>
        </p:txBody>
      </p:sp>
      <p:sp>
        <p:nvSpPr>
          <p:cNvPr id="16" name="Shape 11"/>
          <p:cNvSpPr/>
          <p:nvPr/>
        </p:nvSpPr>
        <p:spPr>
          <a:xfrm>
            <a:off x="6217920" y="3657600"/>
            <a:ext cx="5440680" cy="1828800"/>
          </a:xfrm>
          <a:prstGeom prst="roundRect">
            <a:avLst>
              <a:gd name="adj" fmla="val 5000"/>
            </a:avLst>
          </a:prstGeom>
          <a:solidFill>
            <a:srgbClr val="F4F9FC"/>
          </a:solidFill>
          <a:ln w="15875">
            <a:solidFill>
              <a:srgbClr val="B7791F"/>
            </a:solidFill>
            <a:prstDash val="solid"/>
          </a:ln>
        </p:spPr>
      </p:sp>
      <p:pic>
        <p:nvPicPr>
          <p:cNvPr id="17" name="Image 3" descr="icons/warning_amber.png">    </p:cNvPr>
          <p:cNvPicPr>
            <a:picLocks noChangeAspect="1"/>
          </p:cNvPicPr>
          <p:nvPr/>
        </p:nvPicPr>
        <p:blipFill>
          <a:blip r:embed="rId4"/>
          <a:stretch>
            <a:fillRect/>
          </a:stretch>
        </p:blipFill>
        <p:spPr>
          <a:xfrm>
            <a:off x="6446520" y="3858768"/>
            <a:ext cx="365760" cy="365760"/>
          </a:xfrm>
          <a:prstGeom prst="rect">
            <a:avLst/>
          </a:prstGeom>
        </p:spPr>
      </p:pic>
      <p:sp>
        <p:nvSpPr>
          <p:cNvPr id="18" name="Text 12"/>
          <p:cNvSpPr/>
          <p:nvPr/>
        </p:nvSpPr>
        <p:spPr>
          <a:xfrm>
            <a:off x="6949440" y="3840480"/>
            <a:ext cx="4480560" cy="41148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Resource Monitor未設定</a:t>
            </a:r>
            <a:endParaRPr lang="en-US" sz="1300" dirty="0"/>
          </a:p>
        </p:txBody>
      </p:sp>
      <p:sp>
        <p:nvSpPr>
          <p:cNvPr id="19" name="Text 13"/>
          <p:cNvSpPr/>
          <p:nvPr/>
        </p:nvSpPr>
        <p:spPr>
          <a:xfrm>
            <a:off x="6492240" y="4370832"/>
            <a:ext cx="4892040" cy="1005840"/>
          </a:xfrm>
          <a:prstGeom prst="rect">
            <a:avLst/>
          </a:prstGeom>
          <a:noFill/>
          <a:ln/>
        </p:spPr>
        <p:txBody>
          <a:bodyPr wrap="square" lIns="0" tIns="0" rIns="0" bIns="0" rtlCol="0" anchor="t"/>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予算上限のアラートが無く、想定外の高額請求に気づくのが月末になる</a:t>
            </a:r>
            <a:endParaRPr lang="en-US" sz="1100" dirty="0"/>
          </a:p>
        </p:txBody>
      </p:sp>
      <p:sp>
        <p:nvSpPr>
          <p:cNvPr id="20" name="Text 14"/>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1" name="Text 15"/>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コスト監視の運用チェックリスト</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継続的なガバナンスのための定期確認項目</a:t>
            </a:r>
            <a:endParaRPr lang="en-US" sz="1300" dirty="0"/>
          </a:p>
        </p:txBody>
      </p:sp>
      <p:sp>
        <p:nvSpPr>
          <p:cNvPr id="4" name="Shape 2"/>
          <p:cNvSpPr/>
          <p:nvPr/>
        </p:nvSpPr>
        <p:spPr>
          <a:xfrm>
            <a:off x="548640" y="1600200"/>
            <a:ext cx="5440680" cy="1828800"/>
          </a:xfrm>
          <a:prstGeom prst="roundRect">
            <a:avLst>
              <a:gd name="adj" fmla="val 5000"/>
            </a:avLst>
          </a:prstGeom>
          <a:solidFill>
            <a:srgbClr val="F4F9FC"/>
          </a:solidFill>
          <a:ln/>
          <a:effectLst>
            <a:outerShdw sx="100000" sy="100000" kx="0" ky="0" algn="bl" rotWithShape="0" blurRad="101600" dist="38100" dir="2700000">
              <a:srgbClr val="000000">
                <a:alpha val="12000"/>
              </a:srgbClr>
            </a:outerShdw>
          </a:effectLst>
        </p:spPr>
      </p:sp>
      <p:sp>
        <p:nvSpPr>
          <p:cNvPr id="5" name="Shape 3"/>
          <p:cNvSpPr/>
          <p:nvPr/>
        </p:nvSpPr>
        <p:spPr>
          <a:xfrm>
            <a:off x="777240" y="1828800"/>
            <a:ext cx="457200" cy="457200"/>
          </a:xfrm>
          <a:prstGeom prst="ellipse">
            <a:avLst/>
          </a:prstGeom>
          <a:solidFill>
            <a:srgbClr val="1F8A5F"/>
          </a:solidFill>
          <a:ln/>
        </p:spPr>
      </p:sp>
      <p:pic>
        <p:nvPicPr>
          <p:cNvPr id="6" name="Image 0" descr="icons/check_white.png">    </p:cNvPr>
          <p:cNvPicPr>
            <a:picLocks noChangeAspect="1"/>
          </p:cNvPicPr>
          <p:nvPr/>
        </p:nvPicPr>
        <p:blipFill>
          <a:blip r:embed="rId1"/>
          <a:stretch>
            <a:fillRect/>
          </a:stretch>
        </p:blipFill>
        <p:spPr>
          <a:xfrm>
            <a:off x="886968" y="1938528"/>
            <a:ext cx="237744" cy="237744"/>
          </a:xfrm>
          <a:prstGeom prst="rect">
            <a:avLst/>
          </a:prstGeom>
        </p:spPr>
      </p:pic>
      <p:sp>
        <p:nvSpPr>
          <p:cNvPr id="7" name="Text 4"/>
          <p:cNvSpPr/>
          <p:nvPr/>
        </p:nvSpPr>
        <p:spPr>
          <a:xfrm>
            <a:off x="1417320" y="1737360"/>
            <a:ext cx="4343400" cy="68580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全ウェアハウスにAUTO_SUSPENDが設定されているか</a:t>
            </a:r>
            <a:endParaRPr lang="en-US" sz="1250" dirty="0"/>
          </a:p>
        </p:txBody>
      </p:sp>
      <p:sp>
        <p:nvSpPr>
          <p:cNvPr id="8" name="Text 5"/>
          <p:cNvSpPr/>
          <p:nvPr/>
        </p:nvSpPr>
        <p:spPr>
          <a:xfrm>
            <a:off x="822960" y="2468880"/>
            <a:ext cx="4892040" cy="822960"/>
          </a:xfrm>
          <a:prstGeom prst="rect">
            <a:avLst/>
          </a:prstGeom>
          <a:noFill/>
          <a:ln/>
        </p:spPr>
        <p:txBody>
          <a:bodyPr wrap="square" lIns="0" tIns="0" rIns="0" bIns="0" rtlCol="0" anchor="t"/>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60秒を基本とし、用途に応じて調整</a:t>
            </a:r>
            <a:endParaRPr lang="en-US" sz="1050" dirty="0"/>
          </a:p>
        </p:txBody>
      </p:sp>
      <p:sp>
        <p:nvSpPr>
          <p:cNvPr id="9" name="Shape 6"/>
          <p:cNvSpPr/>
          <p:nvPr/>
        </p:nvSpPr>
        <p:spPr>
          <a:xfrm>
            <a:off x="6217920" y="1600200"/>
            <a:ext cx="5440680" cy="1828800"/>
          </a:xfrm>
          <a:prstGeom prst="roundRect">
            <a:avLst>
              <a:gd name="adj" fmla="val 5000"/>
            </a:avLst>
          </a:prstGeom>
          <a:solidFill>
            <a:srgbClr val="F4F9FC"/>
          </a:solidFill>
          <a:ln/>
          <a:effectLst>
            <a:outerShdw sx="100000" sy="100000" kx="0" ky="0" algn="bl" rotWithShape="0" blurRad="101600" dist="38100" dir="2700000">
              <a:srgbClr val="000000">
                <a:alpha val="12000"/>
              </a:srgbClr>
            </a:outerShdw>
          </a:effectLst>
        </p:spPr>
      </p:sp>
      <p:sp>
        <p:nvSpPr>
          <p:cNvPr id="10" name="Shape 7"/>
          <p:cNvSpPr/>
          <p:nvPr/>
        </p:nvSpPr>
        <p:spPr>
          <a:xfrm>
            <a:off x="6446520" y="1828800"/>
            <a:ext cx="457200" cy="457200"/>
          </a:xfrm>
          <a:prstGeom prst="ellipse">
            <a:avLst/>
          </a:prstGeom>
          <a:solidFill>
            <a:srgbClr val="1F8A5F"/>
          </a:solidFill>
          <a:ln/>
        </p:spPr>
      </p:sp>
      <p:pic>
        <p:nvPicPr>
          <p:cNvPr id="11" name="Image 1" descr="icons/check_white.png">    </p:cNvPr>
          <p:cNvPicPr>
            <a:picLocks noChangeAspect="1"/>
          </p:cNvPicPr>
          <p:nvPr/>
        </p:nvPicPr>
        <p:blipFill>
          <a:blip r:embed="rId2"/>
          <a:stretch>
            <a:fillRect/>
          </a:stretch>
        </p:blipFill>
        <p:spPr>
          <a:xfrm>
            <a:off x="6556248" y="1938528"/>
            <a:ext cx="237744" cy="237744"/>
          </a:xfrm>
          <a:prstGeom prst="rect">
            <a:avLst/>
          </a:prstGeom>
        </p:spPr>
      </p:pic>
      <p:sp>
        <p:nvSpPr>
          <p:cNvPr id="12" name="Text 8"/>
          <p:cNvSpPr/>
          <p:nvPr/>
        </p:nvSpPr>
        <p:spPr>
          <a:xfrm>
            <a:off x="7086600" y="1737360"/>
            <a:ext cx="4343400" cy="68580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Resource Monitorで予算上限のアラートが機能しているか</a:t>
            </a:r>
            <a:endParaRPr lang="en-US" sz="1250" dirty="0"/>
          </a:p>
        </p:txBody>
      </p:sp>
      <p:sp>
        <p:nvSpPr>
          <p:cNvPr id="13" name="Text 9"/>
          <p:cNvSpPr/>
          <p:nvPr/>
        </p:nvSpPr>
        <p:spPr>
          <a:xfrm>
            <a:off x="6492240" y="2468880"/>
            <a:ext cx="4892040" cy="822960"/>
          </a:xfrm>
          <a:prstGeom prst="rect">
            <a:avLst/>
          </a:prstGeom>
          <a:noFill/>
          <a:ln/>
        </p:spPr>
        <p:txBody>
          <a:bodyPr wrap="square" lIns="0" tIns="0" rIns="0" bIns="0" rtlCol="0" anchor="t"/>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アカウント全体＋重要ウェアハウス個別</a:t>
            </a:r>
            <a:endParaRPr lang="en-US" sz="1050" dirty="0"/>
          </a:p>
        </p:txBody>
      </p:sp>
      <p:sp>
        <p:nvSpPr>
          <p:cNvPr id="14" name="Shape 10"/>
          <p:cNvSpPr/>
          <p:nvPr/>
        </p:nvSpPr>
        <p:spPr>
          <a:xfrm>
            <a:off x="548640" y="3657600"/>
            <a:ext cx="5440680" cy="1828800"/>
          </a:xfrm>
          <a:prstGeom prst="roundRect">
            <a:avLst>
              <a:gd name="adj" fmla="val 5000"/>
            </a:avLst>
          </a:prstGeom>
          <a:solidFill>
            <a:srgbClr val="F4F9FC"/>
          </a:solidFill>
          <a:ln/>
          <a:effectLst>
            <a:outerShdw sx="100000" sy="100000" kx="0" ky="0" algn="bl" rotWithShape="0" blurRad="101600" dist="38100" dir="2700000">
              <a:srgbClr val="000000">
                <a:alpha val="12000"/>
              </a:srgbClr>
            </a:outerShdw>
          </a:effectLst>
        </p:spPr>
      </p:sp>
      <p:sp>
        <p:nvSpPr>
          <p:cNvPr id="15" name="Shape 11"/>
          <p:cNvSpPr/>
          <p:nvPr/>
        </p:nvSpPr>
        <p:spPr>
          <a:xfrm>
            <a:off x="777240" y="3886200"/>
            <a:ext cx="457200" cy="457200"/>
          </a:xfrm>
          <a:prstGeom prst="ellipse">
            <a:avLst/>
          </a:prstGeom>
          <a:solidFill>
            <a:srgbClr val="1F8A5F"/>
          </a:solidFill>
          <a:ln/>
        </p:spPr>
      </p:sp>
      <p:pic>
        <p:nvPicPr>
          <p:cNvPr id="16" name="Image 2" descr="icons/check_white.png">    </p:cNvPr>
          <p:cNvPicPr>
            <a:picLocks noChangeAspect="1"/>
          </p:cNvPicPr>
          <p:nvPr/>
        </p:nvPicPr>
        <p:blipFill>
          <a:blip r:embed="rId3"/>
          <a:stretch>
            <a:fillRect/>
          </a:stretch>
        </p:blipFill>
        <p:spPr>
          <a:xfrm>
            <a:off x="886968" y="3995928"/>
            <a:ext cx="237744" cy="237744"/>
          </a:xfrm>
          <a:prstGeom prst="rect">
            <a:avLst/>
          </a:prstGeom>
        </p:spPr>
      </p:pic>
      <p:sp>
        <p:nvSpPr>
          <p:cNvPr id="17" name="Text 12"/>
          <p:cNvSpPr/>
          <p:nvPr/>
        </p:nvSpPr>
        <p:spPr>
          <a:xfrm>
            <a:off x="1417320" y="3794760"/>
            <a:ext cx="4343400" cy="68580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中間テーブルがTransient/Temporaryになっているか</a:t>
            </a:r>
            <a:endParaRPr lang="en-US" sz="1250" dirty="0"/>
          </a:p>
        </p:txBody>
      </p:sp>
      <p:sp>
        <p:nvSpPr>
          <p:cNvPr id="18" name="Text 13"/>
          <p:cNvSpPr/>
          <p:nvPr/>
        </p:nvSpPr>
        <p:spPr>
          <a:xfrm>
            <a:off x="822960" y="4526280"/>
            <a:ext cx="4892040" cy="822960"/>
          </a:xfrm>
          <a:prstGeom prst="rect">
            <a:avLst/>
          </a:prstGeom>
          <a:noFill/>
          <a:ln/>
        </p:spPr>
        <p:txBody>
          <a:bodyPr wrap="square" lIns="0" tIns="0" rIns="0" bIns="0" rtlCol="0" anchor="t"/>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不要なFail-safeコストの回避</a:t>
            </a:r>
            <a:endParaRPr lang="en-US" sz="1050" dirty="0"/>
          </a:p>
        </p:txBody>
      </p:sp>
      <p:sp>
        <p:nvSpPr>
          <p:cNvPr id="19" name="Shape 14"/>
          <p:cNvSpPr/>
          <p:nvPr/>
        </p:nvSpPr>
        <p:spPr>
          <a:xfrm>
            <a:off x="6217920" y="3657600"/>
            <a:ext cx="5440680" cy="1828800"/>
          </a:xfrm>
          <a:prstGeom prst="roundRect">
            <a:avLst>
              <a:gd name="adj" fmla="val 5000"/>
            </a:avLst>
          </a:prstGeom>
          <a:solidFill>
            <a:srgbClr val="F4F9FC"/>
          </a:solidFill>
          <a:ln/>
          <a:effectLst>
            <a:outerShdw sx="100000" sy="100000" kx="0" ky="0" algn="bl" rotWithShape="0" blurRad="101600" dist="38100" dir="2700000">
              <a:srgbClr val="000000">
                <a:alpha val="12000"/>
              </a:srgbClr>
            </a:outerShdw>
          </a:effectLst>
        </p:spPr>
      </p:sp>
      <p:sp>
        <p:nvSpPr>
          <p:cNvPr id="20" name="Shape 15"/>
          <p:cNvSpPr/>
          <p:nvPr/>
        </p:nvSpPr>
        <p:spPr>
          <a:xfrm>
            <a:off x="6446520" y="3886200"/>
            <a:ext cx="457200" cy="457200"/>
          </a:xfrm>
          <a:prstGeom prst="ellipse">
            <a:avLst/>
          </a:prstGeom>
          <a:solidFill>
            <a:srgbClr val="1F8A5F"/>
          </a:solidFill>
          <a:ln/>
        </p:spPr>
      </p:sp>
      <p:pic>
        <p:nvPicPr>
          <p:cNvPr id="21" name="Image 3" descr="icons/check_white.png">    </p:cNvPr>
          <p:cNvPicPr>
            <a:picLocks noChangeAspect="1"/>
          </p:cNvPicPr>
          <p:nvPr/>
        </p:nvPicPr>
        <p:blipFill>
          <a:blip r:embed="rId4"/>
          <a:stretch>
            <a:fillRect/>
          </a:stretch>
        </p:blipFill>
        <p:spPr>
          <a:xfrm>
            <a:off x="6556248" y="3995928"/>
            <a:ext cx="237744" cy="237744"/>
          </a:xfrm>
          <a:prstGeom prst="rect">
            <a:avLst/>
          </a:prstGeom>
        </p:spPr>
      </p:pic>
      <p:sp>
        <p:nvSpPr>
          <p:cNvPr id="22" name="Text 16"/>
          <p:cNvSpPr/>
          <p:nvPr/>
        </p:nvSpPr>
        <p:spPr>
          <a:xfrm>
            <a:off x="7086600" y="3794760"/>
            <a:ext cx="4343400" cy="68580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月次でWAREHOUSE_METERING_HISTORYをレビューしているか</a:t>
            </a:r>
            <a:endParaRPr lang="en-US" sz="1250" dirty="0"/>
          </a:p>
        </p:txBody>
      </p:sp>
      <p:sp>
        <p:nvSpPr>
          <p:cNvPr id="23" name="Text 17"/>
          <p:cNvSpPr/>
          <p:nvPr/>
        </p:nvSpPr>
        <p:spPr>
          <a:xfrm>
            <a:off x="6492240" y="4526280"/>
            <a:ext cx="4892040" cy="822960"/>
          </a:xfrm>
          <a:prstGeom prst="rect">
            <a:avLst/>
          </a:prstGeom>
          <a:noFill/>
          <a:ln/>
        </p:spPr>
        <p:txBody>
          <a:bodyPr wrap="square" lIns="0" tIns="0" rIns="0" bIns="0" rtlCol="0" anchor="t"/>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異常な消費増加の早期発見</a:t>
            </a:r>
            <a:endParaRPr lang="en-US" sz="1050" dirty="0"/>
          </a:p>
        </p:txBody>
      </p:sp>
      <p:sp>
        <p:nvSpPr>
          <p:cNvPr id="24" name="Text 18"/>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5" name="Text 19"/>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2800" b="1" dirty="0">
                <a:solidFill>
                  <a:srgbClr val="21295C"/>
                </a:solidFill>
                <a:latin typeface="Cambria" pitchFamily="34" charset="0"/>
                <a:ea typeface="Cambria" pitchFamily="34" charset="-122"/>
                <a:cs typeface="Cambria" pitchFamily="34" charset="-120"/>
              </a:rPr>
              <a:t>改善インパクトの優先順位</a:t>
            </a:r>
            <a:endParaRPr lang="en-US" sz="2800" dirty="0"/>
          </a:p>
        </p:txBody>
      </p:sp>
      <p:sp>
        <p:nvSpPr>
          <p:cNvPr id="3" name="Text 1"/>
          <p:cNvSpPr/>
          <p:nvPr/>
        </p:nvSpPr>
        <p:spPr>
          <a:xfrm>
            <a:off x="548640" y="914400"/>
            <a:ext cx="1106424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限られた時間で最大の効果を得るには</a:t>
            </a:r>
            <a:endParaRPr lang="en-US" sz="1300" dirty="0"/>
          </a:p>
        </p:txBody>
      </p:sp>
      <p:sp>
        <p:nvSpPr>
          <p:cNvPr id="4" name="Shape 2"/>
          <p:cNvSpPr/>
          <p:nvPr/>
        </p:nvSpPr>
        <p:spPr>
          <a:xfrm>
            <a:off x="548640" y="1600200"/>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5" name="Text 3"/>
          <p:cNvSpPr/>
          <p:nvPr/>
        </p:nvSpPr>
        <p:spPr>
          <a:xfrm>
            <a:off x="777240" y="1709928"/>
            <a:ext cx="822960" cy="621792"/>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1645920" y="1709928"/>
            <a:ext cx="3291840" cy="621792"/>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AUTO_SUSPENDの見直し</a:t>
            </a:r>
            <a:endParaRPr lang="en-US" sz="1250" dirty="0"/>
          </a:p>
        </p:txBody>
      </p:sp>
      <p:sp>
        <p:nvSpPr>
          <p:cNvPr id="7" name="Text 5"/>
          <p:cNvSpPr/>
          <p:nvPr/>
        </p:nvSpPr>
        <p:spPr>
          <a:xfrm>
            <a:off x="5074920" y="1709928"/>
            <a:ext cx="6400800" cy="62179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最も即効性が高く、設定変更のみで数十%の削減実績が報告されている</a:t>
            </a:r>
            <a:endParaRPr lang="en-US" sz="1050" dirty="0"/>
          </a:p>
        </p:txBody>
      </p:sp>
      <p:sp>
        <p:nvSpPr>
          <p:cNvPr id="8" name="Shape 6"/>
          <p:cNvSpPr/>
          <p:nvPr/>
        </p:nvSpPr>
        <p:spPr>
          <a:xfrm>
            <a:off x="548640" y="2569464"/>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9" name="Text 7"/>
          <p:cNvSpPr/>
          <p:nvPr/>
        </p:nvSpPr>
        <p:spPr>
          <a:xfrm>
            <a:off x="777240" y="2679192"/>
            <a:ext cx="822960" cy="621792"/>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1645920" y="2679192"/>
            <a:ext cx="3291840" cy="621792"/>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ウェアハウスサイズの適正化</a:t>
            </a:r>
            <a:endParaRPr lang="en-US" sz="1250" dirty="0"/>
          </a:p>
        </p:txBody>
      </p:sp>
      <p:sp>
        <p:nvSpPr>
          <p:cNvPr id="11" name="Text 9"/>
          <p:cNvSpPr/>
          <p:nvPr/>
        </p:nvSpPr>
        <p:spPr>
          <a:xfrm>
            <a:off x="5074920" y="2679192"/>
            <a:ext cx="6400800" cy="62179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過剰サイジングされたウェアハウスをQuery Profileで検証しダウンサイズ</a:t>
            </a:r>
            <a:endParaRPr lang="en-US" sz="1050" dirty="0"/>
          </a:p>
        </p:txBody>
      </p:sp>
      <p:sp>
        <p:nvSpPr>
          <p:cNvPr id="12" name="Shape 10"/>
          <p:cNvSpPr/>
          <p:nvPr/>
        </p:nvSpPr>
        <p:spPr>
          <a:xfrm>
            <a:off x="548640" y="3538728"/>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13" name="Text 11"/>
          <p:cNvSpPr/>
          <p:nvPr/>
        </p:nvSpPr>
        <p:spPr>
          <a:xfrm>
            <a:off x="777240" y="3648456"/>
            <a:ext cx="822960" cy="621792"/>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1645920" y="3648456"/>
            <a:ext cx="3291840" cy="621792"/>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Resource Monitorの導入</a:t>
            </a:r>
            <a:endParaRPr lang="en-US" sz="1250" dirty="0"/>
          </a:p>
        </p:txBody>
      </p:sp>
      <p:sp>
        <p:nvSpPr>
          <p:cNvPr id="15" name="Text 13"/>
          <p:cNvSpPr/>
          <p:nvPr/>
        </p:nvSpPr>
        <p:spPr>
          <a:xfrm>
            <a:off x="5074920" y="3648456"/>
            <a:ext cx="6400800" cy="62179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予算超過の早期検知で「想定外の高額請求」を防止</a:t>
            </a:r>
            <a:endParaRPr lang="en-US" sz="1050" dirty="0"/>
          </a:p>
        </p:txBody>
      </p:sp>
      <p:sp>
        <p:nvSpPr>
          <p:cNvPr id="16" name="Shape 14"/>
          <p:cNvSpPr/>
          <p:nvPr/>
        </p:nvSpPr>
        <p:spPr>
          <a:xfrm>
            <a:off x="548640" y="4507992"/>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17" name="Text 15"/>
          <p:cNvSpPr/>
          <p:nvPr/>
        </p:nvSpPr>
        <p:spPr>
          <a:xfrm>
            <a:off x="777240" y="4617720"/>
            <a:ext cx="822960" cy="621792"/>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645920" y="4617720"/>
            <a:ext cx="3291840" cy="621792"/>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ストレージ設定の見直し</a:t>
            </a:r>
            <a:endParaRPr lang="en-US" sz="1250" dirty="0"/>
          </a:p>
        </p:txBody>
      </p:sp>
      <p:sp>
        <p:nvSpPr>
          <p:cNvPr id="19" name="Text 17"/>
          <p:cNvSpPr/>
          <p:nvPr/>
        </p:nvSpPr>
        <p:spPr>
          <a:xfrm>
            <a:off x="5074920" y="4617720"/>
            <a:ext cx="6400800" cy="62179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Time Travel保持期間とTransientテーブルの活用</a:t>
            </a:r>
            <a:endParaRPr lang="en-US" sz="1050" dirty="0"/>
          </a:p>
        </p:txBody>
      </p:sp>
      <p:sp>
        <p:nvSpPr>
          <p:cNvPr id="20" name="Shape 18"/>
          <p:cNvSpPr/>
          <p:nvPr/>
        </p:nvSpPr>
        <p:spPr>
          <a:xfrm>
            <a:off x="548640" y="5477256"/>
            <a:ext cx="11109960" cy="841248"/>
          </a:xfrm>
          <a:prstGeom prst="roundRect">
            <a:avLst>
              <a:gd name="adj" fmla="val 8696"/>
            </a:avLst>
          </a:prstGeom>
          <a:solidFill>
            <a:srgbClr val="F4F9FC"/>
          </a:solidFill>
          <a:ln/>
          <a:effectLst>
            <a:outerShdw sx="100000" sy="100000" kx="0" ky="0" algn="bl" rotWithShape="0" blurRad="101600" dist="38100" dir="2700000">
              <a:srgbClr val="000000">
                <a:alpha val="12000"/>
              </a:srgbClr>
            </a:outerShdw>
          </a:effectLst>
        </p:spPr>
      </p:sp>
      <p:sp>
        <p:nvSpPr>
          <p:cNvPr id="21" name="Text 19"/>
          <p:cNvSpPr/>
          <p:nvPr/>
        </p:nvSpPr>
        <p:spPr>
          <a:xfrm>
            <a:off x="777240" y="5586984"/>
            <a:ext cx="822960" cy="621792"/>
          </a:xfrm>
          <a:prstGeom prst="rect">
            <a:avLst/>
          </a:prstGeom>
          <a:noFill/>
          <a:ln/>
        </p:spPr>
        <p:txBody>
          <a:bodyPr wrap="square" lIns="0" tIns="0" rIns="0" bIns="0" rtlCol="0" anchor="ctr"/>
          <a:lstStyle/>
          <a:p>
            <a:pPr indent="0" marL="0">
              <a:buNone/>
            </a:pPr>
            <a:r>
              <a:rPr lang="en-US" sz="2200" b="1" dirty="0">
                <a:solidFill>
                  <a:srgbClr val="1C7293"/>
                </a:solidFill>
                <a:latin typeface="Cambria" pitchFamily="34" charset="0"/>
                <a:ea typeface="Cambria" pitchFamily="34" charset="-122"/>
                <a:cs typeface="Cambria" pitchFamily="34" charset="-120"/>
              </a:rPr>
              <a:t>05</a:t>
            </a:r>
            <a:endParaRPr lang="en-US" sz="2200" dirty="0"/>
          </a:p>
        </p:txBody>
      </p:sp>
      <p:sp>
        <p:nvSpPr>
          <p:cNvPr id="22" name="Text 20"/>
          <p:cNvSpPr/>
          <p:nvPr/>
        </p:nvSpPr>
        <p:spPr>
          <a:xfrm>
            <a:off x="1645920" y="5586984"/>
            <a:ext cx="3291840" cy="621792"/>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組織的なガバナンス</a:t>
            </a:r>
            <a:endParaRPr lang="en-US" sz="1250" dirty="0"/>
          </a:p>
        </p:txBody>
      </p:sp>
      <p:sp>
        <p:nvSpPr>
          <p:cNvPr id="23" name="Text 21"/>
          <p:cNvSpPr/>
          <p:nvPr/>
        </p:nvSpPr>
        <p:spPr>
          <a:xfrm>
            <a:off x="5074920" y="5586984"/>
            <a:ext cx="6400800" cy="621792"/>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タグ付け・命名規則・定期レビューの仕組み化</a:t>
            </a:r>
            <a:endParaRPr lang="en-US" sz="1050" dirty="0"/>
          </a:p>
        </p:txBody>
      </p:sp>
      <p:sp>
        <p:nvSpPr>
          <p:cNvPr id="24" name="Text 22"/>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5" name="Text 23"/>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35000"/>
            </a:srgbClr>
          </a:solidFill>
          <a:ln/>
        </p:spPr>
      </p:sp>
      <p:sp>
        <p:nvSpPr>
          <p:cNvPr id="3" name="Shape 1"/>
          <p:cNvSpPr/>
          <p:nvPr/>
        </p:nvSpPr>
        <p:spPr>
          <a:xfrm>
            <a:off x="10058400" y="4114800"/>
            <a:ext cx="3657600" cy="3657600"/>
          </a:xfrm>
          <a:prstGeom prst="ellipse">
            <a:avLst/>
          </a:prstGeom>
          <a:solidFill>
            <a:srgbClr val="1C7293">
              <a:alpha val="40000"/>
            </a:srgbClr>
          </a:solidFill>
          <a:ln/>
        </p:spPr>
      </p:sp>
      <p:sp>
        <p:nvSpPr>
          <p:cNvPr id="4" name="Text 2"/>
          <p:cNvSpPr/>
          <p:nvPr/>
        </p:nvSpPr>
        <p:spPr>
          <a:xfrm>
            <a:off x="640080" y="502920"/>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まとめ：実装前チェックリスト</a:t>
            </a:r>
            <a:endParaRPr lang="en-US" sz="3000" dirty="0"/>
          </a:p>
        </p:txBody>
      </p:sp>
      <p:sp>
        <p:nvSpPr>
          <p:cNvPr id="5" name="Text 3"/>
          <p:cNvSpPr/>
          <p:nvPr/>
        </p:nvSpPr>
        <p:spPr>
          <a:xfrm>
            <a:off x="640080" y="1097280"/>
            <a:ext cx="7315200" cy="411480"/>
          </a:xfrm>
          <a:prstGeom prst="rect">
            <a:avLst/>
          </a:prstGeom>
          <a:noFill/>
          <a:ln/>
        </p:spPr>
        <p:txBody>
          <a:bodyPr wrap="square" lIns="0" tIns="0" rIns="0" bIns="0" rtlCol="0" anchor="ctr"/>
          <a:lstStyle/>
          <a:p>
            <a:pPr indent="0" marL="0">
              <a:buNone/>
            </a:pPr>
            <a:r>
              <a:rPr lang="en-US" sz="1500" dirty="0">
                <a:solidFill>
                  <a:srgbClr val="EAF4FB"/>
                </a:solidFill>
                <a:latin typeface="Calibri" pitchFamily="34" charset="0"/>
                <a:ea typeface="Calibri" pitchFamily="34" charset="-122"/>
                <a:cs typeface="Calibri" pitchFamily="34" charset="-120"/>
              </a:rPr>
              <a:t>コスト最適化編の振り返り</a:t>
            </a:r>
            <a:endParaRPr lang="en-US" sz="1500" dirty="0"/>
          </a:p>
        </p:txBody>
      </p:sp>
      <p:sp>
        <p:nvSpPr>
          <p:cNvPr id="6" name="Shape 4"/>
          <p:cNvSpPr/>
          <p:nvPr/>
        </p:nvSpPr>
        <p:spPr>
          <a:xfrm>
            <a:off x="640080" y="178308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7" name="Image 0" descr="icons/check_white.png">    </p:cNvPr>
          <p:cNvPicPr>
            <a:picLocks noChangeAspect="1"/>
          </p:cNvPicPr>
          <p:nvPr/>
        </p:nvPicPr>
        <p:blipFill>
          <a:blip r:embed="rId1"/>
          <a:stretch>
            <a:fillRect/>
          </a:stretch>
        </p:blipFill>
        <p:spPr>
          <a:xfrm>
            <a:off x="868680" y="1956816"/>
            <a:ext cx="310896" cy="310896"/>
          </a:xfrm>
          <a:prstGeom prst="rect">
            <a:avLst/>
          </a:prstGeom>
        </p:spPr>
      </p:pic>
      <p:sp>
        <p:nvSpPr>
          <p:cNvPr id="8" name="Text 5"/>
          <p:cNvSpPr/>
          <p:nvPr/>
        </p:nvSpPr>
        <p:spPr>
          <a:xfrm>
            <a:off x="1371600" y="178308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全ウェアハウスでAUTO_SUSPENDが適切な秒数（基本60秒）に設定されているか</a:t>
            </a:r>
            <a:endParaRPr lang="en-US" sz="1250" dirty="0"/>
          </a:p>
        </p:txBody>
      </p:sp>
      <p:sp>
        <p:nvSpPr>
          <p:cNvPr id="9" name="Shape 6"/>
          <p:cNvSpPr/>
          <p:nvPr/>
        </p:nvSpPr>
        <p:spPr>
          <a:xfrm>
            <a:off x="640080" y="256032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0" name="Image 1" descr="icons/check_white.png">    </p:cNvPr>
          <p:cNvPicPr>
            <a:picLocks noChangeAspect="1"/>
          </p:cNvPicPr>
          <p:nvPr/>
        </p:nvPicPr>
        <p:blipFill>
          <a:blip r:embed="rId2"/>
          <a:stretch>
            <a:fillRect/>
          </a:stretch>
        </p:blipFill>
        <p:spPr>
          <a:xfrm>
            <a:off x="868680" y="2734056"/>
            <a:ext cx="310896" cy="310896"/>
          </a:xfrm>
          <a:prstGeom prst="rect">
            <a:avLst/>
          </a:prstGeom>
        </p:spPr>
      </p:pic>
      <p:sp>
        <p:nvSpPr>
          <p:cNvPr id="11" name="Text 7"/>
          <p:cNvSpPr/>
          <p:nvPr/>
        </p:nvSpPr>
        <p:spPr>
          <a:xfrm>
            <a:off x="1371600" y="256032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重要なウェアハウス・アカウント全体にResource Monitorを設定しているか</a:t>
            </a:r>
            <a:endParaRPr lang="en-US" sz="1250" dirty="0"/>
          </a:p>
        </p:txBody>
      </p:sp>
      <p:sp>
        <p:nvSpPr>
          <p:cNvPr id="12" name="Shape 8"/>
          <p:cNvSpPr/>
          <p:nvPr/>
        </p:nvSpPr>
        <p:spPr>
          <a:xfrm>
            <a:off x="640080" y="333756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3" name="Image 2" descr="icons/check_white.png">    </p:cNvPr>
          <p:cNvPicPr>
            <a:picLocks noChangeAspect="1"/>
          </p:cNvPicPr>
          <p:nvPr/>
        </p:nvPicPr>
        <p:blipFill>
          <a:blip r:embed="rId3"/>
          <a:stretch>
            <a:fillRect/>
          </a:stretch>
        </p:blipFill>
        <p:spPr>
          <a:xfrm>
            <a:off x="868680" y="3511296"/>
            <a:ext cx="310896" cy="310896"/>
          </a:xfrm>
          <a:prstGeom prst="rect">
            <a:avLst/>
          </a:prstGeom>
        </p:spPr>
      </p:pic>
      <p:sp>
        <p:nvSpPr>
          <p:cNvPr id="14" name="Text 9"/>
          <p:cNvSpPr/>
          <p:nvPr/>
        </p:nvSpPr>
        <p:spPr>
          <a:xfrm>
            <a:off x="1371600" y="333756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中間テーブル・一時テーブルがTransient/Temporaryになっているか</a:t>
            </a:r>
            <a:endParaRPr lang="en-US" sz="1250" dirty="0"/>
          </a:p>
        </p:txBody>
      </p:sp>
      <p:sp>
        <p:nvSpPr>
          <p:cNvPr id="15" name="Shape 10"/>
          <p:cNvSpPr/>
          <p:nvPr/>
        </p:nvSpPr>
        <p:spPr>
          <a:xfrm>
            <a:off x="640080" y="411480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6" name="Image 3" descr="icons/check_white.png">    </p:cNvPr>
          <p:cNvPicPr>
            <a:picLocks noChangeAspect="1"/>
          </p:cNvPicPr>
          <p:nvPr/>
        </p:nvPicPr>
        <p:blipFill>
          <a:blip r:embed="rId4"/>
          <a:stretch>
            <a:fillRect/>
          </a:stretch>
        </p:blipFill>
        <p:spPr>
          <a:xfrm>
            <a:off x="868680" y="4288536"/>
            <a:ext cx="310896" cy="310896"/>
          </a:xfrm>
          <a:prstGeom prst="rect">
            <a:avLst/>
          </a:prstGeom>
        </p:spPr>
      </p:pic>
      <p:sp>
        <p:nvSpPr>
          <p:cNvPr id="17" name="Text 11"/>
          <p:cNvSpPr/>
          <p:nvPr/>
        </p:nvSpPr>
        <p:spPr>
          <a:xfrm>
            <a:off x="1371600" y="411480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Time Travel保持期間を業務要件に応じて必要最小限にしているか</a:t>
            </a:r>
            <a:endParaRPr lang="en-US" sz="1250" dirty="0"/>
          </a:p>
        </p:txBody>
      </p:sp>
      <p:sp>
        <p:nvSpPr>
          <p:cNvPr id="18" name="Shape 12"/>
          <p:cNvSpPr/>
          <p:nvPr/>
        </p:nvSpPr>
        <p:spPr>
          <a:xfrm>
            <a:off x="640080" y="489204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19" name="Image 4" descr="icons/check_white.png">    </p:cNvPr>
          <p:cNvPicPr>
            <a:picLocks noChangeAspect="1"/>
          </p:cNvPicPr>
          <p:nvPr/>
        </p:nvPicPr>
        <p:blipFill>
          <a:blip r:embed="rId5"/>
          <a:stretch>
            <a:fillRect/>
          </a:stretch>
        </p:blipFill>
        <p:spPr>
          <a:xfrm>
            <a:off x="868680" y="5065776"/>
            <a:ext cx="310896" cy="310896"/>
          </a:xfrm>
          <a:prstGeom prst="rect">
            <a:avLst/>
          </a:prstGeom>
        </p:spPr>
      </p:pic>
      <p:sp>
        <p:nvSpPr>
          <p:cNvPr id="20" name="Text 13"/>
          <p:cNvSpPr/>
          <p:nvPr/>
        </p:nvSpPr>
        <p:spPr>
          <a:xfrm>
            <a:off x="1371600" y="489204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Serverless機能（Snowpipe/Tasks等）のコストも別途監視しているか</a:t>
            </a:r>
            <a:endParaRPr lang="en-US" sz="1250" dirty="0"/>
          </a:p>
        </p:txBody>
      </p:sp>
      <p:sp>
        <p:nvSpPr>
          <p:cNvPr id="21" name="Shape 14"/>
          <p:cNvSpPr/>
          <p:nvPr/>
        </p:nvSpPr>
        <p:spPr>
          <a:xfrm>
            <a:off x="640080" y="5669280"/>
            <a:ext cx="10927080" cy="658368"/>
          </a:xfrm>
          <a:prstGeom prst="roundRect">
            <a:avLst>
              <a:gd name="adj" fmla="val 11111"/>
            </a:avLst>
          </a:prstGeom>
          <a:solidFill>
            <a:srgbClr val="FFFFFF">
              <a:alpha val="8000"/>
            </a:srgbClr>
          </a:solidFill>
          <a:ln w="12700">
            <a:solidFill>
              <a:srgbClr val="1C7293"/>
            </a:solidFill>
            <a:prstDash val="solid"/>
          </a:ln>
        </p:spPr>
      </p:sp>
      <p:pic>
        <p:nvPicPr>
          <p:cNvPr id="22" name="Image 5" descr="icons/check_white.png">    </p:cNvPr>
          <p:cNvPicPr>
            <a:picLocks noChangeAspect="1"/>
          </p:cNvPicPr>
          <p:nvPr/>
        </p:nvPicPr>
        <p:blipFill>
          <a:blip r:embed="rId6"/>
          <a:stretch>
            <a:fillRect/>
          </a:stretch>
        </p:blipFill>
        <p:spPr>
          <a:xfrm>
            <a:off x="868680" y="5843016"/>
            <a:ext cx="310896" cy="310896"/>
          </a:xfrm>
          <a:prstGeom prst="rect">
            <a:avLst/>
          </a:prstGeom>
        </p:spPr>
      </p:pic>
      <p:sp>
        <p:nvSpPr>
          <p:cNvPr id="23" name="Text 15"/>
          <p:cNvSpPr/>
          <p:nvPr/>
        </p:nvSpPr>
        <p:spPr>
          <a:xfrm>
            <a:off x="1371600" y="5669280"/>
            <a:ext cx="9966960" cy="658368"/>
          </a:xfrm>
          <a:prstGeom prst="rect">
            <a:avLst/>
          </a:prstGeom>
          <a:noFill/>
          <a:ln/>
        </p:spPr>
        <p:txBody>
          <a:bodyPr wrap="square" lIns="0" tIns="0" rIns="0" bIns="0" rtlCol="0" anchor="ctr"/>
          <a:lstStyle/>
          <a:p>
            <a:pPr indent="0" marL="0">
              <a:buNone/>
            </a:pPr>
            <a:r>
              <a:rPr lang="en-US" sz="1250" dirty="0">
                <a:solidFill>
                  <a:srgbClr val="EAF4FB"/>
                </a:solidFill>
                <a:latin typeface="Calibri" pitchFamily="34" charset="0"/>
                <a:ea typeface="Calibri" pitchFamily="34" charset="-122"/>
                <a:cs typeface="Calibri" pitchFamily="34" charset="-120"/>
              </a:rPr>
              <a:t>タグ付け等でコスト責任の所在を組織的に明確化しているか</a:t>
            </a:r>
            <a:endParaRPr lang="en-US" sz="1250" dirty="0"/>
          </a:p>
        </p:txBody>
      </p:sp>
      <p:sp>
        <p:nvSpPr>
          <p:cNvPr id="24" name="Text 16"/>
          <p:cNvSpPr/>
          <p:nvPr/>
        </p:nvSpPr>
        <p:spPr>
          <a:xfrm>
            <a:off x="457200" y="6492240"/>
            <a:ext cx="6400800" cy="274320"/>
          </a:xfrm>
          <a:prstGeom prst="rect">
            <a:avLst/>
          </a:prstGeom>
          <a:noFill/>
          <a:ln/>
        </p:spPr>
        <p:txBody>
          <a:bodyPr wrap="square" lIns="0" tIns="0" rIns="0" bIns="0" rtlCol="0" anchor="ctr"/>
          <a:lstStyle/>
          <a:p>
            <a:pPr indent="0" marL="0">
              <a:buNone/>
            </a:pPr>
            <a:r>
              <a:rPr lang="en-US" sz="900" dirty="0">
                <a:solidFill>
                  <a:srgbClr val="1C7293"/>
                </a:solidFill>
                <a:latin typeface="Calibri" pitchFamily="34" charset="0"/>
                <a:ea typeface="Calibri" pitchFamily="34" charset="-122"/>
                <a:cs typeface="Calibri" pitchFamily="34" charset="-120"/>
              </a:rPr>
              <a:t>Snowflake開発者ガイド⑤ コスト最適化編</a:t>
            </a:r>
            <a:endParaRPr lang="en-US" sz="900" dirty="0"/>
          </a:p>
        </p:txBody>
      </p:sp>
      <p:sp>
        <p:nvSpPr>
          <p:cNvPr id="25" name="Text 17"/>
          <p:cNvSpPr/>
          <p:nvPr/>
        </p:nvSpPr>
        <p:spPr>
          <a:xfrm>
            <a:off x="11368735" y="6492240"/>
            <a:ext cx="457200" cy="274320"/>
          </a:xfrm>
          <a:prstGeom prst="rect">
            <a:avLst/>
          </a:prstGeom>
          <a:noFill/>
          <a:ln/>
        </p:spPr>
        <p:txBody>
          <a:bodyPr wrap="square" lIns="0" tIns="0" rIns="0" bIns="0" rtlCol="0" anchor="ctr"/>
          <a:lstStyle/>
          <a:p>
            <a:pPr algn="r" indent="0" marL="0">
              <a:buNone/>
            </a:pPr>
            <a:r>
              <a:rPr lang="en-US" sz="900" dirty="0">
                <a:solidFill>
                  <a:srgbClr val="1C729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Snowflake開発者ガイド⑤ コスト最適化編</dc:title>
  <dc:subject>PptxGenJS Presentation</dc:subject>
  <dc:creator>Snowflake Developer Series</dc:creator>
  <cp:lastModifiedBy>Snowflake Developer Series</cp:lastModifiedBy>
  <cp:revision>1</cp:revision>
  <dcterms:created xsi:type="dcterms:W3CDTF">2026-06-20T20:59:30Z</dcterms:created>
  <dcterms:modified xsi:type="dcterms:W3CDTF">2026-06-20T20:59:30Z</dcterms:modified>
</cp:coreProperties>
</file>