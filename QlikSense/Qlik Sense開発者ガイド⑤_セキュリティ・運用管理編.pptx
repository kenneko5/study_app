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8961120" y="-1371600"/>
            <a:ext cx="4572000" cy="4572000"/>
          </a:xfrm>
          <a:prstGeom prst="ellipse">
            <a:avLst/>
          </a:prstGeom>
          <a:solidFill>
            <a:srgbClr val="16614A">
              <a:alpha val="40000"/>
            </a:srgbClr>
          </a:solidFill>
          <a:ln/>
        </p:spPr>
      </p:sp>
      <p:sp>
        <p:nvSpPr>
          <p:cNvPr id="3" name="Shape 1"/>
          <p:cNvSpPr/>
          <p:nvPr/>
        </p:nvSpPr>
        <p:spPr>
          <a:xfrm>
            <a:off x="10515600" y="3840480"/>
            <a:ext cx="2926080" cy="2926080"/>
          </a:xfrm>
          <a:prstGeom prst="ellipse">
            <a:avLst/>
          </a:prstGeom>
          <a:solidFill>
            <a:srgbClr val="1F8A5F">
              <a:alpha val="45000"/>
            </a:srgbClr>
          </a:solidFill>
          <a:ln/>
        </p:spPr>
      </p:sp>
      <p:sp>
        <p:nvSpPr>
          <p:cNvPr id="4" name="Shape 2"/>
          <p:cNvSpPr/>
          <p:nvPr/>
        </p:nvSpPr>
        <p:spPr>
          <a:xfrm>
            <a:off x="-1097280" y="4572000"/>
            <a:ext cx="3657600" cy="3657600"/>
          </a:xfrm>
          <a:prstGeom prst="ellipse">
            <a:avLst/>
          </a:prstGeom>
          <a:solidFill>
            <a:srgbClr val="16614A">
              <a:alpha val="35000"/>
            </a:srgbClr>
          </a:solidFill>
          <a:ln/>
        </p:spPr>
      </p:sp>
      <p:pic>
        <p:nvPicPr>
          <p:cNvPr id="5" name="Image 0" descr="assets/qlik_mark_white.png">    </p:cNvPr>
          <p:cNvPicPr>
            <a:picLocks noChangeAspect="1"/>
          </p:cNvPicPr>
          <p:nvPr/>
        </p:nvPicPr>
        <p:blipFill>
          <a:blip r:embed="rId1"/>
          <a:stretch>
            <a:fillRect/>
          </a:stretch>
        </p:blipFill>
        <p:spPr>
          <a:xfrm>
            <a:off x="548640" y="594360"/>
            <a:ext cx="411480" cy="411480"/>
          </a:xfrm>
          <a:prstGeom prst="rect">
            <a:avLst/>
          </a:prstGeom>
        </p:spPr>
      </p:pic>
      <p:sp>
        <p:nvSpPr>
          <p:cNvPr id="6" name="Text 3"/>
          <p:cNvSpPr/>
          <p:nvPr/>
        </p:nvSpPr>
        <p:spPr>
          <a:xfrm>
            <a:off x="1097280" y="548640"/>
            <a:ext cx="5486400" cy="457200"/>
          </a:xfrm>
          <a:prstGeom prst="rect">
            <a:avLst/>
          </a:prstGeom>
          <a:noFill/>
          <a:ln/>
        </p:spPr>
        <p:txBody>
          <a:bodyPr wrap="square" lIns="0" tIns="0" rIns="0" bIns="0" rtlCol="0" anchor="ctr"/>
          <a:lstStyle/>
          <a:p>
            <a:pPr algn="l" indent="0" marL="0">
              <a:buNone/>
            </a:pPr>
            <a:r>
              <a:rPr lang="en-US" sz="1300" dirty="0">
                <a:solidFill>
                  <a:srgbClr val="DCEFE5"/>
                </a:solidFill>
                <a:latin typeface="Calibri" pitchFamily="34" charset="0"/>
                <a:ea typeface="Calibri" pitchFamily="34" charset="-122"/>
                <a:cs typeface="Calibri" pitchFamily="34" charset="-120"/>
              </a:rPr>
              <a:t>開発者向けシリーズ　第5回</a:t>
            </a:r>
            <a:endParaRPr lang="en-US" sz="1300" dirty="0"/>
          </a:p>
        </p:txBody>
      </p:sp>
      <p:sp>
        <p:nvSpPr>
          <p:cNvPr id="7" name="Text 4"/>
          <p:cNvSpPr/>
          <p:nvPr/>
        </p:nvSpPr>
        <p:spPr>
          <a:xfrm>
            <a:off x="548640" y="1371600"/>
            <a:ext cx="82296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Qlik Sense 開発者ガイド</a:t>
            </a:r>
            <a:endParaRPr lang="en-US" sz="4000" dirty="0"/>
          </a:p>
        </p:txBody>
      </p:sp>
      <p:sp>
        <p:nvSpPr>
          <p:cNvPr id="8" name="Text 5"/>
          <p:cNvSpPr/>
          <p:nvPr/>
        </p:nvSpPr>
        <p:spPr>
          <a:xfrm>
            <a:off x="548640" y="2148840"/>
            <a:ext cx="8229600" cy="548640"/>
          </a:xfrm>
          <a:prstGeom prst="rect">
            <a:avLst/>
          </a:prstGeom>
          <a:noFill/>
          <a:ln/>
        </p:spPr>
        <p:txBody>
          <a:bodyPr wrap="square" lIns="0" tIns="0" rIns="0" bIns="0" rtlCol="0" anchor="ctr"/>
          <a:lstStyle/>
          <a:p>
            <a:pPr algn="l" indent="0" marL="0">
              <a:buNone/>
            </a:pPr>
            <a:r>
              <a:rPr lang="en-US" sz="2200" dirty="0">
                <a:solidFill>
                  <a:srgbClr val="E8F5EF"/>
                </a:solidFill>
                <a:latin typeface="Cambria" pitchFamily="34" charset="0"/>
                <a:ea typeface="Cambria" pitchFamily="34" charset="-122"/>
                <a:cs typeface="Cambria" pitchFamily="34" charset="-120"/>
              </a:rPr>
              <a:t>セキュリティ・運用管理編</a:t>
            </a:r>
            <a:endParaRPr lang="en-US" sz="2200" dirty="0"/>
          </a:p>
        </p:txBody>
      </p:sp>
      <p:sp>
        <p:nvSpPr>
          <p:cNvPr id="9" name="Text 6"/>
          <p:cNvSpPr/>
          <p:nvPr/>
        </p:nvSpPr>
        <p:spPr>
          <a:xfrm>
            <a:off x="548640" y="2788920"/>
            <a:ext cx="9601200" cy="457200"/>
          </a:xfrm>
          <a:prstGeom prst="rect">
            <a:avLst/>
          </a:prstGeom>
          <a:noFill/>
          <a:ln/>
        </p:spPr>
        <p:txBody>
          <a:bodyPr wrap="square" lIns="0" tIns="0" rIns="0" bIns="0" rtlCol="0" anchor="ctr"/>
          <a:lstStyle/>
          <a:p>
            <a:pPr algn="l" indent="0" marL="0">
              <a:buNone/>
            </a:pPr>
            <a:r>
              <a:rPr lang="en-US" sz="1400" dirty="0">
                <a:solidFill>
                  <a:srgbClr val="DCEFE5"/>
                </a:solidFill>
                <a:latin typeface="Calibri" pitchFamily="34" charset="0"/>
                <a:ea typeface="Calibri" pitchFamily="34" charset="-122"/>
                <a:cs typeface="Calibri" pitchFamily="34" charset="-120"/>
              </a:rPr>
              <a:t>権限設計・アプリ公開フロー・ALMを実務レベルで身につける</a:t>
            </a:r>
            <a:endParaRPr lang="en-US" sz="1400" dirty="0"/>
          </a:p>
        </p:txBody>
      </p:sp>
      <p:sp>
        <p:nvSpPr>
          <p:cNvPr id="10" name="Shape 7"/>
          <p:cNvSpPr/>
          <p:nvPr/>
        </p:nvSpPr>
        <p:spPr>
          <a:xfrm>
            <a:off x="548640" y="3749040"/>
            <a:ext cx="1248156"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1" name="Text 8"/>
          <p:cNvSpPr/>
          <p:nvPr/>
        </p:nvSpPr>
        <p:spPr>
          <a:xfrm>
            <a:off x="548640" y="3749040"/>
            <a:ext cx="1248156"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① スクリプト開発</a:t>
            </a:r>
            <a:endParaRPr lang="en-US" sz="1050" dirty="0"/>
          </a:p>
        </p:txBody>
      </p:sp>
      <p:sp>
        <p:nvSpPr>
          <p:cNvPr id="12" name="Shape 9"/>
          <p:cNvSpPr/>
          <p:nvPr/>
        </p:nvSpPr>
        <p:spPr>
          <a:xfrm>
            <a:off x="1933956" y="3749040"/>
            <a:ext cx="1344168"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3" name="Text 10"/>
          <p:cNvSpPr/>
          <p:nvPr/>
        </p:nvSpPr>
        <p:spPr>
          <a:xfrm>
            <a:off x="1933956" y="3749040"/>
            <a:ext cx="1344168"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② データモデリング</a:t>
            </a:r>
            <a:endParaRPr lang="en-US" sz="1050" dirty="0"/>
          </a:p>
        </p:txBody>
      </p:sp>
      <p:sp>
        <p:nvSpPr>
          <p:cNvPr id="14" name="Shape 11"/>
          <p:cNvSpPr/>
          <p:nvPr/>
        </p:nvSpPr>
        <p:spPr>
          <a:xfrm>
            <a:off x="3415284" y="3749040"/>
            <a:ext cx="2112264"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5" name="Text 12"/>
          <p:cNvSpPr/>
          <p:nvPr/>
        </p:nvSpPr>
        <p:spPr>
          <a:xfrm>
            <a:off x="3415284" y="3749040"/>
            <a:ext cx="2112264"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③ 可視化/Set Analysis</a:t>
            </a:r>
            <a:endParaRPr lang="en-US" sz="1050" dirty="0"/>
          </a:p>
        </p:txBody>
      </p:sp>
      <p:sp>
        <p:nvSpPr>
          <p:cNvPr id="16" name="Shape 13"/>
          <p:cNvSpPr/>
          <p:nvPr/>
        </p:nvSpPr>
        <p:spPr>
          <a:xfrm>
            <a:off x="5664708" y="3749040"/>
            <a:ext cx="1248156"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17" name="Text 14"/>
          <p:cNvSpPr/>
          <p:nvPr/>
        </p:nvSpPr>
        <p:spPr>
          <a:xfrm>
            <a:off x="5664708" y="3749040"/>
            <a:ext cx="1248156"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④ パフォーマンス</a:t>
            </a:r>
            <a:endParaRPr lang="en-US" sz="1050" dirty="0"/>
          </a:p>
        </p:txBody>
      </p:sp>
      <p:sp>
        <p:nvSpPr>
          <p:cNvPr id="18" name="Shape 15"/>
          <p:cNvSpPr/>
          <p:nvPr/>
        </p:nvSpPr>
        <p:spPr>
          <a:xfrm>
            <a:off x="7050024" y="3749040"/>
            <a:ext cx="1440180" cy="365760"/>
          </a:xfrm>
          <a:prstGeom prst="roundRect">
            <a:avLst>
              <a:gd name="adj" fmla="val 50000"/>
            </a:avLst>
          </a:prstGeom>
          <a:solidFill>
            <a:srgbClr val="1F8A5F"/>
          </a:solidFill>
          <a:ln w="12700">
            <a:solidFill>
              <a:srgbClr val="E8F5EF">
                <a:alpha val="0"/>
              </a:srgbClr>
            </a:solidFill>
            <a:prstDash val="solid"/>
          </a:ln>
        </p:spPr>
      </p:sp>
      <p:sp>
        <p:nvSpPr>
          <p:cNvPr id="19" name="Text 16"/>
          <p:cNvSpPr/>
          <p:nvPr/>
        </p:nvSpPr>
        <p:spPr>
          <a:xfrm>
            <a:off x="7050024" y="3749040"/>
            <a:ext cx="144018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⑤ セキュリティ/運用</a:t>
            </a:r>
            <a:endParaRPr lang="en-US" sz="1050" dirty="0"/>
          </a:p>
        </p:txBody>
      </p:sp>
      <p:sp>
        <p:nvSpPr>
          <p:cNvPr id="20" name="Shape 17"/>
          <p:cNvSpPr/>
          <p:nvPr/>
        </p:nvSpPr>
        <p:spPr>
          <a:xfrm>
            <a:off x="8627364" y="3749040"/>
            <a:ext cx="864108"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21" name="Text 18"/>
          <p:cNvSpPr/>
          <p:nvPr/>
        </p:nvSpPr>
        <p:spPr>
          <a:xfrm>
            <a:off x="8627364" y="3749040"/>
            <a:ext cx="864108"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⑥ 自動化</a:t>
            </a:r>
            <a:endParaRPr lang="en-US" sz="1050" dirty="0"/>
          </a:p>
        </p:txBody>
      </p:sp>
      <p:sp>
        <p:nvSpPr>
          <p:cNvPr id="22" name="Shape 19"/>
          <p:cNvSpPr/>
          <p:nvPr/>
        </p:nvSpPr>
        <p:spPr>
          <a:xfrm>
            <a:off x="9628632" y="3749040"/>
            <a:ext cx="960120" cy="365760"/>
          </a:xfrm>
          <a:prstGeom prst="roundRect">
            <a:avLst>
              <a:gd name="adj" fmla="val 50000"/>
            </a:avLst>
          </a:prstGeom>
          <a:solidFill>
            <a:srgbClr val="FFFFFF">
              <a:alpha val="12000"/>
            </a:srgbClr>
          </a:solidFill>
          <a:ln w="9525">
            <a:solidFill>
              <a:srgbClr val="E8F5EF">
                <a:alpha val="60000"/>
              </a:srgbClr>
            </a:solidFill>
            <a:prstDash val="solid"/>
          </a:ln>
        </p:spPr>
      </p:sp>
      <p:sp>
        <p:nvSpPr>
          <p:cNvPr id="23" name="Text 20"/>
          <p:cNvSpPr/>
          <p:nvPr/>
        </p:nvSpPr>
        <p:spPr>
          <a:xfrm>
            <a:off x="9628632" y="3749040"/>
            <a:ext cx="960120" cy="365760"/>
          </a:xfrm>
          <a:prstGeom prst="rect">
            <a:avLst/>
          </a:prstGeom>
          <a:noFill/>
          <a:ln/>
        </p:spPr>
        <p:txBody>
          <a:bodyPr wrap="square" lIns="0" tIns="0" rIns="0" bIns="0" rtlCol="0" anchor="ctr"/>
          <a:lstStyle/>
          <a:p>
            <a:pPr algn="ctr" indent="0" marL="0">
              <a:buNone/>
            </a:pPr>
            <a:r>
              <a:rPr lang="en-US" sz="1050" dirty="0">
                <a:solidFill>
                  <a:srgbClr val="DCEFE5"/>
                </a:solidFill>
                <a:latin typeface="Calibri" pitchFamily="34" charset="0"/>
                <a:ea typeface="Calibri" pitchFamily="34" charset="-122"/>
                <a:cs typeface="Calibri" pitchFamily="34" charset="-120"/>
              </a:rPr>
              <a:t>⑦ AI機能</a:t>
            </a:r>
            <a:endParaRPr lang="en-US" sz="1050" dirty="0"/>
          </a:p>
        </p:txBody>
      </p:sp>
      <p:sp>
        <p:nvSpPr>
          <p:cNvPr id="24" name="Text 21"/>
          <p:cNvSpPr/>
          <p:nvPr/>
        </p:nvSpPr>
        <p:spPr>
          <a:xfrm>
            <a:off x="548640" y="6446520"/>
            <a:ext cx="8229600" cy="274320"/>
          </a:xfrm>
          <a:prstGeom prst="rect">
            <a:avLst/>
          </a:prstGeom>
          <a:noFill/>
          <a:ln/>
        </p:spPr>
        <p:txBody>
          <a:bodyPr wrap="square" lIns="0" tIns="0" rIns="0" bIns="0" rtlCol="0" anchor="ctr"/>
          <a:lstStyle/>
          <a:p>
            <a:pPr algn="l" indent="0" marL="0">
              <a:buNone/>
            </a:pPr>
            <a:r>
              <a:rPr lang="en-US" sz="950" dirty="0">
                <a:solidFill>
                  <a:srgbClr val="E8F5EF"/>
                </a:solidFill>
                <a:latin typeface="Calibri" pitchFamily="34" charset="0"/>
                <a:ea typeface="Calibri" pitchFamily="34" charset="-122"/>
                <a:cs typeface="Calibri" pitchFamily="34" charset="-120"/>
              </a:rPr>
              <a:t>Qlik Sense開発者ガイド⑤ セキュリティ・運用管理編</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本日のアジェンダ</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セキュリティ・運用管理編で扱う7つのトピック</a:t>
            </a:r>
            <a:endParaRPr lang="en-US" sz="1300" dirty="0"/>
          </a:p>
        </p:txBody>
      </p:sp>
      <p:sp>
        <p:nvSpPr>
          <p:cNvPr id="4" name="Shape 2"/>
          <p:cNvSpPr/>
          <p:nvPr/>
        </p:nvSpPr>
        <p:spPr>
          <a:xfrm>
            <a:off x="548640"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5" name="Text 3"/>
          <p:cNvSpPr/>
          <p:nvPr/>
        </p:nvSpPr>
        <p:spPr>
          <a:xfrm>
            <a:off x="731520"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804672"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Qlik Cloudの権限モデル</a:t>
            </a:r>
            <a:endParaRPr lang="en-US" sz="1400" dirty="0"/>
          </a:p>
        </p:txBody>
      </p:sp>
      <p:sp>
        <p:nvSpPr>
          <p:cNvPr id="7" name="Text 5"/>
          <p:cNvSpPr/>
          <p:nvPr/>
        </p:nvSpPr>
        <p:spPr>
          <a:xfrm>
            <a:off x="804672"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スペース・ロール・テナント管理者の関係を理解する</a:t>
            </a:r>
            <a:endParaRPr lang="en-US" sz="1000" dirty="0"/>
          </a:p>
        </p:txBody>
      </p:sp>
      <p:sp>
        <p:nvSpPr>
          <p:cNvPr id="8" name="Shape 6"/>
          <p:cNvSpPr/>
          <p:nvPr/>
        </p:nvSpPr>
        <p:spPr>
          <a:xfrm>
            <a:off x="4005072"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9" name="Text 7"/>
          <p:cNvSpPr/>
          <p:nvPr/>
        </p:nvSpPr>
        <p:spPr>
          <a:xfrm>
            <a:off x="4187952"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4261104"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セクションアクセス実践</a:t>
            </a:r>
            <a:endParaRPr lang="en-US" sz="1400" dirty="0"/>
          </a:p>
        </p:txBody>
      </p:sp>
      <p:sp>
        <p:nvSpPr>
          <p:cNvPr id="11" name="Text 9"/>
          <p:cNvSpPr/>
          <p:nvPr/>
        </p:nvSpPr>
        <p:spPr>
          <a:xfrm>
            <a:off x="4261104"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行レベルセキュリティの設計と動的データ削減</a:t>
            </a:r>
            <a:endParaRPr lang="en-US" sz="1000" dirty="0"/>
          </a:p>
        </p:txBody>
      </p:sp>
      <p:sp>
        <p:nvSpPr>
          <p:cNvPr id="12" name="Shape 10"/>
          <p:cNvSpPr/>
          <p:nvPr/>
        </p:nvSpPr>
        <p:spPr>
          <a:xfrm>
            <a:off x="7461504" y="1335024"/>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13" name="Text 11"/>
          <p:cNvSpPr/>
          <p:nvPr/>
        </p:nvSpPr>
        <p:spPr>
          <a:xfrm>
            <a:off x="7644384" y="1444752"/>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7717536" y="2048256"/>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ストリーム/スペース設計</a:t>
            </a:r>
            <a:endParaRPr lang="en-US" sz="1400" dirty="0"/>
          </a:p>
        </p:txBody>
      </p:sp>
      <p:sp>
        <p:nvSpPr>
          <p:cNvPr id="15" name="Text 13"/>
          <p:cNvSpPr/>
          <p:nvPr/>
        </p:nvSpPr>
        <p:spPr>
          <a:xfrm>
            <a:off x="7717536" y="2395728"/>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公開先の使い分けとアクセス制御の組み合わせ</a:t>
            </a:r>
            <a:endParaRPr lang="en-US" sz="1000" dirty="0"/>
          </a:p>
        </p:txBody>
      </p:sp>
      <p:sp>
        <p:nvSpPr>
          <p:cNvPr id="16" name="Shape 14"/>
          <p:cNvSpPr/>
          <p:nvPr/>
        </p:nvSpPr>
        <p:spPr>
          <a:xfrm>
            <a:off x="548640"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17" name="Text 15"/>
          <p:cNvSpPr/>
          <p:nvPr/>
        </p:nvSpPr>
        <p:spPr>
          <a:xfrm>
            <a:off x="731520"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804672"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アプリ公開のワークフロー</a:t>
            </a:r>
            <a:endParaRPr lang="en-US" sz="1400" dirty="0"/>
          </a:p>
        </p:txBody>
      </p:sp>
      <p:sp>
        <p:nvSpPr>
          <p:cNvPr id="19" name="Text 17"/>
          <p:cNvSpPr/>
          <p:nvPr/>
        </p:nvSpPr>
        <p:spPr>
          <a:xfrm>
            <a:off x="804672"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開発から本番公開までの標準的な流れ</a:t>
            </a:r>
            <a:endParaRPr lang="en-US" sz="1000" dirty="0"/>
          </a:p>
        </p:txBody>
      </p:sp>
      <p:sp>
        <p:nvSpPr>
          <p:cNvPr id="20" name="Shape 18"/>
          <p:cNvSpPr/>
          <p:nvPr/>
        </p:nvSpPr>
        <p:spPr>
          <a:xfrm>
            <a:off x="4005072"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1" name="Text 19"/>
          <p:cNvSpPr/>
          <p:nvPr/>
        </p:nvSpPr>
        <p:spPr>
          <a:xfrm>
            <a:off x="4187952"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05</a:t>
            </a:r>
            <a:endParaRPr lang="en-US" sz="2400" dirty="0"/>
          </a:p>
        </p:txBody>
      </p:sp>
      <p:sp>
        <p:nvSpPr>
          <p:cNvPr id="22" name="Text 20"/>
          <p:cNvSpPr/>
          <p:nvPr/>
        </p:nvSpPr>
        <p:spPr>
          <a:xfrm>
            <a:off x="4261104"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ALM(アプリライフサイクル管理)</a:t>
            </a:r>
            <a:endParaRPr lang="en-US" sz="1400" dirty="0"/>
          </a:p>
        </p:txBody>
      </p:sp>
      <p:sp>
        <p:nvSpPr>
          <p:cNvPr id="23" name="Text 21"/>
          <p:cNvSpPr/>
          <p:nvPr/>
        </p:nvSpPr>
        <p:spPr>
          <a:xfrm>
            <a:off x="4261104"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バージョン管理と環境間の昇格プロセス</a:t>
            </a:r>
            <a:endParaRPr lang="en-US" sz="1000" dirty="0"/>
          </a:p>
        </p:txBody>
      </p:sp>
      <p:sp>
        <p:nvSpPr>
          <p:cNvPr id="24" name="Shape 22"/>
          <p:cNvSpPr/>
          <p:nvPr/>
        </p:nvSpPr>
        <p:spPr>
          <a:xfrm>
            <a:off x="7461504" y="2852928"/>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5" name="Text 23"/>
          <p:cNvSpPr/>
          <p:nvPr/>
        </p:nvSpPr>
        <p:spPr>
          <a:xfrm>
            <a:off x="7644384" y="2962656"/>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06</a:t>
            </a:r>
            <a:endParaRPr lang="en-US" sz="2400" dirty="0"/>
          </a:p>
        </p:txBody>
      </p:sp>
      <p:sp>
        <p:nvSpPr>
          <p:cNvPr id="26" name="Text 24"/>
          <p:cNvSpPr/>
          <p:nvPr/>
        </p:nvSpPr>
        <p:spPr>
          <a:xfrm>
            <a:off x="7717536" y="3566160"/>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Git連携と差分管理</a:t>
            </a:r>
            <a:endParaRPr lang="en-US" sz="1400" dirty="0"/>
          </a:p>
        </p:txBody>
      </p:sp>
      <p:sp>
        <p:nvSpPr>
          <p:cNvPr id="27" name="Text 25"/>
          <p:cNvSpPr/>
          <p:nvPr/>
        </p:nvSpPr>
        <p:spPr>
          <a:xfrm>
            <a:off x="7717536" y="3913632"/>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スクリプト変更履歴をコードとして管理する</a:t>
            </a:r>
            <a:endParaRPr lang="en-US" sz="1000" dirty="0"/>
          </a:p>
        </p:txBody>
      </p:sp>
      <p:sp>
        <p:nvSpPr>
          <p:cNvPr id="28" name="Shape 26"/>
          <p:cNvSpPr/>
          <p:nvPr/>
        </p:nvSpPr>
        <p:spPr>
          <a:xfrm>
            <a:off x="548640" y="4370832"/>
            <a:ext cx="3291840" cy="1353312"/>
          </a:xfrm>
          <a:prstGeom prst="roundRect">
            <a:avLst>
              <a:gd name="adj" fmla="val 4730"/>
            </a:avLst>
          </a:prstGeom>
          <a:solidFill>
            <a:srgbClr val="F3FAF6"/>
          </a:solidFill>
          <a:ln/>
          <a:effectLst>
            <a:outerShdw sx="100000" sy="100000" kx="0" ky="0" algn="bl" rotWithShape="0" blurRad="50800" dist="19050" dir="2700000">
              <a:srgbClr val="000000">
                <a:alpha val="12000"/>
              </a:srgbClr>
            </a:outerShdw>
          </a:effectLst>
        </p:spPr>
      </p:sp>
      <p:sp>
        <p:nvSpPr>
          <p:cNvPr id="29" name="Text 27"/>
          <p:cNvSpPr/>
          <p:nvPr/>
        </p:nvSpPr>
        <p:spPr>
          <a:xfrm>
            <a:off x="731520" y="4480560"/>
            <a:ext cx="914400" cy="548640"/>
          </a:xfrm>
          <a:prstGeom prst="rect">
            <a:avLst/>
          </a:prstGeom>
          <a:noFill/>
          <a:ln/>
        </p:spPr>
        <p:txBody>
          <a:bodyPr wrap="square" lIns="0" tIns="0" rIns="0" bIns="0" rtlCol="0" anchor="ctr"/>
          <a:lstStyle/>
          <a:p>
            <a:pPr algn="l" indent="0" marL="0">
              <a:buNone/>
            </a:pPr>
            <a:r>
              <a:rPr lang="en-US" sz="2400" b="1" dirty="0">
                <a:solidFill>
                  <a:srgbClr val="1F8A5F"/>
                </a:solidFill>
                <a:latin typeface="Cambria" pitchFamily="34" charset="0"/>
                <a:ea typeface="Cambria" pitchFamily="34" charset="-122"/>
                <a:cs typeface="Cambria" pitchFamily="34" charset="-120"/>
              </a:rPr>
              <a:t>07</a:t>
            </a:r>
            <a:endParaRPr lang="en-US" sz="2400" dirty="0"/>
          </a:p>
        </p:txBody>
      </p:sp>
      <p:sp>
        <p:nvSpPr>
          <p:cNvPr id="30" name="Text 28"/>
          <p:cNvSpPr/>
          <p:nvPr/>
        </p:nvSpPr>
        <p:spPr>
          <a:xfrm>
            <a:off x="804672" y="5084064"/>
            <a:ext cx="2834640" cy="365760"/>
          </a:xfrm>
          <a:prstGeom prst="rect">
            <a:avLst/>
          </a:prstGeom>
          <a:noFill/>
          <a:ln/>
        </p:spPr>
        <p:txBody>
          <a:bodyPr wrap="square" lIns="0" tIns="0" rIns="0" bIns="0" rtlCol="0" anchor="ctr"/>
          <a:lstStyle/>
          <a:p>
            <a:pPr algn="l" indent="0" marL="0">
              <a:buNone/>
            </a:pPr>
            <a:r>
              <a:rPr lang="en-US" sz="1400" b="1" dirty="0">
                <a:solidFill>
                  <a:srgbClr val="0B3D2E"/>
                </a:solidFill>
                <a:latin typeface="Cambria" pitchFamily="34" charset="0"/>
                <a:ea typeface="Cambria" pitchFamily="34" charset="-122"/>
                <a:cs typeface="Cambria" pitchFamily="34" charset="-120"/>
              </a:rPr>
              <a:t>監査ログとアクセス管理</a:t>
            </a:r>
            <a:endParaRPr lang="en-US" sz="1400" dirty="0"/>
          </a:p>
        </p:txBody>
      </p:sp>
      <p:sp>
        <p:nvSpPr>
          <p:cNvPr id="31" name="Text 29"/>
          <p:cNvSpPr/>
          <p:nvPr/>
        </p:nvSpPr>
        <p:spPr>
          <a:xfrm>
            <a:off x="804672" y="5431536"/>
            <a:ext cx="2834640" cy="457200"/>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誰が何にアクセスしたかを追跡する仕組み</a:t>
            </a:r>
            <a:endParaRPr lang="en-US" sz="1000" dirty="0"/>
          </a:p>
        </p:txBody>
      </p:sp>
      <p:sp>
        <p:nvSpPr>
          <p:cNvPr id="32" name="Text 30"/>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33" name="Text 31"/>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Qlik Cloudの権限モデル</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スペース・ロール・テナント管理者の関係を理解する</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スペース：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アプリやデータの格納場所。個人/共有/管理対象の3種類があり、それぞれアクセス制御の方法が異なる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ロールベース権限：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テナント管理者・ビジネス管理者・開発者・コンシューマなど、役割に応じた権限セットが定義されている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コンテンツ権限の継承：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スペースに設定した権限はその中のアプリ・データに継承されるため、スペース設計が権限管理の起点になる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個人スペースのアプリは原則として作成者以外アクセスできない。チーム共有が前提のアプリは最初から共有スペースで開発する。</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スクリプト内で実行ユーザー情報を</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取得・記録する例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LET vUser = OSUser();</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'リロード実行者: ' &amp; vUser;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'リロード日時: ' &amp; Now();</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実務でのスペース設計の目安:</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・個人スペース</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開発中・検証用アプリ</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・共有スペース</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チーム内で共同編集</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・管理対象スペース</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本番公開用(権限を厳格管理)</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セクションアクセス実践</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行レベルセキュリティの設計と動的データ削減</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REDUCTION設定：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Qlik Cloudでは「データプロファイリング &gt; Reduction」でREDUCTIONフィールドを使い動的に絞り込む</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OMIT句：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管理者には見せたくない機密フィールド自体を非表示にする場合に使う(行ではなく列の制御)</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グループ単位の設計：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ユーザー単位ではなく部署・役職などのグループ単位でREDUCTION値を割り当て、保守性を高める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セクションアクセスを設定したアプリは、テスト用ユーザーで必ずログイン確認する。意図せず全データが見えてしまう設定ミスは多い。</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SECTION ACCESS;</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 * INLINE [</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ACCESS, USERID, REDUCTION</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USER, sales_team@company.com, Sales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USER, hr_team@company.com, HR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ADMIN, admin@company.com, *</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SECTION APPLICATION;</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Orders: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OrderID, Department, Amount,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Department AS REDUCTION</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FROM [lib://QVD/orders.qvd]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REDUCTION値と一致する行のみ</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各ユーザーに表示される</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ストリーム/スペース設計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公開先の使い分けとアクセス制御の組み合わせ</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部門別スペース分割：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営業・人事・財務など部門単位でスペースを分け、自然なアクセス境界を作る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環境別の分離(開発/検証/本番)：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同じアプリでも開発用・検証用・本番用のスペースを分け、誤って未検証のアプリが公開されるのを防ぐ</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管理対象スペースの活用：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本番公開用には管理対象スペースを使い、コンテンツの公開・更新を限られた担当者に絞る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スペース構成は後から大規模に変更しづらい。導入初期に部門・環境の両軸を意識した命名規則とフォルダ構成を決めておく。</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スペース構成の命名例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[部門]-[環境]-[用途]</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Sales-Dev-Workspace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営業部門の開発用個人/共有領域</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Sales-Prod-Managed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営業部門の本番公開(管理対象)</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Finance-Prod-Managed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財務部門の本番公開(管理対象)</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アプリ命名規則の例: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[部門]_[アプリ名]_v[バージョン]</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例: Sales_MonthlyReport_v3</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アプリ公開のワークフロー</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開発から本番公開までの標準的な流れ</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開発(個人スペース)：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個人スペースでスクリプト・可視化を作成し、リロードとデータ確認を繰り返す</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レビュー(共有スペース)：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チームメンバーと共有スペースでレビューし、フィードバックを反映する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本番昇格(管理対象スペース)：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レビュー完了後、管理対象スペースにコピーまたは移動し、エンドユーザーに公開する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本番昇格時はアプリをコピーして新規IDを発行する方法と、既存アプリを移動する方法がある。データ接続の参照先がスペースによって変わる点に注意。</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公開前チェックを促すTRACE出力例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 公開前チェック ===';</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IF NOT IsPartialReload() THEN</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TRACE '✓ フルリロード完了';</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END IF</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'リロード時刻: ' &amp; Now();</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'実行ユーザー: ' &amp; OSUser();</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実務では以下を手動確認してから</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本番スペースへ昇格する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・テストユーザーでの表示確認</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・セクションアクセスの動作確認</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・データ件数の妥当性確認</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ALM(アプリケーションライフサイクル管理)</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バージョン管理と環境間の昇格プロセス</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アプリのバージョン管理：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Qlik Cloudは変更履歴を自動保持し、過去のバージョンに復元できる機能を持つ</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公開済みアプリの更新方法：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直接編集ではなく、コピーを作成して変更後に差し替える運用にすると本番影響を抑えられる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環境間の昇格(開発→検証→本番)：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Qlikのリリース管理機能やAPIを使い、アプリを環境間でコピーするプロセスを標準化する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本番アプリを直接開いて編集する運用は事故のもと。「コピーして変更→検証→差し替え」を徹底し、本番は常に検証済みの状態を保つ。</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バージョン管理を意識した</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スクリプトコメントの書き方例</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変更履歴 ===</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v1.2 2024-06-01 山田</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QVDレイヤーを追加し高速化</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v1.1 2024-05-15 鈴木</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セクションアクセスを追加</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v1.0 2024-05-01 山田</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初版作成</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SET vAppVersion = 'v1.2';</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'App Version: ' &amp; vAppVersion;</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Git連携と差分管理</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スクリプト変更履歴をコードとして管理する</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スクリプトのエクスポート：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Data Load Editorの内容をテキストファイルとしてエクスポートし、Gitリポジトリで管理する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差分レビューのメリット：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テキスト化することでプルリクエストでの差分レビューが可能になり、変更内容が明確になる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CI/CDとの連携余地：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外部スクリプトファイルをQlik Cloud APIで自動デプロイするパイプラインを構築できる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Qlik Senseはアプリ全体がバイナリに近い形式のため、可視化部分は差分が取りづらい。スクリプト部分だけでもGit管理する価値は大きい。</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スクリプトファイルの先頭に</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メタ情報をコメントで残す例</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File: sales_app_load_script.qvs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Repo: qlik-scripts/sales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Last commit: 2024-06-15</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 Include で外部ファイル参照 ===</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$(Must_Include=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'lib://Scripts/common_functions.qvs');</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共通処理を外部ファイル化すると</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Git上で差分管理しやすくなり</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複数アプリ間でも再利用できる</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監査ログとアクセス管理</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誰が何にアクセスしたかを追跡する仕組み</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監査ログの取得範囲：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ログイン履歴、アプリの閲覧・編集・公開、権限変更などのイベントがテナント管理画面から確認できる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API経由でのログ活用：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Audit APIを使い、監査ログを外部のSIEMやBIツールに連携して継続的に監視できる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定期的なアクセスレビュー：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管理対象スペースの権限一覧を定期的に棚卸しし、不要になったアクセス権を削除する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退職・異動者のアクセス権削除は自動化されないケースが多い。HRシステムと連携するか、定期棚卸しのプロセスを必ず運用に組み込む。</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アプリ内でのアクセス記録例</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(簡易的な利用ログテーブル)</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UsageLog:</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OSUser() AS AccessUser,</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Now() AS AccessTime</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AUTOGENERATE 1;</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CONCATENATE (UsageLog)</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LOAD * FROM</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[lib://QVD/usage_log.qvd] (qvd);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STORE UsageLog INTO</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[lib://QVD/usage_log.qvd];</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本格的な監査にはQlik Cloudの</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Audit APIを使うのが望ましい</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よくあるアンチパターン①</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セクションアクセス設計でやりがちなミス</a:t>
            </a:r>
            <a:endParaRPr lang="en-US" sz="1300" dirty="0"/>
          </a:p>
        </p:txBody>
      </p:sp>
      <p:sp>
        <p:nvSpPr>
          <p:cNvPr id="4" name="Shape 2"/>
          <p:cNvSpPr/>
          <p:nvPr/>
        </p:nvSpPr>
        <p:spPr>
          <a:xfrm>
            <a:off x="548640" y="1600200"/>
            <a:ext cx="5413248" cy="292608"/>
          </a:xfrm>
          <a:prstGeom prst="roundRect">
            <a:avLst>
              <a:gd name="adj" fmla="val 15625"/>
            </a:avLst>
          </a:prstGeom>
          <a:solidFill>
            <a:srgbClr val="C0392B"/>
          </a:solidFill>
          <a:ln/>
        </p:spPr>
      </p:sp>
      <p:sp>
        <p:nvSpPr>
          <p:cNvPr id="5" name="Text 3"/>
          <p:cNvSpPr/>
          <p:nvPr/>
        </p:nvSpPr>
        <p:spPr>
          <a:xfrm>
            <a:off x="548640"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6" name="Shape 4"/>
          <p:cNvSpPr/>
          <p:nvPr/>
        </p:nvSpPr>
        <p:spPr>
          <a:xfrm>
            <a:off x="548640" y="1965960"/>
            <a:ext cx="5413248" cy="1353312"/>
          </a:xfrm>
          <a:prstGeom prst="roundRect">
            <a:avLst>
              <a:gd name="adj" fmla="val 4054"/>
            </a:avLst>
          </a:prstGeom>
          <a:solidFill>
            <a:srgbClr val="16322A"/>
          </a:solidFill>
          <a:ln/>
        </p:spPr>
      </p:sp>
      <p:sp>
        <p:nvSpPr>
          <p:cNvPr id="7" name="Text 5"/>
          <p:cNvSpPr/>
          <p:nvPr/>
        </p:nvSpPr>
        <p:spPr>
          <a:xfrm>
            <a:off x="731520"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ADMINの条件が広すぎる</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 INLINE [</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ACCESS, USERID, REDUCTION</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ADMIN, *, *</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誰でも管理者権限を</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名乗れてしまう</a:t>
            </a:r>
            <a:endParaRPr lang="en-US" sz="950" dirty="0"/>
          </a:p>
        </p:txBody>
      </p:sp>
      <p:sp>
        <p:nvSpPr>
          <p:cNvPr id="8" name="Shape 6"/>
          <p:cNvSpPr/>
          <p:nvPr/>
        </p:nvSpPr>
        <p:spPr>
          <a:xfrm>
            <a:off x="6245352" y="1600200"/>
            <a:ext cx="5413248" cy="292608"/>
          </a:xfrm>
          <a:prstGeom prst="roundRect">
            <a:avLst>
              <a:gd name="adj" fmla="val 15625"/>
            </a:avLst>
          </a:prstGeom>
          <a:solidFill>
            <a:srgbClr val="1F8A5F"/>
          </a:solidFill>
          <a:ln/>
        </p:spPr>
      </p:sp>
      <p:sp>
        <p:nvSpPr>
          <p:cNvPr id="9" name="Text 7"/>
          <p:cNvSpPr/>
          <p:nvPr/>
        </p:nvSpPr>
        <p:spPr>
          <a:xfrm>
            <a:off x="6245352"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0" name="Shape 8"/>
          <p:cNvSpPr/>
          <p:nvPr/>
        </p:nvSpPr>
        <p:spPr>
          <a:xfrm>
            <a:off x="6245352" y="1965960"/>
            <a:ext cx="5413248" cy="1353312"/>
          </a:xfrm>
          <a:prstGeom prst="roundRect">
            <a:avLst>
              <a:gd name="adj" fmla="val 4054"/>
            </a:avLst>
          </a:prstGeom>
          <a:solidFill>
            <a:srgbClr val="16322A"/>
          </a:solidFill>
          <a:ln/>
        </p:spPr>
      </p:sp>
      <p:sp>
        <p:nvSpPr>
          <p:cNvPr id="11" name="Text 9"/>
          <p:cNvSpPr/>
          <p:nvPr/>
        </p:nvSpPr>
        <p:spPr>
          <a:xfrm>
            <a:off x="6428232"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ADMINは特定ユーザーのみに限定</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LOAD * INLINE [</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ACCESS, USERID, REDUCTION</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ADMIN, admin@company.com, *</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a:t>
            </a:r>
            <a:endParaRPr lang="en-US" sz="950" dirty="0"/>
          </a:p>
        </p:txBody>
      </p:sp>
      <p:sp>
        <p:nvSpPr>
          <p:cNvPr id="12" name="Shape 10"/>
          <p:cNvSpPr/>
          <p:nvPr/>
        </p:nvSpPr>
        <p:spPr>
          <a:xfrm>
            <a:off x="548640" y="3840480"/>
            <a:ext cx="5413248" cy="292608"/>
          </a:xfrm>
          <a:prstGeom prst="roundRect">
            <a:avLst>
              <a:gd name="adj" fmla="val 15625"/>
            </a:avLst>
          </a:prstGeom>
          <a:solidFill>
            <a:srgbClr val="C0392B"/>
          </a:solidFill>
          <a:ln/>
        </p:spPr>
      </p:sp>
      <p:sp>
        <p:nvSpPr>
          <p:cNvPr id="13" name="Text 11"/>
          <p:cNvSpPr/>
          <p:nvPr/>
        </p:nvSpPr>
        <p:spPr>
          <a:xfrm>
            <a:off x="548640"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14" name="Shape 12"/>
          <p:cNvSpPr/>
          <p:nvPr/>
        </p:nvSpPr>
        <p:spPr>
          <a:xfrm>
            <a:off x="548640" y="4206240"/>
            <a:ext cx="5413248" cy="1691640"/>
          </a:xfrm>
          <a:prstGeom prst="roundRect">
            <a:avLst>
              <a:gd name="adj" fmla="val 3243"/>
            </a:avLst>
          </a:prstGeom>
          <a:solidFill>
            <a:srgbClr val="16322A"/>
          </a:solidFill>
          <a:ln/>
        </p:spPr>
      </p:sp>
      <p:sp>
        <p:nvSpPr>
          <p:cNvPr id="15" name="Text 13"/>
          <p:cNvSpPr/>
          <p:nvPr/>
        </p:nvSpPr>
        <p:spPr>
          <a:xfrm>
            <a:off x="731520"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テスト未実施で本番公開</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セクションアクセス追加後</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すぐに管理対象スペースへ</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直接アプリを移動</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設定ミスに気づかず</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全データが見える事故</a:t>
            </a:r>
            <a:endParaRPr lang="en-US" sz="950" dirty="0"/>
          </a:p>
        </p:txBody>
      </p:sp>
      <p:sp>
        <p:nvSpPr>
          <p:cNvPr id="16" name="Shape 14"/>
          <p:cNvSpPr/>
          <p:nvPr/>
        </p:nvSpPr>
        <p:spPr>
          <a:xfrm>
            <a:off x="6245352" y="3840480"/>
            <a:ext cx="5413248" cy="292608"/>
          </a:xfrm>
          <a:prstGeom prst="roundRect">
            <a:avLst>
              <a:gd name="adj" fmla="val 15625"/>
            </a:avLst>
          </a:prstGeom>
          <a:solidFill>
            <a:srgbClr val="1F8A5F"/>
          </a:solidFill>
          <a:ln/>
        </p:spPr>
      </p:sp>
      <p:sp>
        <p:nvSpPr>
          <p:cNvPr id="17" name="Text 15"/>
          <p:cNvSpPr/>
          <p:nvPr/>
        </p:nvSpPr>
        <p:spPr>
          <a:xfrm>
            <a:off x="6245352"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8" name="Shape 16"/>
          <p:cNvSpPr/>
          <p:nvPr/>
        </p:nvSpPr>
        <p:spPr>
          <a:xfrm>
            <a:off x="6245352" y="4206240"/>
            <a:ext cx="5413248" cy="1691640"/>
          </a:xfrm>
          <a:prstGeom prst="roundRect">
            <a:avLst>
              <a:gd name="adj" fmla="val 3243"/>
            </a:avLst>
          </a:prstGeom>
          <a:solidFill>
            <a:srgbClr val="16322A"/>
          </a:solidFill>
          <a:ln/>
        </p:spPr>
      </p:sp>
      <p:sp>
        <p:nvSpPr>
          <p:cNvPr id="19" name="Text 17"/>
          <p:cNvSpPr/>
          <p:nvPr/>
        </p:nvSpPr>
        <p:spPr>
          <a:xfrm>
            <a:off x="6428232"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テストユーザーで必ず検証</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各ロールのテストアカウントで</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ログインし表示データを確認</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問題なければ本番昇格</a:t>
            </a:r>
            <a:endParaRPr lang="en-US" sz="950" dirty="0"/>
          </a:p>
        </p:txBody>
      </p:sp>
      <p:sp>
        <p:nvSpPr>
          <p:cNvPr id="20" name="Text 1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21" name="Text 19"/>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よくあるアンチパターン②</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スペース・公開運用でやりがちなミス</a:t>
            </a:r>
            <a:endParaRPr lang="en-US" sz="1300" dirty="0"/>
          </a:p>
        </p:txBody>
      </p:sp>
      <p:sp>
        <p:nvSpPr>
          <p:cNvPr id="4" name="Shape 2"/>
          <p:cNvSpPr/>
          <p:nvPr/>
        </p:nvSpPr>
        <p:spPr>
          <a:xfrm>
            <a:off x="548640" y="1600200"/>
            <a:ext cx="5413248" cy="292608"/>
          </a:xfrm>
          <a:prstGeom prst="roundRect">
            <a:avLst>
              <a:gd name="adj" fmla="val 15625"/>
            </a:avLst>
          </a:prstGeom>
          <a:solidFill>
            <a:srgbClr val="C0392B"/>
          </a:solidFill>
          <a:ln/>
        </p:spPr>
      </p:sp>
      <p:sp>
        <p:nvSpPr>
          <p:cNvPr id="5" name="Text 3"/>
          <p:cNvSpPr/>
          <p:nvPr/>
        </p:nvSpPr>
        <p:spPr>
          <a:xfrm>
            <a:off x="548640"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6" name="Shape 4"/>
          <p:cNvSpPr/>
          <p:nvPr/>
        </p:nvSpPr>
        <p:spPr>
          <a:xfrm>
            <a:off x="548640" y="1965960"/>
            <a:ext cx="5413248" cy="1353312"/>
          </a:xfrm>
          <a:prstGeom prst="roundRect">
            <a:avLst>
              <a:gd name="adj" fmla="val 4054"/>
            </a:avLst>
          </a:prstGeom>
          <a:solidFill>
            <a:srgbClr val="16322A"/>
          </a:solidFill>
          <a:ln/>
        </p:spPr>
      </p:sp>
      <p:sp>
        <p:nvSpPr>
          <p:cNvPr id="7" name="Text 5"/>
          <p:cNvSpPr/>
          <p:nvPr/>
        </p:nvSpPr>
        <p:spPr>
          <a:xfrm>
            <a:off x="731520"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本番アプリを直接編集</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管理対象スペースのアプリを</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そのまま開いてスクリプト修正</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検証なしに全利用者へ</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即座に影響</a:t>
            </a:r>
            <a:endParaRPr lang="en-US" sz="950" dirty="0"/>
          </a:p>
        </p:txBody>
      </p:sp>
      <p:sp>
        <p:nvSpPr>
          <p:cNvPr id="8" name="Shape 6"/>
          <p:cNvSpPr/>
          <p:nvPr/>
        </p:nvSpPr>
        <p:spPr>
          <a:xfrm>
            <a:off x="6245352" y="1600200"/>
            <a:ext cx="5413248" cy="292608"/>
          </a:xfrm>
          <a:prstGeom prst="roundRect">
            <a:avLst>
              <a:gd name="adj" fmla="val 15625"/>
            </a:avLst>
          </a:prstGeom>
          <a:solidFill>
            <a:srgbClr val="1F8A5F"/>
          </a:solidFill>
          <a:ln/>
        </p:spPr>
      </p:sp>
      <p:sp>
        <p:nvSpPr>
          <p:cNvPr id="9" name="Text 7"/>
          <p:cNvSpPr/>
          <p:nvPr/>
        </p:nvSpPr>
        <p:spPr>
          <a:xfrm>
            <a:off x="6245352" y="160020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0" name="Shape 8"/>
          <p:cNvSpPr/>
          <p:nvPr/>
        </p:nvSpPr>
        <p:spPr>
          <a:xfrm>
            <a:off x="6245352" y="1965960"/>
            <a:ext cx="5413248" cy="1353312"/>
          </a:xfrm>
          <a:prstGeom prst="roundRect">
            <a:avLst>
              <a:gd name="adj" fmla="val 4054"/>
            </a:avLst>
          </a:prstGeom>
          <a:solidFill>
            <a:srgbClr val="16322A"/>
          </a:solidFill>
          <a:ln/>
        </p:spPr>
      </p:sp>
      <p:sp>
        <p:nvSpPr>
          <p:cNvPr id="11" name="Text 9"/>
          <p:cNvSpPr/>
          <p:nvPr/>
        </p:nvSpPr>
        <p:spPr>
          <a:xfrm>
            <a:off x="6428232" y="2075688"/>
            <a:ext cx="5047488" cy="1133856"/>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コピーして変更→検証→差し替え</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1.開発スペースにコピー</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2.変更してリロード確認</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3.レビュー後に本番へ反映</a:t>
            </a:r>
            <a:endParaRPr lang="en-US" sz="950" dirty="0"/>
          </a:p>
        </p:txBody>
      </p:sp>
      <p:sp>
        <p:nvSpPr>
          <p:cNvPr id="12" name="Shape 10"/>
          <p:cNvSpPr/>
          <p:nvPr/>
        </p:nvSpPr>
        <p:spPr>
          <a:xfrm>
            <a:off x="548640" y="3840480"/>
            <a:ext cx="5413248" cy="292608"/>
          </a:xfrm>
          <a:prstGeom prst="roundRect">
            <a:avLst>
              <a:gd name="adj" fmla="val 15625"/>
            </a:avLst>
          </a:prstGeom>
          <a:solidFill>
            <a:srgbClr val="C0392B"/>
          </a:solidFill>
          <a:ln/>
        </p:spPr>
      </p:sp>
      <p:sp>
        <p:nvSpPr>
          <p:cNvPr id="13" name="Text 11"/>
          <p:cNvSpPr/>
          <p:nvPr/>
        </p:nvSpPr>
        <p:spPr>
          <a:xfrm>
            <a:off x="548640"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避けるべき</a:t>
            </a:r>
            <a:endParaRPr lang="en-US" sz="1200" dirty="0"/>
          </a:p>
        </p:txBody>
      </p:sp>
      <p:sp>
        <p:nvSpPr>
          <p:cNvPr id="14" name="Shape 12"/>
          <p:cNvSpPr/>
          <p:nvPr/>
        </p:nvSpPr>
        <p:spPr>
          <a:xfrm>
            <a:off x="548640" y="4206240"/>
            <a:ext cx="5413248" cy="1691640"/>
          </a:xfrm>
          <a:prstGeom prst="roundRect">
            <a:avLst>
              <a:gd name="adj" fmla="val 3243"/>
            </a:avLst>
          </a:prstGeom>
          <a:solidFill>
            <a:srgbClr val="16322A"/>
          </a:solidFill>
          <a:ln/>
        </p:spPr>
      </p:sp>
      <p:sp>
        <p:nvSpPr>
          <p:cNvPr id="15" name="Text 13"/>
          <p:cNvSpPr/>
          <p:nvPr/>
        </p:nvSpPr>
        <p:spPr>
          <a:xfrm>
            <a:off x="731520"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退職者のアクセス権が残存</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異動・退職時のスペース権限</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削除が手動かつ未運用化</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不要なアクセス権が</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蓄積し続ける</a:t>
            </a:r>
            <a:endParaRPr lang="en-US" sz="950" dirty="0"/>
          </a:p>
        </p:txBody>
      </p:sp>
      <p:sp>
        <p:nvSpPr>
          <p:cNvPr id="16" name="Shape 14"/>
          <p:cNvSpPr/>
          <p:nvPr/>
        </p:nvSpPr>
        <p:spPr>
          <a:xfrm>
            <a:off x="6245352" y="3840480"/>
            <a:ext cx="5413248" cy="292608"/>
          </a:xfrm>
          <a:prstGeom prst="roundRect">
            <a:avLst>
              <a:gd name="adj" fmla="val 15625"/>
            </a:avLst>
          </a:prstGeom>
          <a:solidFill>
            <a:srgbClr val="1F8A5F"/>
          </a:solidFill>
          <a:ln/>
        </p:spPr>
      </p:sp>
      <p:sp>
        <p:nvSpPr>
          <p:cNvPr id="17" name="Text 15"/>
          <p:cNvSpPr/>
          <p:nvPr/>
        </p:nvSpPr>
        <p:spPr>
          <a:xfrm>
            <a:off x="6245352" y="3840480"/>
            <a:ext cx="54132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推奨</a:t>
            </a:r>
            <a:endParaRPr lang="en-US" sz="1200" dirty="0"/>
          </a:p>
        </p:txBody>
      </p:sp>
      <p:sp>
        <p:nvSpPr>
          <p:cNvPr id="18" name="Shape 16"/>
          <p:cNvSpPr/>
          <p:nvPr/>
        </p:nvSpPr>
        <p:spPr>
          <a:xfrm>
            <a:off x="6245352" y="4206240"/>
            <a:ext cx="5413248" cy="1691640"/>
          </a:xfrm>
          <a:prstGeom prst="roundRect">
            <a:avLst>
              <a:gd name="adj" fmla="val 3243"/>
            </a:avLst>
          </a:prstGeom>
          <a:solidFill>
            <a:srgbClr val="16322A"/>
          </a:solidFill>
          <a:ln/>
        </p:spPr>
      </p:sp>
      <p:sp>
        <p:nvSpPr>
          <p:cNvPr id="19" name="Text 17"/>
          <p:cNvSpPr/>
          <p:nvPr/>
        </p:nvSpPr>
        <p:spPr>
          <a:xfrm>
            <a:off x="6428232" y="4315968"/>
            <a:ext cx="5047488" cy="1472184"/>
          </a:xfrm>
          <a:prstGeom prst="rect">
            <a:avLst/>
          </a:prstGeom>
          <a:noFill/>
          <a:ln/>
        </p:spPr>
        <p:txBody>
          <a:bodyPr wrap="square" lIns="0" tIns="0" rIns="0" bIns="0" rtlCol="0" anchor="t"/>
          <a:lstStyle/>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定期的なアクセスレビュー運用</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四半期毎にスペース権限を</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棚卸しし、不要分を削除</a:t>
            </a:r>
            <a:endParaRPr lang="en-US" sz="950" dirty="0"/>
          </a:p>
          <a:p>
            <a:pPr algn="l" indent="0" marL="0">
              <a:lnSpc>
                <a:spcPct val="112000"/>
              </a:lnSpc>
              <a:buNone/>
            </a:pPr>
            <a:r>
              <a:rPr lang="en-US" sz="950" dirty="0">
                <a:solidFill>
                  <a:srgbClr val="E8F5EF"/>
                </a:solidFill>
                <a:latin typeface="Courier New" pitchFamily="34" charset="0"/>
                <a:ea typeface="Courier New" pitchFamily="34" charset="-122"/>
                <a:cs typeface="Courier New" pitchFamily="34" charset="-120"/>
              </a:rPr>
              <a:t>// → アクセス権が常に最新化</a:t>
            </a:r>
            <a:endParaRPr lang="en-US" sz="950" dirty="0"/>
          </a:p>
        </p:txBody>
      </p:sp>
      <p:sp>
        <p:nvSpPr>
          <p:cNvPr id="20" name="Text 1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21" name="Text 19"/>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2800" b="1" dirty="0">
                <a:solidFill>
                  <a:srgbClr val="0B3D2E"/>
                </a:solidFill>
                <a:latin typeface="Cambria" pitchFamily="34" charset="0"/>
                <a:ea typeface="Cambria" pitchFamily="34" charset="-122"/>
                <a:cs typeface="Cambria" pitchFamily="34" charset="-120"/>
              </a:rPr>
              <a:t>本番昇格チェックの実務</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公開前に確認すべき項目と手順</a:t>
            </a:r>
            <a:endParaRPr lang="en-US" sz="1300" dirty="0"/>
          </a:p>
        </p:txBody>
      </p:sp>
      <p:sp>
        <p:nvSpPr>
          <p:cNvPr id="4" name="Shape 2"/>
          <p:cNvSpPr/>
          <p:nvPr/>
        </p:nvSpPr>
        <p:spPr>
          <a:xfrm>
            <a:off x="548640" y="1600200"/>
            <a:ext cx="100584" cy="100584"/>
          </a:xfrm>
          <a:prstGeom prst="ellipse">
            <a:avLst/>
          </a:prstGeom>
          <a:solidFill>
            <a:srgbClr val="29ADB2"/>
          </a:solidFill>
          <a:ln/>
        </p:spPr>
      </p:sp>
      <p:sp>
        <p:nvSpPr>
          <p:cNvPr id="5" name="Text 3"/>
          <p:cNvSpPr/>
          <p:nvPr/>
        </p:nvSpPr>
        <p:spPr>
          <a:xfrm>
            <a:off x="804672" y="147218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データ接続の参照確認：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本番スペースでのデータ接続が正しく設定され、開発用の接続情報が混入していないか確認する</a:t>
            </a:r>
            <a:endParaRPr lang="en-US" sz="1250" dirty="0"/>
          </a:p>
        </p:txBody>
      </p:sp>
      <p:sp>
        <p:nvSpPr>
          <p:cNvPr id="6" name="Shape 4"/>
          <p:cNvSpPr/>
          <p:nvPr/>
        </p:nvSpPr>
        <p:spPr>
          <a:xfrm>
            <a:off x="548640" y="2377440"/>
            <a:ext cx="100584" cy="100584"/>
          </a:xfrm>
          <a:prstGeom prst="ellipse">
            <a:avLst/>
          </a:prstGeom>
          <a:solidFill>
            <a:srgbClr val="29ADB2"/>
          </a:solidFill>
          <a:ln/>
        </p:spPr>
      </p:sp>
      <p:sp>
        <p:nvSpPr>
          <p:cNvPr id="7" name="Text 5"/>
          <p:cNvSpPr/>
          <p:nvPr/>
        </p:nvSpPr>
        <p:spPr>
          <a:xfrm>
            <a:off x="804672" y="224942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セクションアクセスの動作確認：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各ロールのテストユーザーでログインし、想定通りのデータ範囲が表示されるか確認する</a:t>
            </a:r>
            <a:endParaRPr lang="en-US" sz="1250" dirty="0"/>
          </a:p>
        </p:txBody>
      </p:sp>
      <p:sp>
        <p:nvSpPr>
          <p:cNvPr id="8" name="Shape 6"/>
          <p:cNvSpPr/>
          <p:nvPr/>
        </p:nvSpPr>
        <p:spPr>
          <a:xfrm>
            <a:off x="548640" y="3154680"/>
            <a:ext cx="100584" cy="100584"/>
          </a:xfrm>
          <a:prstGeom prst="ellipse">
            <a:avLst/>
          </a:prstGeom>
          <a:solidFill>
            <a:srgbClr val="29ADB2"/>
          </a:solidFill>
          <a:ln/>
        </p:spPr>
      </p:sp>
      <p:sp>
        <p:nvSpPr>
          <p:cNvPr id="9" name="Text 7"/>
          <p:cNvSpPr/>
          <p:nvPr/>
        </p:nvSpPr>
        <p:spPr>
          <a:xfrm>
            <a:off x="804672" y="3026664"/>
            <a:ext cx="5504688" cy="777240"/>
          </a:xfrm>
          <a:prstGeom prst="rect">
            <a:avLst/>
          </a:prstGeom>
          <a:noFill/>
          <a:ln/>
        </p:spPr>
        <p:txBody>
          <a:bodyPr wrap="square" lIns="0" tIns="0" rIns="0" bIns="0" rtlCol="0" anchor="t"/>
          <a:lstStyle/>
          <a:p>
            <a:pPr algn="l" indent="0" marL="0">
              <a:lnSpc>
                <a:spcPct val="125000"/>
              </a:lnSpc>
              <a:buNone/>
            </a:pPr>
            <a:r>
              <a:rPr lang="en-US" sz="1250" b="1" dirty="0">
                <a:solidFill>
                  <a:srgbClr val="0B3D2E"/>
                </a:solidFill>
                <a:latin typeface="Calibri" pitchFamily="34" charset="0"/>
                <a:ea typeface="Calibri" pitchFamily="34" charset="-122"/>
                <a:cs typeface="Calibri" pitchFamily="34" charset="-120"/>
              </a:rPr>
              <a:t>リロードスケジュールの設定： </a:t>
            </a:r>
            <a:pPr algn="l" indent="0" marL="0">
              <a:lnSpc>
                <a:spcPct val="125000"/>
              </a:lnSpc>
              <a:buNone/>
            </a:pPr>
            <a:r>
              <a:rPr lang="en-US" sz="1250" dirty="0">
                <a:solidFill>
                  <a:srgbClr val="1E293B"/>
                </a:solidFill>
                <a:latin typeface="Calibri" pitchFamily="34" charset="0"/>
                <a:ea typeface="Calibri" pitchFamily="34" charset="-122"/>
                <a:cs typeface="Calibri" pitchFamily="34" charset="-120"/>
              </a:rPr>
              <a:t>本番用のリロードタスクを設定し、開発時の手動リロード設定が残っていないか確認する</a:t>
            </a:r>
            <a:endParaRPr lang="en-US" sz="1250" dirty="0"/>
          </a:p>
        </p:txBody>
      </p:sp>
      <p:sp>
        <p:nvSpPr>
          <p:cNvPr id="10" name="Shape 8"/>
          <p:cNvSpPr/>
          <p:nvPr/>
        </p:nvSpPr>
        <p:spPr>
          <a:xfrm>
            <a:off x="548640" y="4069080"/>
            <a:ext cx="5760720" cy="1051560"/>
          </a:xfrm>
          <a:prstGeom prst="roundRect">
            <a:avLst>
              <a:gd name="adj" fmla="val 5217"/>
            </a:avLst>
          </a:prstGeom>
          <a:solidFill>
            <a:srgbClr val="F3FAF6"/>
          </a:solidFill>
          <a:ln/>
        </p:spPr>
      </p:sp>
      <p:sp>
        <p:nvSpPr>
          <p:cNvPr id="11" name="Text 9"/>
          <p:cNvSpPr/>
          <p:nvPr/>
        </p:nvSpPr>
        <p:spPr>
          <a:xfrm>
            <a:off x="777240" y="4178808"/>
            <a:ext cx="5303520" cy="274320"/>
          </a:xfrm>
          <a:prstGeom prst="rect">
            <a:avLst/>
          </a:prstGeom>
          <a:noFill/>
          <a:ln/>
        </p:spPr>
        <p:txBody>
          <a:bodyPr wrap="square" lIns="0" tIns="0" rIns="0" bIns="0" rtlCol="0" anchor="ctr"/>
          <a:lstStyle/>
          <a:p>
            <a:pPr algn="l" indent="0" marL="0">
              <a:buNone/>
            </a:pPr>
            <a:r>
              <a:rPr lang="en-US" sz="1200" b="1" dirty="0">
                <a:solidFill>
                  <a:srgbClr val="1F8A5F"/>
                </a:solidFill>
                <a:latin typeface="Calibri" pitchFamily="34" charset="0"/>
                <a:ea typeface="Calibri" pitchFamily="34" charset="-122"/>
                <a:cs typeface="Calibri" pitchFamily="34" charset="-120"/>
              </a:rPr>
              <a:t>ポイント</a:t>
            </a:r>
            <a:endParaRPr lang="en-US" sz="1200" dirty="0"/>
          </a:p>
        </p:txBody>
      </p:sp>
      <p:sp>
        <p:nvSpPr>
          <p:cNvPr id="12" name="Text 10"/>
          <p:cNvSpPr/>
          <p:nvPr/>
        </p:nvSpPr>
        <p:spPr>
          <a:xfrm>
            <a:off x="777240" y="4453128"/>
            <a:ext cx="5303520" cy="548640"/>
          </a:xfrm>
          <a:prstGeom prst="rect">
            <a:avLst/>
          </a:prstGeom>
          <a:noFill/>
          <a:ln/>
        </p:spPr>
        <p:txBody>
          <a:bodyPr wrap="square" lIns="0" tIns="0" rIns="0" bIns="0" rtlCol="0" anchor="t"/>
          <a:lstStyle/>
          <a:p>
            <a:pPr algn="l" indent="0" marL="0">
              <a:lnSpc>
                <a:spcPct val="120000"/>
              </a:lnSpc>
              <a:buNone/>
            </a:pPr>
            <a:r>
              <a:rPr lang="en-US" sz="1100" dirty="0">
                <a:solidFill>
                  <a:srgbClr val="1E293B"/>
                </a:solidFill>
                <a:latin typeface="Calibri" pitchFamily="34" charset="0"/>
                <a:ea typeface="Calibri" pitchFamily="34" charset="-122"/>
                <a:cs typeface="Calibri" pitchFamily="34" charset="-120"/>
              </a:rPr>
              <a:t>本番昇格チェックリストはチームで共通フォーマット化し、誰が昇格作業をしても同じ品質を担保できるようにしておく。</a:t>
            </a:r>
            <a:endParaRPr lang="en-US" sz="1100" dirty="0"/>
          </a:p>
        </p:txBody>
      </p:sp>
      <p:sp>
        <p:nvSpPr>
          <p:cNvPr id="13" name="Shape 11"/>
          <p:cNvSpPr/>
          <p:nvPr/>
        </p:nvSpPr>
        <p:spPr>
          <a:xfrm>
            <a:off x="6583680" y="1600200"/>
            <a:ext cx="5074920" cy="4937760"/>
          </a:xfrm>
          <a:prstGeom prst="roundRect">
            <a:avLst>
              <a:gd name="adj" fmla="val 1481"/>
            </a:avLst>
          </a:prstGeom>
          <a:solidFill>
            <a:srgbClr val="16322A"/>
          </a:solidFill>
          <a:ln/>
          <a:effectLst>
            <a:outerShdw sx="100000" sy="100000" kx="0" ky="0" algn="bl" rotWithShape="0" blurRad="50800" dist="19050" dir="2700000">
              <a:srgbClr val="000000">
                <a:alpha val="12000"/>
              </a:srgbClr>
            </a:outerShdw>
          </a:effectLst>
        </p:spPr>
      </p:sp>
      <p:sp>
        <p:nvSpPr>
          <p:cNvPr id="14" name="Shape 12"/>
          <p:cNvSpPr/>
          <p:nvPr/>
        </p:nvSpPr>
        <p:spPr>
          <a:xfrm>
            <a:off x="10725912" y="1746504"/>
            <a:ext cx="822960" cy="292608"/>
          </a:xfrm>
          <a:prstGeom prst="roundRect">
            <a:avLst>
              <a:gd name="adj" fmla="val 18750"/>
            </a:avLst>
          </a:prstGeom>
          <a:solidFill>
            <a:srgbClr val="1F8A5F"/>
          </a:solidFill>
          <a:ln/>
        </p:spPr>
      </p:sp>
      <p:sp>
        <p:nvSpPr>
          <p:cNvPr id="15" name="Text 13"/>
          <p:cNvSpPr/>
          <p:nvPr/>
        </p:nvSpPr>
        <p:spPr>
          <a:xfrm>
            <a:off x="10725912" y="1746504"/>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6" name="Text 14"/>
          <p:cNvSpPr/>
          <p:nvPr/>
        </p:nvSpPr>
        <p:spPr>
          <a:xfrm>
            <a:off x="6839712" y="1764792"/>
            <a:ext cx="4562856" cy="4608576"/>
          </a:xfrm>
          <a:prstGeom prst="rect">
            <a:avLst/>
          </a:prstGeom>
          <a:noFill/>
          <a:ln/>
        </p:spPr>
        <p:txBody>
          <a:bodyPr wrap="square" lIns="0" tIns="0" rIns="0" bIns="0" rtlCol="0" anchor="t"/>
          <a:lstStyle/>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公開前セルフチェック用の出力</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 本番昇格チェック ===';</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'スクリプトバージョン: v1.2';</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'リロード日時: ' &amp; Now();</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'実行ユーザー: ' &amp; OSUser();</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データ件数の妥当性確認</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'Orders件数: ' &amp;</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NoOfRows('Orders');</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TRACE 'Customers件数: ' &amp;</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NoOfRows('Customers');</a:t>
            </a:r>
            <a:endParaRPr lang="en-US" sz="950" dirty="0"/>
          </a:p>
          <a:p>
            <a:pPr algn="l" indent="0" marL="0">
              <a:lnSpc>
                <a:spcPct val="115000"/>
              </a:lnSpc>
              <a:buNone/>
            </a:pP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最終チェックは必ず人手で</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テストユーザーログインを</a:t>
            </a:r>
            <a:endParaRPr lang="en-US" sz="950" dirty="0"/>
          </a:p>
          <a:p>
            <a:pPr algn="l" indent="0" marL="0">
              <a:lnSpc>
                <a:spcPct val="115000"/>
              </a:lnSpc>
              <a:buNone/>
            </a:pPr>
            <a:r>
              <a:rPr lang="en-US" sz="950" dirty="0">
                <a:solidFill>
                  <a:srgbClr val="E8F5EF"/>
                </a:solidFill>
                <a:latin typeface="Courier New" pitchFamily="34" charset="0"/>
                <a:ea typeface="Courier New" pitchFamily="34" charset="-122"/>
                <a:cs typeface="Courier New" pitchFamily="34" charset="-120"/>
              </a:rPr>
              <a:t>// 実施してから本番公開する</a:t>
            </a:r>
            <a:endParaRPr lang="en-US" sz="9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18" name="Text 16"/>
          <p:cNvSpPr/>
          <p:nvPr/>
        </p:nvSpPr>
        <p:spPr>
          <a:xfrm>
            <a:off x="11365992"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6614A">
              <a:alpha val="45000"/>
            </a:srgbClr>
          </a:solidFill>
          <a:ln/>
        </p:spPr>
      </p:sp>
      <p:sp>
        <p:nvSpPr>
          <p:cNvPr id="3" name="Shape 1"/>
          <p:cNvSpPr/>
          <p:nvPr/>
        </p:nvSpPr>
        <p:spPr>
          <a:xfrm>
            <a:off x="10058400" y="4114800"/>
            <a:ext cx="3657600" cy="3657600"/>
          </a:xfrm>
          <a:prstGeom prst="ellipse">
            <a:avLst/>
          </a:prstGeom>
          <a:solidFill>
            <a:srgbClr val="1F8A5F">
              <a:alpha val="45000"/>
            </a:srgbClr>
          </a:solidFill>
          <a:ln/>
        </p:spPr>
      </p:sp>
      <p:sp>
        <p:nvSpPr>
          <p:cNvPr id="4" name="Text 2"/>
          <p:cNvSpPr/>
          <p:nvPr/>
        </p:nvSpPr>
        <p:spPr>
          <a:xfrm>
            <a:off x="640080" y="502920"/>
            <a:ext cx="10058400" cy="64008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まとめ：実装前チェックリスト</a:t>
            </a:r>
            <a:endParaRPr lang="en-US" sz="2600" dirty="0"/>
          </a:p>
        </p:txBody>
      </p:sp>
      <p:sp>
        <p:nvSpPr>
          <p:cNvPr id="5" name="Text 3"/>
          <p:cNvSpPr/>
          <p:nvPr/>
        </p:nvSpPr>
        <p:spPr>
          <a:xfrm>
            <a:off x="640080" y="1097280"/>
            <a:ext cx="7315200" cy="411480"/>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セキュリティ・運用管理編の振り返り</a:t>
            </a:r>
            <a:endParaRPr lang="en-US" sz="1300" dirty="0"/>
          </a:p>
        </p:txBody>
      </p:sp>
      <p:sp>
        <p:nvSpPr>
          <p:cNvPr id="6" name="Shape 4"/>
          <p:cNvSpPr/>
          <p:nvPr/>
        </p:nvSpPr>
        <p:spPr>
          <a:xfrm>
            <a:off x="640080" y="178308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7" name="Shape 5"/>
          <p:cNvSpPr/>
          <p:nvPr/>
        </p:nvSpPr>
        <p:spPr>
          <a:xfrm>
            <a:off x="868680" y="1993392"/>
            <a:ext cx="237744" cy="237744"/>
          </a:xfrm>
          <a:prstGeom prst="ellipse">
            <a:avLst/>
          </a:prstGeom>
          <a:solidFill>
            <a:srgbClr val="1F8A5F"/>
          </a:solidFill>
          <a:ln/>
        </p:spPr>
      </p:sp>
      <p:sp>
        <p:nvSpPr>
          <p:cNvPr id="8" name="Text 6"/>
          <p:cNvSpPr/>
          <p:nvPr/>
        </p:nvSpPr>
        <p:spPr>
          <a:xfrm>
            <a:off x="868680" y="199339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371600" y="178308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セクションアクセスのADMIN条件を特定ユーザーのみに限定しているか</a:t>
            </a:r>
            <a:endParaRPr lang="en-US" sz="1300" dirty="0"/>
          </a:p>
        </p:txBody>
      </p:sp>
      <p:sp>
        <p:nvSpPr>
          <p:cNvPr id="10" name="Shape 8"/>
          <p:cNvSpPr/>
          <p:nvPr/>
        </p:nvSpPr>
        <p:spPr>
          <a:xfrm>
            <a:off x="640080" y="256032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1" name="Shape 9"/>
          <p:cNvSpPr/>
          <p:nvPr/>
        </p:nvSpPr>
        <p:spPr>
          <a:xfrm>
            <a:off x="868680" y="2770632"/>
            <a:ext cx="237744" cy="237744"/>
          </a:xfrm>
          <a:prstGeom prst="ellipse">
            <a:avLst/>
          </a:prstGeom>
          <a:solidFill>
            <a:srgbClr val="1F8A5F"/>
          </a:solidFill>
          <a:ln/>
        </p:spPr>
      </p:sp>
      <p:sp>
        <p:nvSpPr>
          <p:cNvPr id="12" name="Text 10"/>
          <p:cNvSpPr/>
          <p:nvPr/>
        </p:nvSpPr>
        <p:spPr>
          <a:xfrm>
            <a:off x="868680" y="277063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371600" y="256032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本番公開前にテストユーザーでログインし表示データを確認したか</a:t>
            </a:r>
            <a:endParaRPr lang="en-US" sz="1300" dirty="0"/>
          </a:p>
        </p:txBody>
      </p:sp>
      <p:sp>
        <p:nvSpPr>
          <p:cNvPr id="14" name="Shape 12"/>
          <p:cNvSpPr/>
          <p:nvPr/>
        </p:nvSpPr>
        <p:spPr>
          <a:xfrm>
            <a:off x="640080" y="333756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5" name="Shape 13"/>
          <p:cNvSpPr/>
          <p:nvPr/>
        </p:nvSpPr>
        <p:spPr>
          <a:xfrm>
            <a:off x="868680" y="3547872"/>
            <a:ext cx="237744" cy="237744"/>
          </a:xfrm>
          <a:prstGeom prst="ellipse">
            <a:avLst/>
          </a:prstGeom>
          <a:solidFill>
            <a:srgbClr val="1F8A5F"/>
          </a:solidFill>
          <a:ln/>
        </p:spPr>
      </p:sp>
      <p:sp>
        <p:nvSpPr>
          <p:cNvPr id="16" name="Text 14"/>
          <p:cNvSpPr/>
          <p:nvPr/>
        </p:nvSpPr>
        <p:spPr>
          <a:xfrm>
            <a:off x="868680" y="354787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1371600" y="333756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開発・検証・本番でスペースを分離し、直接本番編集を避ける運用にしているか</a:t>
            </a:r>
            <a:endParaRPr lang="en-US" sz="1300" dirty="0"/>
          </a:p>
        </p:txBody>
      </p:sp>
      <p:sp>
        <p:nvSpPr>
          <p:cNvPr id="18" name="Shape 16"/>
          <p:cNvSpPr/>
          <p:nvPr/>
        </p:nvSpPr>
        <p:spPr>
          <a:xfrm>
            <a:off x="640080" y="411480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19" name="Shape 17"/>
          <p:cNvSpPr/>
          <p:nvPr/>
        </p:nvSpPr>
        <p:spPr>
          <a:xfrm>
            <a:off x="868680" y="4325112"/>
            <a:ext cx="237744" cy="237744"/>
          </a:xfrm>
          <a:prstGeom prst="ellipse">
            <a:avLst/>
          </a:prstGeom>
          <a:solidFill>
            <a:srgbClr val="1F8A5F"/>
          </a:solidFill>
          <a:ln/>
        </p:spPr>
      </p:sp>
      <p:sp>
        <p:nvSpPr>
          <p:cNvPr id="20" name="Text 18"/>
          <p:cNvSpPr/>
          <p:nvPr/>
        </p:nvSpPr>
        <p:spPr>
          <a:xfrm>
            <a:off x="868680" y="432511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1371600" y="411480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スペース・アプリの命名規則を統一し、部門/環境が一目で分かるようにしているか</a:t>
            </a:r>
            <a:endParaRPr lang="en-US" sz="1300" dirty="0"/>
          </a:p>
        </p:txBody>
      </p:sp>
      <p:sp>
        <p:nvSpPr>
          <p:cNvPr id="22" name="Shape 20"/>
          <p:cNvSpPr/>
          <p:nvPr/>
        </p:nvSpPr>
        <p:spPr>
          <a:xfrm>
            <a:off x="640080" y="489204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23" name="Shape 21"/>
          <p:cNvSpPr/>
          <p:nvPr/>
        </p:nvSpPr>
        <p:spPr>
          <a:xfrm>
            <a:off x="868680" y="5102352"/>
            <a:ext cx="237744" cy="237744"/>
          </a:xfrm>
          <a:prstGeom prst="ellipse">
            <a:avLst/>
          </a:prstGeom>
          <a:solidFill>
            <a:srgbClr val="1F8A5F"/>
          </a:solidFill>
          <a:ln/>
        </p:spPr>
      </p:sp>
      <p:sp>
        <p:nvSpPr>
          <p:cNvPr id="24" name="Text 22"/>
          <p:cNvSpPr/>
          <p:nvPr/>
        </p:nvSpPr>
        <p:spPr>
          <a:xfrm>
            <a:off x="868680" y="510235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1371600" y="489204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退職・異動者のアクセス権を定期的に棚卸し・削除する運用があるか</a:t>
            </a:r>
            <a:endParaRPr lang="en-US" sz="1300" dirty="0"/>
          </a:p>
        </p:txBody>
      </p:sp>
      <p:sp>
        <p:nvSpPr>
          <p:cNvPr id="26" name="Shape 24"/>
          <p:cNvSpPr/>
          <p:nvPr/>
        </p:nvSpPr>
        <p:spPr>
          <a:xfrm>
            <a:off x="640080" y="5669280"/>
            <a:ext cx="10927080" cy="658368"/>
          </a:xfrm>
          <a:prstGeom prst="roundRect">
            <a:avLst>
              <a:gd name="adj" fmla="val 6944"/>
            </a:avLst>
          </a:prstGeom>
          <a:solidFill>
            <a:srgbClr val="FFFFFF">
              <a:alpha val="8000"/>
            </a:srgbClr>
          </a:solidFill>
          <a:ln w="9525">
            <a:solidFill>
              <a:srgbClr val="1F8A5F">
                <a:alpha val="70000"/>
              </a:srgbClr>
            </a:solidFill>
            <a:prstDash val="solid"/>
          </a:ln>
        </p:spPr>
      </p:sp>
      <p:sp>
        <p:nvSpPr>
          <p:cNvPr id="27" name="Shape 25"/>
          <p:cNvSpPr/>
          <p:nvPr/>
        </p:nvSpPr>
        <p:spPr>
          <a:xfrm>
            <a:off x="868680" y="5879592"/>
            <a:ext cx="237744" cy="237744"/>
          </a:xfrm>
          <a:prstGeom prst="ellipse">
            <a:avLst/>
          </a:prstGeom>
          <a:solidFill>
            <a:srgbClr val="1F8A5F"/>
          </a:solidFill>
          <a:ln/>
        </p:spPr>
      </p:sp>
      <p:sp>
        <p:nvSpPr>
          <p:cNvPr id="28" name="Text 26"/>
          <p:cNvSpPr/>
          <p:nvPr/>
        </p:nvSpPr>
        <p:spPr>
          <a:xfrm>
            <a:off x="868680" y="5879592"/>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1371600" y="5669280"/>
            <a:ext cx="9966960" cy="658368"/>
          </a:xfrm>
          <a:prstGeom prst="rect">
            <a:avLst/>
          </a:prstGeom>
          <a:noFill/>
          <a:ln/>
        </p:spPr>
        <p:txBody>
          <a:bodyPr wrap="square" lIns="0" tIns="0" rIns="0" bIns="0" rtlCol="0" anchor="ctr"/>
          <a:lstStyle/>
          <a:p>
            <a:pPr algn="l" indent="0" marL="0">
              <a:buNone/>
            </a:pPr>
            <a:r>
              <a:rPr lang="en-US" sz="1300" dirty="0">
                <a:solidFill>
                  <a:srgbClr val="E8F5EF"/>
                </a:solidFill>
                <a:latin typeface="Calibri" pitchFamily="34" charset="0"/>
                <a:ea typeface="Calibri" pitchFamily="34" charset="-122"/>
                <a:cs typeface="Calibri" pitchFamily="34" charset="-120"/>
              </a:rPr>
              <a:t>スクリプトの変更履歴をコメントやGitで追跡できる状態にしているか</a:t>
            </a:r>
            <a:endParaRPr lang="en-US" sz="1300" dirty="0"/>
          </a:p>
        </p:txBody>
      </p:sp>
      <p:sp>
        <p:nvSpPr>
          <p:cNvPr id="30" name="Text 28"/>
          <p:cNvSpPr/>
          <p:nvPr/>
        </p:nvSpPr>
        <p:spPr>
          <a:xfrm>
            <a:off x="457200" y="6492240"/>
            <a:ext cx="6400800" cy="274320"/>
          </a:xfrm>
          <a:prstGeom prst="rect">
            <a:avLst/>
          </a:prstGeom>
          <a:noFill/>
          <a:ln/>
        </p:spPr>
        <p:txBody>
          <a:bodyPr wrap="square" lIns="0" tIns="0" rIns="0" bIns="0" rtlCol="0" anchor="ctr"/>
          <a:lstStyle/>
          <a:p>
            <a:pPr algn="l" indent="0" marL="0">
              <a:buNone/>
            </a:pPr>
            <a:r>
              <a:rPr lang="en-US" sz="900" dirty="0">
                <a:solidFill>
                  <a:srgbClr val="1F8A5F"/>
                </a:solidFill>
                <a:latin typeface="Calibri" pitchFamily="34" charset="0"/>
                <a:ea typeface="Calibri" pitchFamily="34" charset="-122"/>
                <a:cs typeface="Calibri" pitchFamily="34" charset="-120"/>
              </a:rPr>
              <a:t>Qlik Sense開発者ガイド⑤ セキュリティ・運用管理編</a:t>
            </a:r>
            <a:endParaRPr lang="en-US" sz="900" dirty="0"/>
          </a:p>
        </p:txBody>
      </p:sp>
      <p:sp>
        <p:nvSpPr>
          <p:cNvPr id="31" name="Text 29"/>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1F8A5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Qlik Sense開発者ガイド⑤ セキュリティ・運用管理編</dc:title>
  <dc:subject>PptxGenJS Presentation</dc:subject>
  <dc:creator>Qlik Sense Developer Series</dc:creator>
  <cp:lastModifiedBy>Qlik Sense Developer Series</cp:lastModifiedBy>
  <cp:revision>1</cp:revision>
  <dcterms:created xsi:type="dcterms:W3CDTF">2026-06-21T07:45:25Z</dcterms:created>
  <dcterms:modified xsi:type="dcterms:W3CDTF">2026-06-21T07:45:25Z</dcterms:modified>
</cp:coreProperties>
</file>