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16614A">
              <a:alpha val="40000"/>
            </a:srgbClr>
          </a:solidFill>
          <a:ln/>
        </p:spPr>
      </p:sp>
      <p:sp>
        <p:nvSpPr>
          <p:cNvPr id="3" name="Shape 1"/>
          <p:cNvSpPr/>
          <p:nvPr/>
        </p:nvSpPr>
        <p:spPr>
          <a:xfrm>
            <a:off x="10515600" y="3840480"/>
            <a:ext cx="2926080" cy="2926080"/>
          </a:xfrm>
          <a:prstGeom prst="ellipse">
            <a:avLst/>
          </a:prstGeom>
          <a:solidFill>
            <a:srgbClr val="1F8A5F">
              <a:alpha val="45000"/>
            </a:srgbClr>
          </a:solidFill>
          <a:ln/>
        </p:spPr>
      </p:sp>
      <p:sp>
        <p:nvSpPr>
          <p:cNvPr id="4" name="Shape 2"/>
          <p:cNvSpPr/>
          <p:nvPr/>
        </p:nvSpPr>
        <p:spPr>
          <a:xfrm>
            <a:off x="-1097280" y="4572000"/>
            <a:ext cx="3657600" cy="3657600"/>
          </a:xfrm>
          <a:prstGeom prst="ellipse">
            <a:avLst/>
          </a:prstGeom>
          <a:solidFill>
            <a:srgbClr val="16614A">
              <a:alpha val="35000"/>
            </a:srgbClr>
          </a:solidFill>
          <a:ln/>
        </p:spPr>
      </p:sp>
      <p:pic>
        <p:nvPicPr>
          <p:cNvPr id="5" name="Image 0" descr="assets/qlik_mark_white.png">    </p:cNvPr>
          <p:cNvPicPr>
            <a:picLocks noChangeAspect="1"/>
          </p:cNvPicPr>
          <p:nvPr/>
        </p:nvPicPr>
        <p:blipFill>
          <a:blip r:embed="rId1"/>
          <a:stretch>
            <a:fillRect/>
          </a:stretch>
        </p:blipFill>
        <p:spPr>
          <a:xfrm>
            <a:off x="548640" y="594360"/>
            <a:ext cx="411480" cy="411480"/>
          </a:xfrm>
          <a:prstGeom prst="rect">
            <a:avLst/>
          </a:prstGeom>
        </p:spPr>
      </p:pic>
      <p:sp>
        <p:nvSpPr>
          <p:cNvPr id="6" name="Text 3"/>
          <p:cNvSpPr/>
          <p:nvPr/>
        </p:nvSpPr>
        <p:spPr>
          <a:xfrm>
            <a:off x="1097280" y="548640"/>
            <a:ext cx="5486400" cy="457200"/>
          </a:xfrm>
          <a:prstGeom prst="rect">
            <a:avLst/>
          </a:prstGeom>
          <a:noFill/>
          <a:ln/>
        </p:spPr>
        <p:txBody>
          <a:bodyPr wrap="square" lIns="0" tIns="0" rIns="0" bIns="0" rtlCol="0" anchor="ctr"/>
          <a:lstStyle/>
          <a:p>
            <a:pPr algn="l" indent="0" marL="0">
              <a:buNone/>
            </a:pPr>
            <a:r>
              <a:rPr lang="en-US" sz="1300" dirty="0">
                <a:solidFill>
                  <a:srgbClr val="DCEFE5"/>
                </a:solidFill>
                <a:latin typeface="Calibri" pitchFamily="34" charset="0"/>
                <a:ea typeface="Calibri" pitchFamily="34" charset="-122"/>
                <a:cs typeface="Calibri" pitchFamily="34" charset="-120"/>
              </a:rPr>
              <a:t>開発者向けシリーズ　第3回</a:t>
            </a:r>
            <a:endParaRPr lang="en-US" sz="1300" dirty="0"/>
          </a:p>
        </p:txBody>
      </p:sp>
      <p:sp>
        <p:nvSpPr>
          <p:cNvPr id="7" name="Text 4"/>
          <p:cNvSpPr/>
          <p:nvPr/>
        </p:nvSpPr>
        <p:spPr>
          <a:xfrm>
            <a:off x="548640" y="1371600"/>
            <a:ext cx="82296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Qlik Sense 開発者ガイド</a:t>
            </a:r>
            <a:endParaRPr lang="en-US" sz="4000" dirty="0"/>
          </a:p>
        </p:txBody>
      </p:sp>
      <p:sp>
        <p:nvSpPr>
          <p:cNvPr id="8" name="Text 5"/>
          <p:cNvSpPr/>
          <p:nvPr/>
        </p:nvSpPr>
        <p:spPr>
          <a:xfrm>
            <a:off x="548640" y="2148840"/>
            <a:ext cx="8229600" cy="548640"/>
          </a:xfrm>
          <a:prstGeom prst="rect">
            <a:avLst/>
          </a:prstGeom>
          <a:noFill/>
          <a:ln/>
        </p:spPr>
        <p:txBody>
          <a:bodyPr wrap="square" lIns="0" tIns="0" rIns="0" bIns="0" rtlCol="0" anchor="ctr"/>
          <a:lstStyle/>
          <a:p>
            <a:pPr algn="l" indent="0" marL="0">
              <a:buNone/>
            </a:pPr>
            <a:r>
              <a:rPr lang="en-US" sz="2200" dirty="0">
                <a:solidFill>
                  <a:srgbClr val="E8F5EF"/>
                </a:solidFill>
                <a:latin typeface="Cambria" pitchFamily="34" charset="0"/>
                <a:ea typeface="Cambria" pitchFamily="34" charset="-122"/>
                <a:cs typeface="Cambria" pitchFamily="34" charset="-120"/>
              </a:rPr>
              <a:t>可視化・Set Analysis実践編</a:t>
            </a:r>
            <a:endParaRPr lang="en-US" sz="2200" dirty="0"/>
          </a:p>
        </p:txBody>
      </p:sp>
      <p:sp>
        <p:nvSpPr>
          <p:cNvPr id="9" name="Text 6"/>
          <p:cNvSpPr/>
          <p:nvPr/>
        </p:nvSpPr>
        <p:spPr>
          <a:xfrm>
            <a:off x="548640" y="2788920"/>
            <a:ext cx="9601200" cy="457200"/>
          </a:xfrm>
          <a:prstGeom prst="rect">
            <a:avLst/>
          </a:prstGeom>
          <a:noFill/>
          <a:ln/>
        </p:spPr>
        <p:txBody>
          <a:bodyPr wrap="square" lIns="0" tIns="0" rIns="0" bIns="0" rtlCol="0" anchor="ctr"/>
          <a:lstStyle/>
          <a:p>
            <a:pPr algn="l" indent="0" marL="0">
              <a:buNone/>
            </a:pPr>
            <a:r>
              <a:rPr lang="en-US" sz="1400" dirty="0">
                <a:solidFill>
                  <a:srgbClr val="DCEFE5"/>
                </a:solidFill>
                <a:latin typeface="Calibri" pitchFamily="34" charset="0"/>
                <a:ea typeface="Calibri" pitchFamily="34" charset="-122"/>
                <a:cs typeface="Calibri" pitchFamily="34" charset="-120"/>
              </a:rPr>
              <a:t>Set Analysis構文・マスター項目・チャート設計を実務レベルで身につける</a:t>
            </a:r>
            <a:endParaRPr lang="en-US" sz="1400" dirty="0"/>
          </a:p>
        </p:txBody>
      </p:sp>
      <p:sp>
        <p:nvSpPr>
          <p:cNvPr id="10" name="Shape 7"/>
          <p:cNvSpPr/>
          <p:nvPr/>
        </p:nvSpPr>
        <p:spPr>
          <a:xfrm>
            <a:off x="548640" y="3749040"/>
            <a:ext cx="1248156"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1" name="Text 8"/>
          <p:cNvSpPr/>
          <p:nvPr/>
        </p:nvSpPr>
        <p:spPr>
          <a:xfrm>
            <a:off x="548640" y="3749040"/>
            <a:ext cx="1248156"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① スクリプト開発</a:t>
            </a:r>
            <a:endParaRPr lang="en-US" sz="1050" dirty="0"/>
          </a:p>
        </p:txBody>
      </p:sp>
      <p:sp>
        <p:nvSpPr>
          <p:cNvPr id="12" name="Shape 9"/>
          <p:cNvSpPr/>
          <p:nvPr/>
        </p:nvSpPr>
        <p:spPr>
          <a:xfrm>
            <a:off x="1933956" y="3749040"/>
            <a:ext cx="1344168"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3" name="Text 10"/>
          <p:cNvSpPr/>
          <p:nvPr/>
        </p:nvSpPr>
        <p:spPr>
          <a:xfrm>
            <a:off x="1933956" y="3749040"/>
            <a:ext cx="1344168"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② データモデリング</a:t>
            </a:r>
            <a:endParaRPr lang="en-US" sz="1050" dirty="0"/>
          </a:p>
        </p:txBody>
      </p:sp>
      <p:sp>
        <p:nvSpPr>
          <p:cNvPr id="14" name="Shape 11"/>
          <p:cNvSpPr/>
          <p:nvPr/>
        </p:nvSpPr>
        <p:spPr>
          <a:xfrm>
            <a:off x="3415284" y="3749040"/>
            <a:ext cx="2112264" cy="365760"/>
          </a:xfrm>
          <a:prstGeom prst="roundRect">
            <a:avLst>
              <a:gd name="adj" fmla="val 50000"/>
            </a:avLst>
          </a:prstGeom>
          <a:solidFill>
            <a:srgbClr val="1F8A5F"/>
          </a:solidFill>
          <a:ln w="12700">
            <a:solidFill>
              <a:srgbClr val="E8F5EF">
                <a:alpha val="0"/>
              </a:srgbClr>
            </a:solidFill>
            <a:prstDash val="solid"/>
          </a:ln>
        </p:spPr>
      </p:sp>
      <p:sp>
        <p:nvSpPr>
          <p:cNvPr id="15" name="Text 12"/>
          <p:cNvSpPr/>
          <p:nvPr/>
        </p:nvSpPr>
        <p:spPr>
          <a:xfrm>
            <a:off x="3415284" y="3749040"/>
            <a:ext cx="2112264"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③ 可視化/Set Analysis</a:t>
            </a:r>
            <a:endParaRPr lang="en-US" sz="1050" dirty="0"/>
          </a:p>
        </p:txBody>
      </p:sp>
      <p:sp>
        <p:nvSpPr>
          <p:cNvPr id="16" name="Shape 13"/>
          <p:cNvSpPr/>
          <p:nvPr/>
        </p:nvSpPr>
        <p:spPr>
          <a:xfrm>
            <a:off x="5664708" y="3749040"/>
            <a:ext cx="1248156"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7" name="Text 14"/>
          <p:cNvSpPr/>
          <p:nvPr/>
        </p:nvSpPr>
        <p:spPr>
          <a:xfrm>
            <a:off x="5664708" y="3749040"/>
            <a:ext cx="1248156"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④ パフォーマンス</a:t>
            </a:r>
            <a:endParaRPr lang="en-US" sz="1050" dirty="0"/>
          </a:p>
        </p:txBody>
      </p:sp>
      <p:sp>
        <p:nvSpPr>
          <p:cNvPr id="18" name="Shape 15"/>
          <p:cNvSpPr/>
          <p:nvPr/>
        </p:nvSpPr>
        <p:spPr>
          <a:xfrm>
            <a:off x="7050024" y="3749040"/>
            <a:ext cx="1440180"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9" name="Text 16"/>
          <p:cNvSpPr/>
          <p:nvPr/>
        </p:nvSpPr>
        <p:spPr>
          <a:xfrm>
            <a:off x="7050024" y="3749040"/>
            <a:ext cx="1440180"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⑤ セキュリティ/運用</a:t>
            </a:r>
            <a:endParaRPr lang="en-US" sz="1050" dirty="0"/>
          </a:p>
        </p:txBody>
      </p:sp>
      <p:sp>
        <p:nvSpPr>
          <p:cNvPr id="20" name="Shape 17"/>
          <p:cNvSpPr/>
          <p:nvPr/>
        </p:nvSpPr>
        <p:spPr>
          <a:xfrm>
            <a:off x="8627364" y="3749040"/>
            <a:ext cx="864108"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21" name="Text 18"/>
          <p:cNvSpPr/>
          <p:nvPr/>
        </p:nvSpPr>
        <p:spPr>
          <a:xfrm>
            <a:off x="8627364" y="3749040"/>
            <a:ext cx="864108"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⑥ 自動化</a:t>
            </a:r>
            <a:endParaRPr lang="en-US" sz="1050" dirty="0"/>
          </a:p>
        </p:txBody>
      </p:sp>
      <p:sp>
        <p:nvSpPr>
          <p:cNvPr id="22" name="Shape 19"/>
          <p:cNvSpPr/>
          <p:nvPr/>
        </p:nvSpPr>
        <p:spPr>
          <a:xfrm>
            <a:off x="9628632" y="3749040"/>
            <a:ext cx="960120"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23" name="Text 20"/>
          <p:cNvSpPr/>
          <p:nvPr/>
        </p:nvSpPr>
        <p:spPr>
          <a:xfrm>
            <a:off x="9628632" y="3749040"/>
            <a:ext cx="960120"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⑦ AI機能</a:t>
            </a:r>
            <a:endParaRPr lang="en-US" sz="1050" dirty="0"/>
          </a:p>
        </p:txBody>
      </p:sp>
      <p:sp>
        <p:nvSpPr>
          <p:cNvPr id="24" name="Text 21"/>
          <p:cNvSpPr/>
          <p:nvPr/>
        </p:nvSpPr>
        <p:spPr>
          <a:xfrm>
            <a:off x="548640" y="6446520"/>
            <a:ext cx="8229600" cy="274320"/>
          </a:xfrm>
          <a:prstGeom prst="rect">
            <a:avLst/>
          </a:prstGeom>
          <a:noFill/>
          <a:ln/>
        </p:spPr>
        <p:txBody>
          <a:bodyPr wrap="square" lIns="0" tIns="0" rIns="0" bIns="0" rtlCol="0" anchor="ctr"/>
          <a:lstStyle/>
          <a:p>
            <a:pPr algn="l" indent="0" marL="0">
              <a:buNone/>
            </a:pPr>
            <a:r>
              <a:rPr lang="en-US" sz="950" dirty="0">
                <a:solidFill>
                  <a:srgbClr val="E8F5EF"/>
                </a:solidFill>
                <a:latin typeface="Calibri" pitchFamily="34" charset="0"/>
                <a:ea typeface="Calibri" pitchFamily="34" charset="-122"/>
                <a:cs typeface="Calibri" pitchFamily="34" charset="-120"/>
              </a:rPr>
              <a:t>Qlik Sense開発者ガイド③ 可視化・Set Analysis実践編</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本日のアジェンダ</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可視化・Set Analysis実践編で扱う7つのトピック</a:t>
            </a:r>
            <a:endParaRPr lang="en-US" sz="1300" dirty="0"/>
          </a:p>
        </p:txBody>
      </p:sp>
      <p:sp>
        <p:nvSpPr>
          <p:cNvPr id="4" name="Shape 2"/>
          <p:cNvSpPr/>
          <p:nvPr/>
        </p:nvSpPr>
        <p:spPr>
          <a:xfrm>
            <a:off x="548640"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5" name="Text 3"/>
          <p:cNvSpPr/>
          <p:nvPr/>
        </p:nvSpPr>
        <p:spPr>
          <a:xfrm>
            <a:off x="731520"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804672"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オブジェクトとマスター項目</a:t>
            </a:r>
            <a:endParaRPr lang="en-US" sz="1400" dirty="0"/>
          </a:p>
        </p:txBody>
      </p:sp>
      <p:sp>
        <p:nvSpPr>
          <p:cNvPr id="7" name="Text 5"/>
          <p:cNvSpPr/>
          <p:nvPr/>
        </p:nvSpPr>
        <p:spPr>
          <a:xfrm>
            <a:off x="804672"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シートオブジェクトとライブラリの基本構造</a:t>
            </a:r>
            <a:endParaRPr lang="en-US" sz="1000" dirty="0"/>
          </a:p>
        </p:txBody>
      </p:sp>
      <p:sp>
        <p:nvSpPr>
          <p:cNvPr id="8" name="Shape 6"/>
          <p:cNvSpPr/>
          <p:nvPr/>
        </p:nvSpPr>
        <p:spPr>
          <a:xfrm>
            <a:off x="4005072"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9" name="Text 7"/>
          <p:cNvSpPr/>
          <p:nvPr/>
        </p:nvSpPr>
        <p:spPr>
          <a:xfrm>
            <a:off x="4187952"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4261104"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Set Analysis基礎構文</a:t>
            </a:r>
            <a:endParaRPr lang="en-US" sz="1400" dirty="0"/>
          </a:p>
        </p:txBody>
      </p:sp>
      <p:sp>
        <p:nvSpPr>
          <p:cNvPr id="11" name="Text 9"/>
          <p:cNvSpPr/>
          <p:nvPr/>
        </p:nvSpPr>
        <p:spPr>
          <a:xfrm>
            <a:off x="4261104"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中括弧記法と修飾子・演算子の基本</a:t>
            </a:r>
            <a:endParaRPr lang="en-US" sz="1000" dirty="0"/>
          </a:p>
        </p:txBody>
      </p:sp>
      <p:sp>
        <p:nvSpPr>
          <p:cNvPr id="12" name="Shape 10"/>
          <p:cNvSpPr/>
          <p:nvPr/>
        </p:nvSpPr>
        <p:spPr>
          <a:xfrm>
            <a:off x="7461504"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13" name="Text 11"/>
          <p:cNvSpPr/>
          <p:nvPr/>
        </p:nvSpPr>
        <p:spPr>
          <a:xfrm>
            <a:off x="7644384"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7717536"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比較期間の実務パターン</a:t>
            </a:r>
            <a:endParaRPr lang="en-US" sz="1400" dirty="0"/>
          </a:p>
        </p:txBody>
      </p:sp>
      <p:sp>
        <p:nvSpPr>
          <p:cNvPr id="15" name="Text 13"/>
          <p:cNvSpPr/>
          <p:nvPr/>
        </p:nvSpPr>
        <p:spPr>
          <a:xfrm>
            <a:off x="7717536"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前年同期・累計・移動平均の定番テクニック</a:t>
            </a:r>
            <a:endParaRPr lang="en-US" sz="1000" dirty="0"/>
          </a:p>
        </p:txBody>
      </p:sp>
      <p:sp>
        <p:nvSpPr>
          <p:cNvPr id="16" name="Shape 14"/>
          <p:cNvSpPr/>
          <p:nvPr/>
        </p:nvSpPr>
        <p:spPr>
          <a:xfrm>
            <a:off x="548640"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17" name="Text 15"/>
          <p:cNvSpPr/>
          <p:nvPr/>
        </p:nvSpPr>
        <p:spPr>
          <a:xfrm>
            <a:off x="731520"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804672"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除外・複数条件の組み合わせ</a:t>
            </a:r>
            <a:endParaRPr lang="en-US" sz="1400" dirty="0"/>
          </a:p>
        </p:txBody>
      </p:sp>
      <p:sp>
        <p:nvSpPr>
          <p:cNvPr id="19" name="Text 17"/>
          <p:cNvSpPr/>
          <p:nvPr/>
        </p:nvSpPr>
        <p:spPr>
          <a:xfrm>
            <a:off x="804672"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AND/OR/NOTと複数フィールド条件の書き方</a:t>
            </a:r>
            <a:endParaRPr lang="en-US" sz="1000" dirty="0"/>
          </a:p>
        </p:txBody>
      </p:sp>
      <p:sp>
        <p:nvSpPr>
          <p:cNvPr id="20" name="Shape 18"/>
          <p:cNvSpPr/>
          <p:nvPr/>
        </p:nvSpPr>
        <p:spPr>
          <a:xfrm>
            <a:off x="4005072"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1" name="Text 19"/>
          <p:cNvSpPr/>
          <p:nvPr/>
        </p:nvSpPr>
        <p:spPr>
          <a:xfrm>
            <a:off x="4187952"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4261104"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変数との併用</a:t>
            </a:r>
            <a:endParaRPr lang="en-US" sz="1400" dirty="0"/>
          </a:p>
        </p:txBody>
      </p:sp>
      <p:sp>
        <p:nvSpPr>
          <p:cNvPr id="23" name="Text 21"/>
          <p:cNvSpPr/>
          <p:nvPr/>
        </p:nvSpPr>
        <p:spPr>
          <a:xfrm>
            <a:off x="4261104"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Set Analysis式を変数化して再利用する設計</a:t>
            </a:r>
            <a:endParaRPr lang="en-US" sz="1000" dirty="0"/>
          </a:p>
        </p:txBody>
      </p:sp>
      <p:sp>
        <p:nvSpPr>
          <p:cNvPr id="24" name="Shape 22"/>
          <p:cNvSpPr/>
          <p:nvPr/>
        </p:nvSpPr>
        <p:spPr>
          <a:xfrm>
            <a:off x="7461504"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5" name="Text 23"/>
          <p:cNvSpPr/>
          <p:nvPr/>
        </p:nvSpPr>
        <p:spPr>
          <a:xfrm>
            <a:off x="7644384"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06</a:t>
            </a:r>
            <a:endParaRPr lang="en-US" sz="2400" dirty="0"/>
          </a:p>
        </p:txBody>
      </p:sp>
      <p:sp>
        <p:nvSpPr>
          <p:cNvPr id="26" name="Text 24"/>
          <p:cNvSpPr/>
          <p:nvPr/>
        </p:nvSpPr>
        <p:spPr>
          <a:xfrm>
            <a:off x="7717536"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チャート選定の基本</a:t>
            </a:r>
            <a:endParaRPr lang="en-US" sz="1400" dirty="0"/>
          </a:p>
        </p:txBody>
      </p:sp>
      <p:sp>
        <p:nvSpPr>
          <p:cNvPr id="27" name="Text 25"/>
          <p:cNvSpPr/>
          <p:nvPr/>
        </p:nvSpPr>
        <p:spPr>
          <a:xfrm>
            <a:off x="7717536"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伝えたいことに応じたグラフタイプの選び方</a:t>
            </a:r>
            <a:endParaRPr lang="en-US" sz="1000" dirty="0"/>
          </a:p>
        </p:txBody>
      </p:sp>
      <p:sp>
        <p:nvSpPr>
          <p:cNvPr id="28" name="Shape 26"/>
          <p:cNvSpPr/>
          <p:nvPr/>
        </p:nvSpPr>
        <p:spPr>
          <a:xfrm>
            <a:off x="548640" y="4370832"/>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9" name="Text 27"/>
          <p:cNvSpPr/>
          <p:nvPr/>
        </p:nvSpPr>
        <p:spPr>
          <a:xfrm>
            <a:off x="731520" y="4480560"/>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07</a:t>
            </a:r>
            <a:endParaRPr lang="en-US" sz="2400" dirty="0"/>
          </a:p>
        </p:txBody>
      </p:sp>
      <p:sp>
        <p:nvSpPr>
          <p:cNvPr id="30" name="Text 28"/>
          <p:cNvSpPr/>
          <p:nvPr/>
        </p:nvSpPr>
        <p:spPr>
          <a:xfrm>
            <a:off x="804672" y="5084064"/>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表現エディタのデバッグ術</a:t>
            </a:r>
            <a:endParaRPr lang="en-US" sz="1400" dirty="0"/>
          </a:p>
        </p:txBody>
      </p:sp>
      <p:sp>
        <p:nvSpPr>
          <p:cNvPr id="31" name="Text 29"/>
          <p:cNvSpPr/>
          <p:nvPr/>
        </p:nvSpPr>
        <p:spPr>
          <a:xfrm>
            <a:off x="804672" y="5431536"/>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式が想定通り動かない時の切り分け手順</a:t>
            </a:r>
            <a:endParaRPr lang="en-US" sz="1000" dirty="0"/>
          </a:p>
        </p:txBody>
      </p:sp>
      <p:sp>
        <p:nvSpPr>
          <p:cNvPr id="32" name="Text 30"/>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33" name="Text 31"/>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オブジェクトとマスター項目</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シートオブジェクトとライブラリの基本構造</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シートオブジェクト：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KPI・チャート・テーブルなど、シート上に配置する可視化部品の総称</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マスター項目/指標：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ディメンションや指標式を一元管理し、複数オブジェクトから再利用できるライブラリ機能</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式(Expression)：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集計関数+Set Analysisで構成される指標の計算ロジック。チャート毎に個別記述も可能</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同じ指標を複数チャートで使うなら必ずマスター指標化する。修正が一箇所で済み、表記ゆれも防げる。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Set Analysisの基本形(式エディタに記述)</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構造の内訳:</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Sum( ... )      : 集計関数</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{&lt; ... &gt;}        : Set修飾子</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Year={2024}      : フィールド=値の条件</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           : 集計対象フィールド</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マスター指標として登録すれば</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複数のチャートから</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'Sales_2024' のように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名前だけで呼び出せる</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Set Analysis基礎構文</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中括弧記法と修飾子・演算子の基本</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{&lt; &gt;} 修飾子：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デフォルトの選択状態を一時的に上書きする。フィールド名={値}の形式で条件を指定する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 記号：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現在の選択状態を表す。{$&lt;Year={2024}&gt;}のように使い、現在の選択を引き継ぎつつ条件追加する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複数値の指定：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{'A','B'}のようにカンマ区切りで複数値を指定すると、OR条件として扱われる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$を省略すると選択状態を完全に無視した独立集計になる。現在の選択を活かしたい場合は必ず$&lt;...&gt;を使う。</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選択を無視して2024年のみ集計</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現在の選択を維持しつつ年だけ固定</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複数値(OR条件)</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Sum({&lt;Region={'East','West'}&gt;}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数値演算子も使用可能</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Sum({&lt;Year={"&gt;=2023"}&gt;}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フィールド自体を除外</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Sum({&lt;Year=&gt;}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Year条件をクリアして集計</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比較期間の実務パターン</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前年同期・累計・移動平均の定番テクニック</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前年同期比：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Year=Max(Year)-1のように、選択中の年から1を引いた値をSet Analysis内で動的に算出する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累計(YTD)：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&lt;=で日付の上限を指定し、年初から選択月までの累積を集計する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移動平均：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Above/Beforeなどのチャート内関数と組み合わせ、直近N期間の平均を算出する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Max(Year)のような集計関数はSet Analysis内では選択を無視して全体から計算される点に注意。意図と違う挙動の原因になりやすい。</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前年同期比(選択年-1を動的に算出)</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Sum({&lt;Year={"$(=Max(Year)-1)"}&gt;}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年初来累計(YTD)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Sum({&lt;OrderDate=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{"&lt;=$(=Max(OrderDate))"}&gt;}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前年比成長率</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(Sum({&lt;Year={"$(=Max(Year))"}&gt;}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Sum({&lt;Year={"$(=Max(Year)-1)"}&gt;}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 - 1)</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直近3ヶ月移動平均(チャート式内)</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Avg(Aggr(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Sum(Amount), Month</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除外・複数条件の組み合わせ</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AND/OR/NOTと複数フィールド条件の書き方</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複数フィールドAND：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{&lt;Year={2024}, Region={'East'}&gt;}のようにカンマ区切りで複数フィールドを指定すると暗黙のANDになる</a:t>
            </a:r>
            <a:endParaRPr lang="en-US" sz="1250" dirty="0"/>
          </a:p>
        </p:txBody>
      </p:sp>
      <p:sp>
        <p:nvSpPr>
          <p:cNvPr id="6" name="Shape 4"/>
          <p:cNvSpPr/>
          <p:nvPr/>
        </p:nvSpPr>
        <p:spPr>
          <a:xfrm>
            <a:off x="548640" y="2167128"/>
            <a:ext cx="100584" cy="100584"/>
          </a:xfrm>
          <a:prstGeom prst="ellipse">
            <a:avLst/>
          </a:prstGeom>
          <a:solidFill>
            <a:srgbClr val="29ADB2"/>
          </a:solidFill>
          <a:ln/>
        </p:spPr>
      </p:sp>
      <p:sp>
        <p:nvSpPr>
          <p:cNvPr id="7" name="Text 5"/>
          <p:cNvSpPr/>
          <p:nvPr/>
        </p:nvSpPr>
        <p:spPr>
          <a:xfrm>
            <a:off x="804672" y="2039112"/>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除外集合(-)：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{&lt;Region-={'West'}&gt;}のように-=を使うと、現在の選択からその値を除外する</a:t>
            </a:r>
            <a:endParaRPr lang="en-US" sz="1250" dirty="0"/>
          </a:p>
        </p:txBody>
      </p:sp>
      <p:sp>
        <p:nvSpPr>
          <p:cNvPr id="8" name="Shape 6"/>
          <p:cNvSpPr/>
          <p:nvPr/>
        </p:nvSpPr>
        <p:spPr>
          <a:xfrm>
            <a:off x="548640" y="2734056"/>
            <a:ext cx="100584" cy="100584"/>
          </a:xfrm>
          <a:prstGeom prst="ellipse">
            <a:avLst/>
          </a:prstGeom>
          <a:solidFill>
            <a:srgbClr val="29ADB2"/>
          </a:solidFill>
          <a:ln/>
        </p:spPr>
      </p:sp>
      <p:sp>
        <p:nvSpPr>
          <p:cNvPr id="9" name="Text 7"/>
          <p:cNvSpPr/>
          <p:nvPr/>
        </p:nvSpPr>
        <p:spPr>
          <a:xfrm>
            <a:off x="804672" y="2606040"/>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集合演算子：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+(OR)、*(AND)、-(NOT)を複数のSet定義同士で組み合わせ、複雑な条件を表現できる</a:t>
            </a:r>
            <a:endParaRPr lang="en-US" sz="1250" dirty="0"/>
          </a:p>
        </p:txBody>
      </p:sp>
      <p:sp>
        <p:nvSpPr>
          <p:cNvPr id="10" name="Shape 8"/>
          <p:cNvSpPr/>
          <p:nvPr/>
        </p:nvSpPr>
        <p:spPr>
          <a:xfrm>
            <a:off x="548640" y="3337560"/>
            <a:ext cx="5760720" cy="3200400"/>
          </a:xfrm>
          <a:prstGeom prst="roundRect">
            <a:avLst>
              <a:gd name="adj" fmla="val 2286"/>
            </a:avLst>
          </a:prstGeom>
          <a:solidFill>
            <a:srgbClr val="16322A"/>
          </a:solidFill>
          <a:ln/>
          <a:effectLst>
            <a:outerShdw sx="100000" sy="100000" kx="0" ky="0" algn="bl" rotWithShape="0" blurRad="50800" dist="19050" dir="2700000">
              <a:srgbClr val="000000">
                <a:alpha val="12000"/>
              </a:srgbClr>
            </a:outerShdw>
          </a:effectLst>
        </p:spPr>
      </p:sp>
      <p:sp>
        <p:nvSpPr>
          <p:cNvPr id="11" name="Shape 9"/>
          <p:cNvSpPr/>
          <p:nvPr/>
        </p:nvSpPr>
        <p:spPr>
          <a:xfrm>
            <a:off x="5376672" y="3483864"/>
            <a:ext cx="822960" cy="292608"/>
          </a:xfrm>
          <a:prstGeom prst="roundRect">
            <a:avLst>
              <a:gd name="adj" fmla="val 18750"/>
            </a:avLst>
          </a:prstGeom>
          <a:solidFill>
            <a:srgbClr val="1F8A5F"/>
          </a:solidFill>
          <a:ln/>
        </p:spPr>
      </p:sp>
      <p:sp>
        <p:nvSpPr>
          <p:cNvPr id="12" name="Text 10"/>
          <p:cNvSpPr/>
          <p:nvPr/>
        </p:nvSpPr>
        <p:spPr>
          <a:xfrm>
            <a:off x="5376672" y="348386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3" name="Text 11"/>
          <p:cNvSpPr/>
          <p:nvPr/>
        </p:nvSpPr>
        <p:spPr>
          <a:xfrm>
            <a:off x="804672" y="3502152"/>
            <a:ext cx="5248656" cy="287121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複数フィールドのAND条件</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Sum({&lt;Year={2024}, Region={'East'}&gt;}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特定の値を除外</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Sum({&lt;Region-={'West'}&gt;}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2つのSet定義をOR結合</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Sum({&lt;Year={2024}&gt; + &lt;Year={2023}&gt;}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a:t>
            </a:r>
            <a:endParaRPr lang="en-US" sz="950" dirty="0"/>
          </a:p>
        </p:txBody>
      </p:sp>
      <p:sp>
        <p:nvSpPr>
          <p:cNvPr id="14" name="Shape 12"/>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5" name="Shape 13"/>
          <p:cNvSpPr/>
          <p:nvPr/>
        </p:nvSpPr>
        <p:spPr>
          <a:xfrm>
            <a:off x="10725912" y="1746504"/>
            <a:ext cx="822960" cy="292608"/>
          </a:xfrm>
          <a:prstGeom prst="roundRect">
            <a:avLst>
              <a:gd name="adj" fmla="val 18750"/>
            </a:avLst>
          </a:prstGeom>
          <a:solidFill>
            <a:srgbClr val="1F8A5F"/>
          </a:solidFill>
          <a:ln/>
        </p:spPr>
      </p:sp>
      <p:sp>
        <p:nvSpPr>
          <p:cNvPr id="16" name="Text 14"/>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7" name="Text 15"/>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高VIP顧客 かつ 上半期のみ</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CustomerSegment={'VIP'},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Month={'1','2','3','4','5','6'}</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NOT相当(集合の差集合)</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Sum({1-&lt;Status={'Cancelled'}&gt;}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Status=Cancelled以外の全件</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複数条件 + 現在の選択を維持</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Year={"$(=Max(Year))"},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Status-={'Cancelled','Returned'}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&gt;} Amount)</a:t>
            </a:r>
            <a:endParaRPr lang="en-US" sz="950" dirty="0"/>
          </a:p>
        </p:txBody>
      </p:sp>
      <p:sp>
        <p:nvSpPr>
          <p:cNvPr id="18" name="Text 16"/>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9" name="Text 17"/>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変数とSet Analysisの併用</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Set Analysis式を変数化して再利用する設計</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変数化のメリット：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複雑なSet Analysis式を変数にまとめると、複数の指標式から共通ロジックを呼び出せる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$(=式) 形式：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変数定義の中で動的に評価させたい部分は$(=...)で囲み、参照時に再計算させる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ドキュメント変数：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「変数の管理」画面で定義し、説明文を添えておくとチーム開発時の可読性が上がる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変数名は vSetCurrentYear のように用途が分かる接頭辞+説明的な名前にする。$1などの位置パラメータ変数も活用できる。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変数の定義(スクリプトまたはUI画面)</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SET vSetCurrentYear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&lt;Year={"$(=Max(Year))"}&gt;;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SET vSetPrevYear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&lt;Year={"$(=Max(Year)-1)"}&gt;;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指標式での呼び出し</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Sum({$(vSetCurrentYear)}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Sum({$(vSetPrevYear)}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パラメータ付き変数の例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SET vSalesByYear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Sum({&lt;Year={$1}&gt;}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呼び出し時に年を指定</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$(vSalesByYear(2024))</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チャート選定の基本</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伝えたいことに応じたグラフタイプの選び方</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時系列の推移：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折れ線グラフが基本。複数系列の比較は色分けし、本数は3〜4本までに絞る</a:t>
            </a:r>
            <a:endParaRPr lang="en-US" sz="1250" dirty="0"/>
          </a:p>
        </p:txBody>
      </p:sp>
      <p:sp>
        <p:nvSpPr>
          <p:cNvPr id="6" name="Shape 4"/>
          <p:cNvSpPr/>
          <p:nvPr/>
        </p:nvSpPr>
        <p:spPr>
          <a:xfrm>
            <a:off x="548640" y="2167128"/>
            <a:ext cx="100584" cy="100584"/>
          </a:xfrm>
          <a:prstGeom prst="ellipse">
            <a:avLst/>
          </a:prstGeom>
          <a:solidFill>
            <a:srgbClr val="29ADB2"/>
          </a:solidFill>
          <a:ln/>
        </p:spPr>
      </p:sp>
      <p:sp>
        <p:nvSpPr>
          <p:cNvPr id="7" name="Text 5"/>
          <p:cNvSpPr/>
          <p:nvPr/>
        </p:nvSpPr>
        <p:spPr>
          <a:xfrm>
            <a:off x="804672" y="2039112"/>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構成比・内訳：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棒グラフ(積み上げ)が基本。円グラフは選択肢が3つ以下の時のみ検討する</a:t>
            </a:r>
            <a:endParaRPr lang="en-US" sz="1250" dirty="0"/>
          </a:p>
        </p:txBody>
      </p:sp>
      <p:sp>
        <p:nvSpPr>
          <p:cNvPr id="8" name="Shape 6"/>
          <p:cNvSpPr/>
          <p:nvPr/>
        </p:nvSpPr>
        <p:spPr>
          <a:xfrm>
            <a:off x="548640" y="2734056"/>
            <a:ext cx="100584" cy="100584"/>
          </a:xfrm>
          <a:prstGeom prst="ellipse">
            <a:avLst/>
          </a:prstGeom>
          <a:solidFill>
            <a:srgbClr val="29ADB2"/>
          </a:solidFill>
          <a:ln/>
        </p:spPr>
      </p:sp>
      <p:sp>
        <p:nvSpPr>
          <p:cNvPr id="9" name="Text 7"/>
          <p:cNvSpPr/>
          <p:nvPr/>
        </p:nvSpPr>
        <p:spPr>
          <a:xfrm>
            <a:off x="804672" y="2606040"/>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ランキング・比較：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横棒グラフでカテゴリ数が多い場合でもラベルが読みやすい</a:t>
            </a:r>
            <a:endParaRPr lang="en-US" sz="1250" dirty="0"/>
          </a:p>
        </p:txBody>
      </p:sp>
      <p:sp>
        <p:nvSpPr>
          <p:cNvPr id="10" name="Shape 8"/>
          <p:cNvSpPr/>
          <p:nvPr/>
        </p:nvSpPr>
        <p:spPr>
          <a:xfrm>
            <a:off x="548640" y="3300984"/>
            <a:ext cx="100584" cy="100584"/>
          </a:xfrm>
          <a:prstGeom prst="ellipse">
            <a:avLst/>
          </a:prstGeom>
          <a:solidFill>
            <a:srgbClr val="29ADB2"/>
          </a:solidFill>
          <a:ln/>
        </p:spPr>
      </p:sp>
      <p:sp>
        <p:nvSpPr>
          <p:cNvPr id="11" name="Text 9"/>
          <p:cNvSpPr/>
          <p:nvPr/>
        </p:nvSpPr>
        <p:spPr>
          <a:xfrm>
            <a:off x="804672" y="3172968"/>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相関・分布：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散布図やヒストグラムで2変数の関係性や分布の偏りを視覚化する</a:t>
            </a:r>
            <a:endParaRPr lang="en-US" sz="1250" dirty="0"/>
          </a:p>
        </p:txBody>
      </p:sp>
      <p:sp>
        <p:nvSpPr>
          <p:cNvPr id="12" name="Shape 10"/>
          <p:cNvSpPr/>
          <p:nvPr/>
        </p:nvSpPr>
        <p:spPr>
          <a:xfrm>
            <a:off x="548640" y="4069080"/>
            <a:ext cx="5760720" cy="1051560"/>
          </a:xfrm>
          <a:prstGeom prst="roundRect">
            <a:avLst>
              <a:gd name="adj" fmla="val 5217"/>
            </a:avLst>
          </a:prstGeom>
          <a:solidFill>
            <a:srgbClr val="F3FAF6"/>
          </a:solidFill>
          <a:ln/>
        </p:spPr>
      </p:sp>
      <p:sp>
        <p:nvSpPr>
          <p:cNvPr id="13" name="Text 11"/>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4" name="Text 12"/>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円グラフ・3Dグラフ・二重軸は誤読を招きやすい。「比較」が目的なら基本は棒グラフか折れ線グラフを選ぶ。</a:t>
            </a:r>
            <a:endParaRPr lang="en-US" sz="1100" dirty="0"/>
          </a:p>
        </p:txBody>
      </p:sp>
      <p:sp>
        <p:nvSpPr>
          <p:cNvPr id="15" name="Shape 13"/>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6" name="Shape 14"/>
          <p:cNvSpPr/>
          <p:nvPr/>
        </p:nvSpPr>
        <p:spPr>
          <a:xfrm>
            <a:off x="10725912" y="1746504"/>
            <a:ext cx="822960" cy="292608"/>
          </a:xfrm>
          <a:prstGeom prst="roundRect">
            <a:avLst>
              <a:gd name="adj" fmla="val 18750"/>
            </a:avLst>
          </a:prstGeom>
          <a:solidFill>
            <a:srgbClr val="1F8A5F"/>
          </a:solidFill>
          <a:ln/>
        </p:spPr>
      </p:sp>
      <p:sp>
        <p:nvSpPr>
          <p:cNvPr id="17" name="Text 15"/>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8" name="Text 16"/>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チャート式での典型的な指標構成</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ディメンション: Month</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指標1: Sum({&lt;Year={2024}&gt;}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指標2: Sum({&lt;Year={2023}&gt;}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2系列の折れ線で前年比較</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KPIオブジェクトでの定番</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メイン値:</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補助値(前年比%):</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(Sum({&lt;Year={"$(=Max(Year))"}&gt;}Amount)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Sum({&lt;Year={"$(=Max(Year)-1)"}&gt;}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 - 1)</a:t>
            </a:r>
            <a:endParaRPr lang="en-US" sz="95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20" name="Text 18"/>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マスター項目・マスター指標の設計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再利用性とガバナンスを両立するライブラリ設計</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命名規則の統一：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Dim_顧客セグメント、KPI_売上金額のように接頭辞で種別を分け、検索性を高める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説明文の記載：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各マスター項目に計算ロジックや使用条件をメモしておくと、他の開発者が迷わない</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粒度別の整理：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経営層向けサマリ指標と現場向け詳細指標をフォルダやタグで分けて管理する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マスター指標を変更すると、それを使う全シートに即座に反映される。本番アプリでは変更前に影響範囲を必ず確認する。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マスター指標の命名例(式エディタ上)</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名前: KPI_当年売上</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式:</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Sum({&lt;Year={"$(=Max(Year))"}&gt;}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名前: KPI_前年同期比成長率</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式:</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(Sum({&lt;Year={"$(=Max(Year))"}&gt;}Amount)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Sum({&lt;Year={"$(=Max(Year)-1)"}&gt;}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 - 1)</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名前: Dim_顧客セグメント</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ディメンション:</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CustomerSegment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説明文:</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'VIP/Regular/Newの3区分。</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Segment列を直接使用'</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よくあるアンチパターン①</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Set Analysis構文でやりがちなミス</a:t>
            </a:r>
            <a:endParaRPr lang="en-US" sz="1300" dirty="0"/>
          </a:p>
        </p:txBody>
      </p:sp>
      <p:sp>
        <p:nvSpPr>
          <p:cNvPr id="4" name="Shape 2"/>
          <p:cNvSpPr/>
          <p:nvPr/>
        </p:nvSpPr>
        <p:spPr>
          <a:xfrm>
            <a:off x="548640" y="1600200"/>
            <a:ext cx="5413248" cy="292608"/>
          </a:xfrm>
          <a:prstGeom prst="roundRect">
            <a:avLst>
              <a:gd name="adj" fmla="val 15625"/>
            </a:avLst>
          </a:prstGeom>
          <a:solidFill>
            <a:srgbClr val="C0392B"/>
          </a:solidFill>
          <a:ln/>
        </p:spPr>
      </p:sp>
      <p:sp>
        <p:nvSpPr>
          <p:cNvPr id="5" name="Text 3"/>
          <p:cNvSpPr/>
          <p:nvPr/>
        </p:nvSpPr>
        <p:spPr>
          <a:xfrm>
            <a:off x="548640"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6" name="Shape 4"/>
          <p:cNvSpPr/>
          <p:nvPr/>
        </p:nvSpPr>
        <p:spPr>
          <a:xfrm>
            <a:off x="548640" y="1965960"/>
            <a:ext cx="5413248" cy="1353312"/>
          </a:xfrm>
          <a:prstGeom prst="roundRect">
            <a:avLst>
              <a:gd name="adj" fmla="val 4054"/>
            </a:avLst>
          </a:prstGeom>
          <a:solidFill>
            <a:srgbClr val="16322A"/>
          </a:solidFill>
          <a:ln/>
        </p:spPr>
      </p:sp>
      <p:sp>
        <p:nvSpPr>
          <p:cNvPr id="7" name="Text 5"/>
          <p:cNvSpPr/>
          <p:nvPr/>
        </p:nvSpPr>
        <p:spPr>
          <a:xfrm>
            <a:off x="731520"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$を忘れて選択を無視してしまう</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他の選択(地域等)が</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全て無視されてしまう</a:t>
            </a:r>
            <a:endParaRPr lang="en-US" sz="950" dirty="0"/>
          </a:p>
        </p:txBody>
      </p:sp>
      <p:sp>
        <p:nvSpPr>
          <p:cNvPr id="8" name="Shape 6"/>
          <p:cNvSpPr/>
          <p:nvPr/>
        </p:nvSpPr>
        <p:spPr>
          <a:xfrm>
            <a:off x="6245352" y="1600200"/>
            <a:ext cx="5413248" cy="292608"/>
          </a:xfrm>
          <a:prstGeom prst="roundRect">
            <a:avLst>
              <a:gd name="adj" fmla="val 15625"/>
            </a:avLst>
          </a:prstGeom>
          <a:solidFill>
            <a:srgbClr val="1F8A5F"/>
          </a:solidFill>
          <a:ln/>
        </p:spPr>
      </p:sp>
      <p:sp>
        <p:nvSpPr>
          <p:cNvPr id="9" name="Text 7"/>
          <p:cNvSpPr/>
          <p:nvPr/>
        </p:nvSpPr>
        <p:spPr>
          <a:xfrm>
            <a:off x="6245352"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0" name="Shape 8"/>
          <p:cNvSpPr/>
          <p:nvPr/>
        </p:nvSpPr>
        <p:spPr>
          <a:xfrm>
            <a:off x="6245352" y="1965960"/>
            <a:ext cx="5413248" cy="1353312"/>
          </a:xfrm>
          <a:prstGeom prst="roundRect">
            <a:avLst>
              <a:gd name="adj" fmla="val 4054"/>
            </a:avLst>
          </a:prstGeom>
          <a:solidFill>
            <a:srgbClr val="16322A"/>
          </a:solidFill>
          <a:ln/>
        </p:spPr>
      </p:sp>
      <p:sp>
        <p:nvSpPr>
          <p:cNvPr id="11" name="Text 9"/>
          <p:cNvSpPr/>
          <p:nvPr/>
        </p:nvSpPr>
        <p:spPr>
          <a:xfrm>
            <a:off x="6428232"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選択を維持したい場合は$を付与</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Year以外の選択(地域等)は</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そのまま反映される</a:t>
            </a:r>
            <a:endParaRPr lang="en-US" sz="950" dirty="0"/>
          </a:p>
        </p:txBody>
      </p:sp>
      <p:sp>
        <p:nvSpPr>
          <p:cNvPr id="12" name="Shape 10"/>
          <p:cNvSpPr/>
          <p:nvPr/>
        </p:nvSpPr>
        <p:spPr>
          <a:xfrm>
            <a:off x="548640" y="3840480"/>
            <a:ext cx="5413248" cy="292608"/>
          </a:xfrm>
          <a:prstGeom prst="roundRect">
            <a:avLst>
              <a:gd name="adj" fmla="val 15625"/>
            </a:avLst>
          </a:prstGeom>
          <a:solidFill>
            <a:srgbClr val="C0392B"/>
          </a:solidFill>
          <a:ln/>
        </p:spPr>
      </p:sp>
      <p:sp>
        <p:nvSpPr>
          <p:cNvPr id="13" name="Text 11"/>
          <p:cNvSpPr/>
          <p:nvPr/>
        </p:nvSpPr>
        <p:spPr>
          <a:xfrm>
            <a:off x="548640"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14" name="Shape 12"/>
          <p:cNvSpPr/>
          <p:nvPr/>
        </p:nvSpPr>
        <p:spPr>
          <a:xfrm>
            <a:off x="548640" y="4206240"/>
            <a:ext cx="5413248" cy="1691640"/>
          </a:xfrm>
          <a:prstGeom prst="roundRect">
            <a:avLst>
              <a:gd name="adj" fmla="val 3243"/>
            </a:avLst>
          </a:prstGeom>
          <a:solidFill>
            <a:srgbClr val="16322A"/>
          </a:solidFill>
          <a:ln/>
        </p:spPr>
      </p:sp>
      <p:sp>
        <p:nvSpPr>
          <p:cNvPr id="15" name="Text 13"/>
          <p:cNvSpPr/>
          <p:nvPr/>
        </p:nvSpPr>
        <p:spPr>
          <a:xfrm>
            <a:off x="731520"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文字列比較で数値を囲ってしまう</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Year=数値型の場合、文字列</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'2024'と一致せず0件になる</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ケースがある</a:t>
            </a:r>
            <a:endParaRPr lang="en-US" sz="950" dirty="0"/>
          </a:p>
        </p:txBody>
      </p:sp>
      <p:sp>
        <p:nvSpPr>
          <p:cNvPr id="16" name="Shape 14"/>
          <p:cNvSpPr/>
          <p:nvPr/>
        </p:nvSpPr>
        <p:spPr>
          <a:xfrm>
            <a:off x="6245352" y="3840480"/>
            <a:ext cx="5413248" cy="292608"/>
          </a:xfrm>
          <a:prstGeom prst="roundRect">
            <a:avLst>
              <a:gd name="adj" fmla="val 15625"/>
            </a:avLst>
          </a:prstGeom>
          <a:solidFill>
            <a:srgbClr val="1F8A5F"/>
          </a:solidFill>
          <a:ln/>
        </p:spPr>
      </p:sp>
      <p:sp>
        <p:nvSpPr>
          <p:cNvPr id="17" name="Text 15"/>
          <p:cNvSpPr/>
          <p:nvPr/>
        </p:nvSpPr>
        <p:spPr>
          <a:xfrm>
            <a:off x="6245352"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8" name="Shape 16"/>
          <p:cNvSpPr/>
          <p:nvPr/>
        </p:nvSpPr>
        <p:spPr>
          <a:xfrm>
            <a:off x="6245352" y="4206240"/>
            <a:ext cx="5413248" cy="1691640"/>
          </a:xfrm>
          <a:prstGeom prst="roundRect">
            <a:avLst>
              <a:gd name="adj" fmla="val 3243"/>
            </a:avLst>
          </a:prstGeom>
          <a:solidFill>
            <a:srgbClr val="16322A"/>
          </a:solidFill>
          <a:ln/>
        </p:spPr>
      </p:sp>
      <p:sp>
        <p:nvSpPr>
          <p:cNvPr id="19" name="Text 17"/>
          <p:cNvSpPr/>
          <p:nvPr/>
        </p:nvSpPr>
        <p:spPr>
          <a:xfrm>
            <a:off x="6428232"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フィールドの型に合わせて指定</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Sum({&lt;Year={2024}&gt;} 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数値フィールドはそのまま、</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文字列が必要な時のみ</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クォートで囲む</a:t>
            </a:r>
            <a:endParaRPr lang="en-US" sz="9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21" name="Text 19"/>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よくあるアンチパターン②</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パフォーマンス・保守性でやりがちなミス</a:t>
            </a:r>
            <a:endParaRPr lang="en-US" sz="1300" dirty="0"/>
          </a:p>
        </p:txBody>
      </p:sp>
      <p:sp>
        <p:nvSpPr>
          <p:cNvPr id="4" name="Shape 2"/>
          <p:cNvSpPr/>
          <p:nvPr/>
        </p:nvSpPr>
        <p:spPr>
          <a:xfrm>
            <a:off x="548640" y="1600200"/>
            <a:ext cx="5413248" cy="292608"/>
          </a:xfrm>
          <a:prstGeom prst="roundRect">
            <a:avLst>
              <a:gd name="adj" fmla="val 15625"/>
            </a:avLst>
          </a:prstGeom>
          <a:solidFill>
            <a:srgbClr val="C0392B"/>
          </a:solidFill>
          <a:ln/>
        </p:spPr>
      </p:sp>
      <p:sp>
        <p:nvSpPr>
          <p:cNvPr id="5" name="Text 3"/>
          <p:cNvSpPr/>
          <p:nvPr/>
        </p:nvSpPr>
        <p:spPr>
          <a:xfrm>
            <a:off x="548640"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6" name="Shape 4"/>
          <p:cNvSpPr/>
          <p:nvPr/>
        </p:nvSpPr>
        <p:spPr>
          <a:xfrm>
            <a:off x="548640" y="1965960"/>
            <a:ext cx="5413248" cy="1353312"/>
          </a:xfrm>
          <a:prstGeom prst="roundRect">
            <a:avLst>
              <a:gd name="adj" fmla="val 4054"/>
            </a:avLst>
          </a:prstGeom>
          <a:solidFill>
            <a:srgbClr val="16322A"/>
          </a:solidFill>
          <a:ln/>
        </p:spPr>
      </p:sp>
      <p:sp>
        <p:nvSpPr>
          <p:cNvPr id="7" name="Text 5"/>
          <p:cNvSpPr/>
          <p:nvPr/>
        </p:nvSpPr>
        <p:spPr>
          <a:xfrm>
            <a:off x="731520"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同じ式を全チャートに直書き</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チャートA: Sum({&lt;Year={...</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チャートB: Sum({&lt;Year={...</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チャートC: Sum({&lt;Year={...</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仕様変更時に全箇所を修正</a:t>
            </a:r>
            <a:endParaRPr lang="en-US" sz="950" dirty="0"/>
          </a:p>
        </p:txBody>
      </p:sp>
      <p:sp>
        <p:nvSpPr>
          <p:cNvPr id="8" name="Shape 6"/>
          <p:cNvSpPr/>
          <p:nvPr/>
        </p:nvSpPr>
        <p:spPr>
          <a:xfrm>
            <a:off x="6245352" y="1600200"/>
            <a:ext cx="5413248" cy="292608"/>
          </a:xfrm>
          <a:prstGeom prst="roundRect">
            <a:avLst>
              <a:gd name="adj" fmla="val 15625"/>
            </a:avLst>
          </a:prstGeom>
          <a:solidFill>
            <a:srgbClr val="1F8A5F"/>
          </a:solidFill>
          <a:ln/>
        </p:spPr>
      </p:sp>
      <p:sp>
        <p:nvSpPr>
          <p:cNvPr id="9" name="Text 7"/>
          <p:cNvSpPr/>
          <p:nvPr/>
        </p:nvSpPr>
        <p:spPr>
          <a:xfrm>
            <a:off x="6245352"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0" name="Shape 8"/>
          <p:cNvSpPr/>
          <p:nvPr/>
        </p:nvSpPr>
        <p:spPr>
          <a:xfrm>
            <a:off x="6245352" y="1965960"/>
            <a:ext cx="5413248" cy="1353312"/>
          </a:xfrm>
          <a:prstGeom prst="roundRect">
            <a:avLst>
              <a:gd name="adj" fmla="val 4054"/>
            </a:avLst>
          </a:prstGeom>
          <a:solidFill>
            <a:srgbClr val="16322A"/>
          </a:solidFill>
          <a:ln/>
        </p:spPr>
      </p:sp>
      <p:sp>
        <p:nvSpPr>
          <p:cNvPr id="11" name="Text 9"/>
          <p:cNvSpPr/>
          <p:nvPr/>
        </p:nvSpPr>
        <p:spPr>
          <a:xfrm>
            <a:off x="6428232"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マスター指標として一元管理</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KPI_当年売上 として登録し</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全チャートから呼び出す</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修正は1箇所で完結</a:t>
            </a:r>
            <a:endParaRPr lang="en-US" sz="950" dirty="0"/>
          </a:p>
        </p:txBody>
      </p:sp>
      <p:sp>
        <p:nvSpPr>
          <p:cNvPr id="12" name="Shape 10"/>
          <p:cNvSpPr/>
          <p:nvPr/>
        </p:nvSpPr>
        <p:spPr>
          <a:xfrm>
            <a:off x="548640" y="3840480"/>
            <a:ext cx="5413248" cy="292608"/>
          </a:xfrm>
          <a:prstGeom prst="roundRect">
            <a:avLst>
              <a:gd name="adj" fmla="val 15625"/>
            </a:avLst>
          </a:prstGeom>
          <a:solidFill>
            <a:srgbClr val="C0392B"/>
          </a:solidFill>
          <a:ln/>
        </p:spPr>
      </p:sp>
      <p:sp>
        <p:nvSpPr>
          <p:cNvPr id="13" name="Text 11"/>
          <p:cNvSpPr/>
          <p:nvPr/>
        </p:nvSpPr>
        <p:spPr>
          <a:xfrm>
            <a:off x="548640"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14" name="Shape 12"/>
          <p:cNvSpPr/>
          <p:nvPr/>
        </p:nvSpPr>
        <p:spPr>
          <a:xfrm>
            <a:off x="548640" y="4206240"/>
            <a:ext cx="5413248" cy="1691640"/>
          </a:xfrm>
          <a:prstGeom prst="roundRect">
            <a:avLst>
              <a:gd name="adj" fmla="val 3243"/>
            </a:avLst>
          </a:prstGeom>
          <a:solidFill>
            <a:srgbClr val="16322A"/>
          </a:solidFill>
          <a:ln/>
        </p:spPr>
      </p:sp>
      <p:sp>
        <p:nvSpPr>
          <p:cNvPr id="15" name="Text 13"/>
          <p:cNvSpPr/>
          <p:nvPr/>
        </p:nvSpPr>
        <p:spPr>
          <a:xfrm>
            <a:off x="731520"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IF文で選択判定を式内に多用</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If(GetSelectedCount(Year)=0,</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Sum(Amount),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Sum({&lt;Year={2024}&gt;} 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再計算コストが高く重くなる</a:t>
            </a:r>
            <a:endParaRPr lang="en-US" sz="950" dirty="0"/>
          </a:p>
        </p:txBody>
      </p:sp>
      <p:sp>
        <p:nvSpPr>
          <p:cNvPr id="16" name="Shape 14"/>
          <p:cNvSpPr/>
          <p:nvPr/>
        </p:nvSpPr>
        <p:spPr>
          <a:xfrm>
            <a:off x="6245352" y="3840480"/>
            <a:ext cx="5413248" cy="292608"/>
          </a:xfrm>
          <a:prstGeom prst="roundRect">
            <a:avLst>
              <a:gd name="adj" fmla="val 15625"/>
            </a:avLst>
          </a:prstGeom>
          <a:solidFill>
            <a:srgbClr val="1F8A5F"/>
          </a:solidFill>
          <a:ln/>
        </p:spPr>
      </p:sp>
      <p:sp>
        <p:nvSpPr>
          <p:cNvPr id="17" name="Text 15"/>
          <p:cNvSpPr/>
          <p:nvPr/>
        </p:nvSpPr>
        <p:spPr>
          <a:xfrm>
            <a:off x="6245352"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8" name="Shape 16"/>
          <p:cNvSpPr/>
          <p:nvPr/>
        </p:nvSpPr>
        <p:spPr>
          <a:xfrm>
            <a:off x="6245352" y="4206240"/>
            <a:ext cx="5413248" cy="1691640"/>
          </a:xfrm>
          <a:prstGeom prst="roundRect">
            <a:avLst>
              <a:gd name="adj" fmla="val 3243"/>
            </a:avLst>
          </a:prstGeom>
          <a:solidFill>
            <a:srgbClr val="16322A"/>
          </a:solidFill>
          <a:ln/>
        </p:spPr>
      </p:sp>
      <p:sp>
        <p:nvSpPr>
          <p:cNvPr id="19" name="Text 17"/>
          <p:cNvSpPr/>
          <p:nvPr/>
        </p:nvSpPr>
        <p:spPr>
          <a:xfrm>
            <a:off x="6428232"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Set Analysisだけで完結させる</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Sum({$&lt;Year={"$(=Max(Year))"}&gt;}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Amount)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IF分岐なしでエンジン側の</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最適化が効きやすい</a:t>
            </a:r>
            <a:endParaRPr lang="en-US" sz="9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21" name="Text 19"/>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表現エディタのデバッグ術</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式が想定通り動かない時の切り分け手順</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段階的に簡略化：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複雑な式は一旦Sum(Amount)だけに戻し、Set Analysis条件を1つずつ追加して原因箇所を特定する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KPIオブジェクトで検証：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別シートに簡易KPIを置き、式の結果だけを素早く確認しながら調整する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GetSelectedCountで確認：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選択状態をテキストオブジェクトで可視化し、想定通りの選択になっているか確認する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0が表示される時は「該当データなし」と「式エラー」の2パターンがある。まずDimensionなしの単純集計に戻して切り分ける。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デバッグ用の確認チャートに使う式</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1. 現在の選択状態を文字列化</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'選択中のYear: ' &amp;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GetCurrentSelections('Year')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2. 選択フィールドの件数確認</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GetSelectedCount(Year)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3. Set Analysis適用前後を比較</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Sum(Amount) &amp;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 ' &amp;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Sum({&lt;Year={"$(=Max(Year))"}&gt;}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Amount)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差異があれば条件式側に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原因がある可能性が高い</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614A">
              <a:alpha val="45000"/>
            </a:srgbClr>
          </a:solidFill>
          <a:ln/>
        </p:spPr>
      </p:sp>
      <p:sp>
        <p:nvSpPr>
          <p:cNvPr id="3" name="Shape 1"/>
          <p:cNvSpPr/>
          <p:nvPr/>
        </p:nvSpPr>
        <p:spPr>
          <a:xfrm>
            <a:off x="10058400" y="4114800"/>
            <a:ext cx="3657600" cy="3657600"/>
          </a:xfrm>
          <a:prstGeom prst="ellipse">
            <a:avLst/>
          </a:prstGeom>
          <a:solidFill>
            <a:srgbClr val="1F8A5F">
              <a:alpha val="45000"/>
            </a:srgbClr>
          </a:solidFill>
          <a:ln/>
        </p:spPr>
      </p:sp>
      <p:sp>
        <p:nvSpPr>
          <p:cNvPr id="4" name="Text 2"/>
          <p:cNvSpPr/>
          <p:nvPr/>
        </p:nvSpPr>
        <p:spPr>
          <a:xfrm>
            <a:off x="640080" y="502920"/>
            <a:ext cx="10058400" cy="64008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まとめ：実装前チェックリスト</a:t>
            </a:r>
            <a:endParaRPr lang="en-US" sz="2600" dirty="0"/>
          </a:p>
        </p:txBody>
      </p:sp>
      <p:sp>
        <p:nvSpPr>
          <p:cNvPr id="5" name="Text 3"/>
          <p:cNvSpPr/>
          <p:nvPr/>
        </p:nvSpPr>
        <p:spPr>
          <a:xfrm>
            <a:off x="640080" y="1097280"/>
            <a:ext cx="7315200" cy="411480"/>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可視化・Set Analysis実践編の振り返り</a:t>
            </a:r>
            <a:endParaRPr lang="en-US" sz="1300" dirty="0"/>
          </a:p>
        </p:txBody>
      </p:sp>
      <p:sp>
        <p:nvSpPr>
          <p:cNvPr id="6" name="Shape 4"/>
          <p:cNvSpPr/>
          <p:nvPr/>
        </p:nvSpPr>
        <p:spPr>
          <a:xfrm>
            <a:off x="640080" y="178308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7" name="Shape 5"/>
          <p:cNvSpPr/>
          <p:nvPr/>
        </p:nvSpPr>
        <p:spPr>
          <a:xfrm>
            <a:off x="868680" y="1993392"/>
            <a:ext cx="237744" cy="237744"/>
          </a:xfrm>
          <a:prstGeom prst="ellipse">
            <a:avLst/>
          </a:prstGeom>
          <a:solidFill>
            <a:srgbClr val="1F8A5F"/>
          </a:solidFill>
          <a:ln/>
        </p:spPr>
      </p:sp>
      <p:sp>
        <p:nvSpPr>
          <p:cNvPr id="8" name="Text 6"/>
          <p:cNvSpPr/>
          <p:nvPr/>
        </p:nvSpPr>
        <p:spPr>
          <a:xfrm>
            <a:off x="868680" y="199339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371600" y="178308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選択状態を維持すべき式に$&lt;...&gt;を付け忘れていないか</a:t>
            </a:r>
            <a:endParaRPr lang="en-US" sz="1300" dirty="0"/>
          </a:p>
        </p:txBody>
      </p:sp>
      <p:sp>
        <p:nvSpPr>
          <p:cNvPr id="10" name="Shape 8"/>
          <p:cNvSpPr/>
          <p:nvPr/>
        </p:nvSpPr>
        <p:spPr>
          <a:xfrm>
            <a:off x="640080" y="256032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1" name="Shape 9"/>
          <p:cNvSpPr/>
          <p:nvPr/>
        </p:nvSpPr>
        <p:spPr>
          <a:xfrm>
            <a:off x="868680" y="2770632"/>
            <a:ext cx="237744" cy="237744"/>
          </a:xfrm>
          <a:prstGeom prst="ellipse">
            <a:avLst/>
          </a:prstGeom>
          <a:solidFill>
            <a:srgbClr val="1F8A5F"/>
          </a:solidFill>
          <a:ln/>
        </p:spPr>
      </p:sp>
      <p:sp>
        <p:nvSpPr>
          <p:cNvPr id="12" name="Text 10"/>
          <p:cNvSpPr/>
          <p:nvPr/>
        </p:nvSpPr>
        <p:spPr>
          <a:xfrm>
            <a:off x="868680" y="277063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371600" y="256032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同じSet Analysis式を複数チャートに直書きせず、マスター指標化しているか</a:t>
            </a:r>
            <a:endParaRPr lang="en-US" sz="1300" dirty="0"/>
          </a:p>
        </p:txBody>
      </p:sp>
      <p:sp>
        <p:nvSpPr>
          <p:cNvPr id="14" name="Shape 12"/>
          <p:cNvSpPr/>
          <p:nvPr/>
        </p:nvSpPr>
        <p:spPr>
          <a:xfrm>
            <a:off x="640080" y="333756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5" name="Shape 13"/>
          <p:cNvSpPr/>
          <p:nvPr/>
        </p:nvSpPr>
        <p:spPr>
          <a:xfrm>
            <a:off x="868680" y="3547872"/>
            <a:ext cx="237744" cy="237744"/>
          </a:xfrm>
          <a:prstGeom prst="ellipse">
            <a:avLst/>
          </a:prstGeom>
          <a:solidFill>
            <a:srgbClr val="1F8A5F"/>
          </a:solidFill>
          <a:ln/>
        </p:spPr>
      </p:sp>
      <p:sp>
        <p:nvSpPr>
          <p:cNvPr id="16" name="Text 14"/>
          <p:cNvSpPr/>
          <p:nvPr/>
        </p:nvSpPr>
        <p:spPr>
          <a:xfrm>
            <a:off x="868680" y="354787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371600" y="333756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フィールドの型(数値/文字列)に合わせてクォートの有無を正しく指定しているか</a:t>
            </a:r>
            <a:endParaRPr lang="en-US" sz="1300" dirty="0"/>
          </a:p>
        </p:txBody>
      </p:sp>
      <p:sp>
        <p:nvSpPr>
          <p:cNvPr id="18" name="Shape 16"/>
          <p:cNvSpPr/>
          <p:nvPr/>
        </p:nvSpPr>
        <p:spPr>
          <a:xfrm>
            <a:off x="640080" y="411480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9" name="Shape 17"/>
          <p:cNvSpPr/>
          <p:nvPr/>
        </p:nvSpPr>
        <p:spPr>
          <a:xfrm>
            <a:off x="868680" y="4325112"/>
            <a:ext cx="237744" cy="237744"/>
          </a:xfrm>
          <a:prstGeom prst="ellipse">
            <a:avLst/>
          </a:prstGeom>
          <a:solidFill>
            <a:srgbClr val="1F8A5F"/>
          </a:solidFill>
          <a:ln/>
        </p:spPr>
      </p:sp>
      <p:sp>
        <p:nvSpPr>
          <p:cNvPr id="20" name="Text 18"/>
          <p:cNvSpPr/>
          <p:nvPr/>
        </p:nvSpPr>
        <p:spPr>
          <a:xfrm>
            <a:off x="868680" y="432511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371600" y="411480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複雑な条件分岐をIF文ではなくSet Analysisの集合演算で表現できているか</a:t>
            </a:r>
            <a:endParaRPr lang="en-US" sz="1300" dirty="0"/>
          </a:p>
        </p:txBody>
      </p:sp>
      <p:sp>
        <p:nvSpPr>
          <p:cNvPr id="22" name="Shape 20"/>
          <p:cNvSpPr/>
          <p:nvPr/>
        </p:nvSpPr>
        <p:spPr>
          <a:xfrm>
            <a:off x="640080" y="489204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23" name="Shape 21"/>
          <p:cNvSpPr/>
          <p:nvPr/>
        </p:nvSpPr>
        <p:spPr>
          <a:xfrm>
            <a:off x="868680" y="5102352"/>
            <a:ext cx="237744" cy="237744"/>
          </a:xfrm>
          <a:prstGeom prst="ellipse">
            <a:avLst/>
          </a:prstGeom>
          <a:solidFill>
            <a:srgbClr val="1F8A5F"/>
          </a:solidFill>
          <a:ln/>
        </p:spPr>
      </p:sp>
      <p:sp>
        <p:nvSpPr>
          <p:cNvPr id="24" name="Text 22"/>
          <p:cNvSpPr/>
          <p:nvPr/>
        </p:nvSpPr>
        <p:spPr>
          <a:xfrm>
            <a:off x="868680" y="510235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1371600" y="489204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円グラフ・3D・二重軸など誤読を招くチャートタイプを避けているか</a:t>
            </a:r>
            <a:endParaRPr lang="en-US" sz="1300" dirty="0"/>
          </a:p>
        </p:txBody>
      </p:sp>
      <p:sp>
        <p:nvSpPr>
          <p:cNvPr id="26" name="Shape 24"/>
          <p:cNvSpPr/>
          <p:nvPr/>
        </p:nvSpPr>
        <p:spPr>
          <a:xfrm>
            <a:off x="640080" y="566928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27" name="Shape 25"/>
          <p:cNvSpPr/>
          <p:nvPr/>
        </p:nvSpPr>
        <p:spPr>
          <a:xfrm>
            <a:off x="868680" y="5879592"/>
            <a:ext cx="237744" cy="237744"/>
          </a:xfrm>
          <a:prstGeom prst="ellipse">
            <a:avLst/>
          </a:prstGeom>
          <a:solidFill>
            <a:srgbClr val="1F8A5F"/>
          </a:solidFill>
          <a:ln/>
        </p:spPr>
      </p:sp>
      <p:sp>
        <p:nvSpPr>
          <p:cNvPr id="28" name="Text 26"/>
          <p:cNvSpPr/>
          <p:nvPr/>
        </p:nvSpPr>
        <p:spPr>
          <a:xfrm>
            <a:off x="868680" y="587959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1371600" y="566928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0が表示された時、データなしか式エラーかを切り分けて確認したか</a:t>
            </a:r>
            <a:endParaRPr lang="en-US" sz="1300" dirty="0"/>
          </a:p>
        </p:txBody>
      </p:sp>
      <p:sp>
        <p:nvSpPr>
          <p:cNvPr id="30" name="Text 2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1F8A5F"/>
                </a:solidFill>
                <a:latin typeface="Calibri" pitchFamily="34" charset="0"/>
                <a:ea typeface="Calibri" pitchFamily="34" charset="-122"/>
                <a:cs typeface="Calibri" pitchFamily="34" charset="-120"/>
              </a:rPr>
              <a:t>Qlik Sense開発者ガイド③ 可視化・Set Analysis実践編</a:t>
            </a:r>
            <a:endParaRPr lang="en-US" sz="900" dirty="0"/>
          </a:p>
        </p:txBody>
      </p:sp>
      <p:sp>
        <p:nvSpPr>
          <p:cNvPr id="31" name="Text 29"/>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1F8A5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Qlik Sense開発者ガイド③ 可視化・Set Analysis実践編</dc:title>
  <dc:subject>PptxGenJS Presentation</dc:subject>
  <dc:creator>Qlik Sense Developer Series</dc:creator>
  <cp:lastModifiedBy>Qlik Sense Developer Series</cp:lastModifiedBy>
  <cp:revision>1</cp:revision>
  <dcterms:created xsi:type="dcterms:W3CDTF">2026-06-21T07:38:59Z</dcterms:created>
  <dcterms:modified xsi:type="dcterms:W3CDTF">2026-06-21T07:38:59Z</dcterms:modified>
</cp:coreProperties>
</file>