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2E"/>
        </a:solidFill>
      </p:bgPr>
    </p:bg>
    <p:spTree>
      <p:nvGrpSpPr>
        <p:cNvPr id="1" name=""/>
        <p:cNvGrpSpPr/>
        <p:nvPr/>
      </p:nvGrpSpPr>
      <p:grpSpPr>
        <a:xfrm>
          <a:off x="0" y="0"/>
          <a:ext cx="0" cy="0"/>
          <a:chOff x="0" y="0"/>
          <a:chExt cx="0" cy="0"/>
        </a:xfrm>
      </p:grpSpPr>
      <p:sp>
        <p:nvSpPr>
          <p:cNvPr id="2" name="Shape 0"/>
          <p:cNvSpPr/>
          <p:nvPr/>
        </p:nvSpPr>
        <p:spPr>
          <a:xfrm>
            <a:off x="8961120" y="-1371600"/>
            <a:ext cx="4572000" cy="4572000"/>
          </a:xfrm>
          <a:prstGeom prst="ellipse">
            <a:avLst/>
          </a:prstGeom>
          <a:solidFill>
            <a:srgbClr val="16614A">
              <a:alpha val="40000"/>
            </a:srgbClr>
          </a:solidFill>
          <a:ln/>
        </p:spPr>
      </p:sp>
      <p:sp>
        <p:nvSpPr>
          <p:cNvPr id="3" name="Shape 1"/>
          <p:cNvSpPr/>
          <p:nvPr/>
        </p:nvSpPr>
        <p:spPr>
          <a:xfrm>
            <a:off x="10515600" y="3840480"/>
            <a:ext cx="2926080" cy="2926080"/>
          </a:xfrm>
          <a:prstGeom prst="ellipse">
            <a:avLst/>
          </a:prstGeom>
          <a:solidFill>
            <a:srgbClr val="1F8A5F">
              <a:alpha val="45000"/>
            </a:srgbClr>
          </a:solidFill>
          <a:ln/>
        </p:spPr>
      </p:sp>
      <p:sp>
        <p:nvSpPr>
          <p:cNvPr id="4" name="Shape 2"/>
          <p:cNvSpPr/>
          <p:nvPr/>
        </p:nvSpPr>
        <p:spPr>
          <a:xfrm>
            <a:off x="-1097280" y="4572000"/>
            <a:ext cx="3657600" cy="3657600"/>
          </a:xfrm>
          <a:prstGeom prst="ellipse">
            <a:avLst/>
          </a:prstGeom>
          <a:solidFill>
            <a:srgbClr val="16614A">
              <a:alpha val="35000"/>
            </a:srgbClr>
          </a:solidFill>
          <a:ln/>
        </p:spPr>
      </p:sp>
      <p:pic>
        <p:nvPicPr>
          <p:cNvPr id="5" name="Image 0" descr="assets/qlik_mark_white.png">    </p:cNvPr>
          <p:cNvPicPr>
            <a:picLocks noChangeAspect="1"/>
          </p:cNvPicPr>
          <p:nvPr/>
        </p:nvPicPr>
        <p:blipFill>
          <a:blip r:embed="rId1"/>
          <a:stretch>
            <a:fillRect/>
          </a:stretch>
        </p:blipFill>
        <p:spPr>
          <a:xfrm>
            <a:off x="548640" y="594360"/>
            <a:ext cx="411480" cy="411480"/>
          </a:xfrm>
          <a:prstGeom prst="rect">
            <a:avLst/>
          </a:prstGeom>
        </p:spPr>
      </p:pic>
      <p:sp>
        <p:nvSpPr>
          <p:cNvPr id="6" name="Text 3"/>
          <p:cNvSpPr/>
          <p:nvPr/>
        </p:nvSpPr>
        <p:spPr>
          <a:xfrm>
            <a:off x="1097280" y="548640"/>
            <a:ext cx="5486400" cy="457200"/>
          </a:xfrm>
          <a:prstGeom prst="rect">
            <a:avLst/>
          </a:prstGeom>
          <a:noFill/>
          <a:ln/>
        </p:spPr>
        <p:txBody>
          <a:bodyPr wrap="square" lIns="0" tIns="0" rIns="0" bIns="0" rtlCol="0" anchor="ctr"/>
          <a:lstStyle/>
          <a:p>
            <a:pPr algn="l" indent="0" marL="0">
              <a:buNone/>
            </a:pPr>
            <a:r>
              <a:rPr lang="en-US" sz="1300" dirty="0">
                <a:solidFill>
                  <a:srgbClr val="DCEFE5"/>
                </a:solidFill>
                <a:latin typeface="Calibri" pitchFamily="34" charset="0"/>
                <a:ea typeface="Calibri" pitchFamily="34" charset="-122"/>
                <a:cs typeface="Calibri" pitchFamily="34" charset="-120"/>
              </a:rPr>
              <a:t>開発者向けシリーズ　第2回</a:t>
            </a:r>
            <a:endParaRPr lang="en-US" sz="1300" dirty="0"/>
          </a:p>
        </p:txBody>
      </p:sp>
      <p:sp>
        <p:nvSpPr>
          <p:cNvPr id="7" name="Text 4"/>
          <p:cNvSpPr/>
          <p:nvPr/>
        </p:nvSpPr>
        <p:spPr>
          <a:xfrm>
            <a:off x="548640" y="1371600"/>
            <a:ext cx="8229600" cy="91440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Qlik Sense 開発者ガイド</a:t>
            </a:r>
            <a:endParaRPr lang="en-US" sz="4000" dirty="0"/>
          </a:p>
        </p:txBody>
      </p:sp>
      <p:sp>
        <p:nvSpPr>
          <p:cNvPr id="8" name="Text 5"/>
          <p:cNvSpPr/>
          <p:nvPr/>
        </p:nvSpPr>
        <p:spPr>
          <a:xfrm>
            <a:off x="548640" y="2148840"/>
            <a:ext cx="8229600" cy="548640"/>
          </a:xfrm>
          <a:prstGeom prst="rect">
            <a:avLst/>
          </a:prstGeom>
          <a:noFill/>
          <a:ln/>
        </p:spPr>
        <p:txBody>
          <a:bodyPr wrap="square" lIns="0" tIns="0" rIns="0" bIns="0" rtlCol="0" anchor="ctr"/>
          <a:lstStyle/>
          <a:p>
            <a:pPr algn="l" indent="0" marL="0">
              <a:buNone/>
            </a:pPr>
            <a:r>
              <a:rPr lang="en-US" sz="2200" dirty="0">
                <a:solidFill>
                  <a:srgbClr val="E8F5EF"/>
                </a:solidFill>
                <a:latin typeface="Cambria" pitchFamily="34" charset="0"/>
                <a:ea typeface="Cambria" pitchFamily="34" charset="-122"/>
                <a:cs typeface="Cambria" pitchFamily="34" charset="-120"/>
              </a:rPr>
              <a:t>データモデリング設計編</a:t>
            </a:r>
            <a:endParaRPr lang="en-US" sz="2200" dirty="0"/>
          </a:p>
        </p:txBody>
      </p:sp>
      <p:sp>
        <p:nvSpPr>
          <p:cNvPr id="9" name="Text 6"/>
          <p:cNvSpPr/>
          <p:nvPr/>
        </p:nvSpPr>
        <p:spPr>
          <a:xfrm>
            <a:off x="548640" y="2788920"/>
            <a:ext cx="9601200" cy="457200"/>
          </a:xfrm>
          <a:prstGeom prst="rect">
            <a:avLst/>
          </a:prstGeom>
          <a:noFill/>
          <a:ln/>
        </p:spPr>
        <p:txBody>
          <a:bodyPr wrap="square" lIns="0" tIns="0" rIns="0" bIns="0" rtlCol="0" anchor="ctr"/>
          <a:lstStyle/>
          <a:p>
            <a:pPr algn="l" indent="0" marL="0">
              <a:buNone/>
            </a:pPr>
            <a:r>
              <a:rPr lang="en-US" sz="1400" dirty="0">
                <a:solidFill>
                  <a:srgbClr val="DCEFE5"/>
                </a:solidFill>
                <a:latin typeface="Calibri" pitchFamily="34" charset="0"/>
                <a:ea typeface="Calibri" pitchFamily="34" charset="-122"/>
                <a:cs typeface="Calibri" pitchFamily="34" charset="-120"/>
              </a:rPr>
              <a:t>スタースキーマ・シンセティックキー回避・リンクテーブルを実務レベルで身につける</a:t>
            </a:r>
            <a:endParaRPr lang="en-US" sz="1400" dirty="0"/>
          </a:p>
        </p:txBody>
      </p:sp>
      <p:sp>
        <p:nvSpPr>
          <p:cNvPr id="10" name="Shape 7"/>
          <p:cNvSpPr/>
          <p:nvPr/>
        </p:nvSpPr>
        <p:spPr>
          <a:xfrm>
            <a:off x="548640" y="3749040"/>
            <a:ext cx="1248156" cy="365760"/>
          </a:xfrm>
          <a:prstGeom prst="roundRect">
            <a:avLst>
              <a:gd name="adj" fmla="val 50000"/>
            </a:avLst>
          </a:prstGeom>
          <a:solidFill>
            <a:srgbClr val="FFFFFF">
              <a:alpha val="12000"/>
            </a:srgbClr>
          </a:solidFill>
          <a:ln w="9525">
            <a:solidFill>
              <a:srgbClr val="E8F5EF">
                <a:alpha val="60000"/>
              </a:srgbClr>
            </a:solidFill>
            <a:prstDash val="solid"/>
          </a:ln>
        </p:spPr>
      </p:sp>
      <p:sp>
        <p:nvSpPr>
          <p:cNvPr id="11" name="Text 8"/>
          <p:cNvSpPr/>
          <p:nvPr/>
        </p:nvSpPr>
        <p:spPr>
          <a:xfrm>
            <a:off x="548640" y="3749040"/>
            <a:ext cx="1248156" cy="365760"/>
          </a:xfrm>
          <a:prstGeom prst="rect">
            <a:avLst/>
          </a:prstGeom>
          <a:noFill/>
          <a:ln/>
        </p:spPr>
        <p:txBody>
          <a:bodyPr wrap="square" lIns="0" tIns="0" rIns="0" bIns="0" rtlCol="0" anchor="ctr"/>
          <a:lstStyle/>
          <a:p>
            <a:pPr algn="ctr" indent="0" marL="0">
              <a:buNone/>
            </a:pPr>
            <a:r>
              <a:rPr lang="en-US" sz="1050" dirty="0">
                <a:solidFill>
                  <a:srgbClr val="DCEFE5"/>
                </a:solidFill>
                <a:latin typeface="Calibri" pitchFamily="34" charset="0"/>
                <a:ea typeface="Calibri" pitchFamily="34" charset="-122"/>
                <a:cs typeface="Calibri" pitchFamily="34" charset="-120"/>
              </a:rPr>
              <a:t>① スクリプト開発</a:t>
            </a:r>
            <a:endParaRPr lang="en-US" sz="1050" dirty="0"/>
          </a:p>
        </p:txBody>
      </p:sp>
      <p:sp>
        <p:nvSpPr>
          <p:cNvPr id="12" name="Shape 9"/>
          <p:cNvSpPr/>
          <p:nvPr/>
        </p:nvSpPr>
        <p:spPr>
          <a:xfrm>
            <a:off x="1933956" y="3749040"/>
            <a:ext cx="1344168" cy="365760"/>
          </a:xfrm>
          <a:prstGeom prst="roundRect">
            <a:avLst>
              <a:gd name="adj" fmla="val 50000"/>
            </a:avLst>
          </a:prstGeom>
          <a:solidFill>
            <a:srgbClr val="1F8A5F"/>
          </a:solidFill>
          <a:ln w="12700">
            <a:solidFill>
              <a:srgbClr val="E8F5EF">
                <a:alpha val="0"/>
              </a:srgbClr>
            </a:solidFill>
            <a:prstDash val="solid"/>
          </a:ln>
        </p:spPr>
      </p:sp>
      <p:sp>
        <p:nvSpPr>
          <p:cNvPr id="13" name="Text 10"/>
          <p:cNvSpPr/>
          <p:nvPr/>
        </p:nvSpPr>
        <p:spPr>
          <a:xfrm>
            <a:off x="1933956" y="3749040"/>
            <a:ext cx="1344168"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② データモデリング</a:t>
            </a:r>
            <a:endParaRPr lang="en-US" sz="1050" dirty="0"/>
          </a:p>
        </p:txBody>
      </p:sp>
      <p:sp>
        <p:nvSpPr>
          <p:cNvPr id="14" name="Shape 11"/>
          <p:cNvSpPr/>
          <p:nvPr/>
        </p:nvSpPr>
        <p:spPr>
          <a:xfrm>
            <a:off x="3415284" y="3749040"/>
            <a:ext cx="2112264" cy="365760"/>
          </a:xfrm>
          <a:prstGeom prst="roundRect">
            <a:avLst>
              <a:gd name="adj" fmla="val 50000"/>
            </a:avLst>
          </a:prstGeom>
          <a:solidFill>
            <a:srgbClr val="FFFFFF">
              <a:alpha val="12000"/>
            </a:srgbClr>
          </a:solidFill>
          <a:ln w="9525">
            <a:solidFill>
              <a:srgbClr val="E8F5EF">
                <a:alpha val="60000"/>
              </a:srgbClr>
            </a:solidFill>
            <a:prstDash val="solid"/>
          </a:ln>
        </p:spPr>
      </p:sp>
      <p:sp>
        <p:nvSpPr>
          <p:cNvPr id="15" name="Text 12"/>
          <p:cNvSpPr/>
          <p:nvPr/>
        </p:nvSpPr>
        <p:spPr>
          <a:xfrm>
            <a:off x="3415284" y="3749040"/>
            <a:ext cx="2112264" cy="365760"/>
          </a:xfrm>
          <a:prstGeom prst="rect">
            <a:avLst/>
          </a:prstGeom>
          <a:noFill/>
          <a:ln/>
        </p:spPr>
        <p:txBody>
          <a:bodyPr wrap="square" lIns="0" tIns="0" rIns="0" bIns="0" rtlCol="0" anchor="ctr"/>
          <a:lstStyle/>
          <a:p>
            <a:pPr algn="ctr" indent="0" marL="0">
              <a:buNone/>
            </a:pPr>
            <a:r>
              <a:rPr lang="en-US" sz="1050" dirty="0">
                <a:solidFill>
                  <a:srgbClr val="DCEFE5"/>
                </a:solidFill>
                <a:latin typeface="Calibri" pitchFamily="34" charset="0"/>
                <a:ea typeface="Calibri" pitchFamily="34" charset="-122"/>
                <a:cs typeface="Calibri" pitchFamily="34" charset="-120"/>
              </a:rPr>
              <a:t>③ 可視化/Set Analysis</a:t>
            </a:r>
            <a:endParaRPr lang="en-US" sz="1050" dirty="0"/>
          </a:p>
        </p:txBody>
      </p:sp>
      <p:sp>
        <p:nvSpPr>
          <p:cNvPr id="16" name="Shape 13"/>
          <p:cNvSpPr/>
          <p:nvPr/>
        </p:nvSpPr>
        <p:spPr>
          <a:xfrm>
            <a:off x="5664708" y="3749040"/>
            <a:ext cx="1248156" cy="365760"/>
          </a:xfrm>
          <a:prstGeom prst="roundRect">
            <a:avLst>
              <a:gd name="adj" fmla="val 50000"/>
            </a:avLst>
          </a:prstGeom>
          <a:solidFill>
            <a:srgbClr val="FFFFFF">
              <a:alpha val="12000"/>
            </a:srgbClr>
          </a:solidFill>
          <a:ln w="9525">
            <a:solidFill>
              <a:srgbClr val="E8F5EF">
                <a:alpha val="60000"/>
              </a:srgbClr>
            </a:solidFill>
            <a:prstDash val="solid"/>
          </a:ln>
        </p:spPr>
      </p:sp>
      <p:sp>
        <p:nvSpPr>
          <p:cNvPr id="17" name="Text 14"/>
          <p:cNvSpPr/>
          <p:nvPr/>
        </p:nvSpPr>
        <p:spPr>
          <a:xfrm>
            <a:off x="5664708" y="3749040"/>
            <a:ext cx="1248156" cy="365760"/>
          </a:xfrm>
          <a:prstGeom prst="rect">
            <a:avLst/>
          </a:prstGeom>
          <a:noFill/>
          <a:ln/>
        </p:spPr>
        <p:txBody>
          <a:bodyPr wrap="square" lIns="0" tIns="0" rIns="0" bIns="0" rtlCol="0" anchor="ctr"/>
          <a:lstStyle/>
          <a:p>
            <a:pPr algn="ctr" indent="0" marL="0">
              <a:buNone/>
            </a:pPr>
            <a:r>
              <a:rPr lang="en-US" sz="1050" dirty="0">
                <a:solidFill>
                  <a:srgbClr val="DCEFE5"/>
                </a:solidFill>
                <a:latin typeface="Calibri" pitchFamily="34" charset="0"/>
                <a:ea typeface="Calibri" pitchFamily="34" charset="-122"/>
                <a:cs typeface="Calibri" pitchFamily="34" charset="-120"/>
              </a:rPr>
              <a:t>④ パフォーマンス</a:t>
            </a:r>
            <a:endParaRPr lang="en-US" sz="1050" dirty="0"/>
          </a:p>
        </p:txBody>
      </p:sp>
      <p:sp>
        <p:nvSpPr>
          <p:cNvPr id="18" name="Shape 15"/>
          <p:cNvSpPr/>
          <p:nvPr/>
        </p:nvSpPr>
        <p:spPr>
          <a:xfrm>
            <a:off x="7050024" y="3749040"/>
            <a:ext cx="1440180" cy="365760"/>
          </a:xfrm>
          <a:prstGeom prst="roundRect">
            <a:avLst>
              <a:gd name="adj" fmla="val 50000"/>
            </a:avLst>
          </a:prstGeom>
          <a:solidFill>
            <a:srgbClr val="FFFFFF">
              <a:alpha val="12000"/>
            </a:srgbClr>
          </a:solidFill>
          <a:ln w="9525">
            <a:solidFill>
              <a:srgbClr val="E8F5EF">
                <a:alpha val="60000"/>
              </a:srgbClr>
            </a:solidFill>
            <a:prstDash val="solid"/>
          </a:ln>
        </p:spPr>
      </p:sp>
      <p:sp>
        <p:nvSpPr>
          <p:cNvPr id="19" name="Text 16"/>
          <p:cNvSpPr/>
          <p:nvPr/>
        </p:nvSpPr>
        <p:spPr>
          <a:xfrm>
            <a:off x="7050024" y="3749040"/>
            <a:ext cx="1440180" cy="365760"/>
          </a:xfrm>
          <a:prstGeom prst="rect">
            <a:avLst/>
          </a:prstGeom>
          <a:noFill/>
          <a:ln/>
        </p:spPr>
        <p:txBody>
          <a:bodyPr wrap="square" lIns="0" tIns="0" rIns="0" bIns="0" rtlCol="0" anchor="ctr"/>
          <a:lstStyle/>
          <a:p>
            <a:pPr algn="ctr" indent="0" marL="0">
              <a:buNone/>
            </a:pPr>
            <a:r>
              <a:rPr lang="en-US" sz="1050" dirty="0">
                <a:solidFill>
                  <a:srgbClr val="DCEFE5"/>
                </a:solidFill>
                <a:latin typeface="Calibri" pitchFamily="34" charset="0"/>
                <a:ea typeface="Calibri" pitchFamily="34" charset="-122"/>
                <a:cs typeface="Calibri" pitchFamily="34" charset="-120"/>
              </a:rPr>
              <a:t>⑤ セキュリティ/運用</a:t>
            </a:r>
            <a:endParaRPr lang="en-US" sz="1050" dirty="0"/>
          </a:p>
        </p:txBody>
      </p:sp>
      <p:sp>
        <p:nvSpPr>
          <p:cNvPr id="20" name="Shape 17"/>
          <p:cNvSpPr/>
          <p:nvPr/>
        </p:nvSpPr>
        <p:spPr>
          <a:xfrm>
            <a:off x="8627364" y="3749040"/>
            <a:ext cx="864108" cy="365760"/>
          </a:xfrm>
          <a:prstGeom prst="roundRect">
            <a:avLst>
              <a:gd name="adj" fmla="val 50000"/>
            </a:avLst>
          </a:prstGeom>
          <a:solidFill>
            <a:srgbClr val="FFFFFF">
              <a:alpha val="12000"/>
            </a:srgbClr>
          </a:solidFill>
          <a:ln w="9525">
            <a:solidFill>
              <a:srgbClr val="E8F5EF">
                <a:alpha val="60000"/>
              </a:srgbClr>
            </a:solidFill>
            <a:prstDash val="solid"/>
          </a:ln>
        </p:spPr>
      </p:sp>
      <p:sp>
        <p:nvSpPr>
          <p:cNvPr id="21" name="Text 18"/>
          <p:cNvSpPr/>
          <p:nvPr/>
        </p:nvSpPr>
        <p:spPr>
          <a:xfrm>
            <a:off x="8627364" y="3749040"/>
            <a:ext cx="864108" cy="365760"/>
          </a:xfrm>
          <a:prstGeom prst="rect">
            <a:avLst/>
          </a:prstGeom>
          <a:noFill/>
          <a:ln/>
        </p:spPr>
        <p:txBody>
          <a:bodyPr wrap="square" lIns="0" tIns="0" rIns="0" bIns="0" rtlCol="0" anchor="ctr"/>
          <a:lstStyle/>
          <a:p>
            <a:pPr algn="ctr" indent="0" marL="0">
              <a:buNone/>
            </a:pPr>
            <a:r>
              <a:rPr lang="en-US" sz="1050" dirty="0">
                <a:solidFill>
                  <a:srgbClr val="DCEFE5"/>
                </a:solidFill>
                <a:latin typeface="Calibri" pitchFamily="34" charset="0"/>
                <a:ea typeface="Calibri" pitchFamily="34" charset="-122"/>
                <a:cs typeface="Calibri" pitchFamily="34" charset="-120"/>
              </a:rPr>
              <a:t>⑥ 自動化</a:t>
            </a:r>
            <a:endParaRPr lang="en-US" sz="1050" dirty="0"/>
          </a:p>
        </p:txBody>
      </p:sp>
      <p:sp>
        <p:nvSpPr>
          <p:cNvPr id="22" name="Shape 19"/>
          <p:cNvSpPr/>
          <p:nvPr/>
        </p:nvSpPr>
        <p:spPr>
          <a:xfrm>
            <a:off x="9628632" y="3749040"/>
            <a:ext cx="960120" cy="365760"/>
          </a:xfrm>
          <a:prstGeom prst="roundRect">
            <a:avLst>
              <a:gd name="adj" fmla="val 50000"/>
            </a:avLst>
          </a:prstGeom>
          <a:solidFill>
            <a:srgbClr val="FFFFFF">
              <a:alpha val="12000"/>
            </a:srgbClr>
          </a:solidFill>
          <a:ln w="9525">
            <a:solidFill>
              <a:srgbClr val="E8F5EF">
                <a:alpha val="60000"/>
              </a:srgbClr>
            </a:solidFill>
            <a:prstDash val="solid"/>
          </a:ln>
        </p:spPr>
      </p:sp>
      <p:sp>
        <p:nvSpPr>
          <p:cNvPr id="23" name="Text 20"/>
          <p:cNvSpPr/>
          <p:nvPr/>
        </p:nvSpPr>
        <p:spPr>
          <a:xfrm>
            <a:off x="9628632" y="3749040"/>
            <a:ext cx="960120" cy="365760"/>
          </a:xfrm>
          <a:prstGeom prst="rect">
            <a:avLst/>
          </a:prstGeom>
          <a:noFill/>
          <a:ln/>
        </p:spPr>
        <p:txBody>
          <a:bodyPr wrap="square" lIns="0" tIns="0" rIns="0" bIns="0" rtlCol="0" anchor="ctr"/>
          <a:lstStyle/>
          <a:p>
            <a:pPr algn="ctr" indent="0" marL="0">
              <a:buNone/>
            </a:pPr>
            <a:r>
              <a:rPr lang="en-US" sz="1050" dirty="0">
                <a:solidFill>
                  <a:srgbClr val="DCEFE5"/>
                </a:solidFill>
                <a:latin typeface="Calibri" pitchFamily="34" charset="0"/>
                <a:ea typeface="Calibri" pitchFamily="34" charset="-122"/>
                <a:cs typeface="Calibri" pitchFamily="34" charset="-120"/>
              </a:rPr>
              <a:t>⑦ AI機能</a:t>
            </a:r>
            <a:endParaRPr lang="en-US" sz="1050" dirty="0"/>
          </a:p>
        </p:txBody>
      </p:sp>
      <p:sp>
        <p:nvSpPr>
          <p:cNvPr id="24" name="Text 21"/>
          <p:cNvSpPr/>
          <p:nvPr/>
        </p:nvSpPr>
        <p:spPr>
          <a:xfrm>
            <a:off x="548640" y="6446520"/>
            <a:ext cx="8229600" cy="274320"/>
          </a:xfrm>
          <a:prstGeom prst="rect">
            <a:avLst/>
          </a:prstGeom>
          <a:noFill/>
          <a:ln/>
        </p:spPr>
        <p:txBody>
          <a:bodyPr wrap="square" lIns="0" tIns="0" rIns="0" bIns="0" rtlCol="0" anchor="ctr"/>
          <a:lstStyle/>
          <a:p>
            <a:pPr algn="l" indent="0" marL="0">
              <a:buNone/>
            </a:pPr>
            <a:r>
              <a:rPr lang="en-US" sz="950" dirty="0">
                <a:solidFill>
                  <a:srgbClr val="E8F5EF"/>
                </a:solidFill>
                <a:latin typeface="Calibri" pitchFamily="34" charset="0"/>
                <a:ea typeface="Calibri" pitchFamily="34" charset="-122"/>
                <a:cs typeface="Calibri" pitchFamily="34" charset="-120"/>
              </a:rPr>
              <a:t>Qlik Sense開発者ガイド② データモデリング設計編</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algn="l" indent="0" marL="0">
              <a:buNone/>
            </a:pPr>
            <a:r>
              <a:rPr lang="en-US" sz="2800" b="1" dirty="0">
                <a:solidFill>
                  <a:srgbClr val="0B3D2E"/>
                </a:solidFill>
                <a:latin typeface="Cambria" pitchFamily="34" charset="0"/>
                <a:ea typeface="Cambria" pitchFamily="34" charset="-122"/>
                <a:cs typeface="Cambria" pitchFamily="34" charset="-120"/>
              </a:rPr>
              <a:t>本日のアジェンダ</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algn="l" indent="0" marL="0">
              <a:buNone/>
            </a:pPr>
            <a:r>
              <a:rPr lang="en-US" sz="1300" dirty="0">
                <a:solidFill>
                  <a:srgbClr val="64748B"/>
                </a:solidFill>
                <a:latin typeface="Calibri" pitchFamily="34" charset="0"/>
                <a:ea typeface="Calibri" pitchFamily="34" charset="-122"/>
                <a:cs typeface="Calibri" pitchFamily="34" charset="-120"/>
              </a:rPr>
              <a:t>データモデリング設計編で扱う7つのトピック</a:t>
            </a:r>
            <a:endParaRPr lang="en-US" sz="1300" dirty="0"/>
          </a:p>
        </p:txBody>
      </p:sp>
      <p:sp>
        <p:nvSpPr>
          <p:cNvPr id="4" name="Shape 2"/>
          <p:cNvSpPr/>
          <p:nvPr/>
        </p:nvSpPr>
        <p:spPr>
          <a:xfrm>
            <a:off x="548640" y="1335024"/>
            <a:ext cx="3291840" cy="1353312"/>
          </a:xfrm>
          <a:prstGeom prst="roundRect">
            <a:avLst>
              <a:gd name="adj" fmla="val 4730"/>
            </a:avLst>
          </a:prstGeom>
          <a:solidFill>
            <a:srgbClr val="F3FAF6"/>
          </a:solidFill>
          <a:ln/>
          <a:effectLst>
            <a:outerShdw sx="100000" sy="100000" kx="0" ky="0" algn="bl" rotWithShape="0" blurRad="50800" dist="19050" dir="2700000">
              <a:srgbClr val="000000">
                <a:alpha val="12000"/>
              </a:srgbClr>
            </a:outerShdw>
          </a:effectLst>
        </p:spPr>
      </p:sp>
      <p:sp>
        <p:nvSpPr>
          <p:cNvPr id="5" name="Text 3"/>
          <p:cNvSpPr/>
          <p:nvPr/>
        </p:nvSpPr>
        <p:spPr>
          <a:xfrm>
            <a:off x="731520" y="1444752"/>
            <a:ext cx="914400" cy="548640"/>
          </a:xfrm>
          <a:prstGeom prst="rect">
            <a:avLst/>
          </a:prstGeom>
          <a:noFill/>
          <a:ln/>
        </p:spPr>
        <p:txBody>
          <a:bodyPr wrap="square" lIns="0" tIns="0" rIns="0" bIns="0" rtlCol="0" anchor="ctr"/>
          <a:lstStyle/>
          <a:p>
            <a:pPr algn="l" indent="0" marL="0">
              <a:buNone/>
            </a:pPr>
            <a:r>
              <a:rPr lang="en-US" sz="2400" b="1" dirty="0">
                <a:solidFill>
                  <a:srgbClr val="1F8A5F"/>
                </a:solidFill>
                <a:latin typeface="Cambria" pitchFamily="34" charset="0"/>
                <a:ea typeface="Cambria" pitchFamily="34" charset="-122"/>
                <a:cs typeface="Cambria" pitchFamily="34" charset="-120"/>
              </a:rPr>
              <a:t>01</a:t>
            </a:r>
            <a:endParaRPr lang="en-US" sz="2400" dirty="0"/>
          </a:p>
        </p:txBody>
      </p:sp>
      <p:sp>
        <p:nvSpPr>
          <p:cNvPr id="6" name="Text 4"/>
          <p:cNvSpPr/>
          <p:nvPr/>
        </p:nvSpPr>
        <p:spPr>
          <a:xfrm>
            <a:off x="804672" y="2048256"/>
            <a:ext cx="2834640" cy="365760"/>
          </a:xfrm>
          <a:prstGeom prst="rect">
            <a:avLst/>
          </a:prstGeom>
          <a:noFill/>
          <a:ln/>
        </p:spPr>
        <p:txBody>
          <a:bodyPr wrap="square" lIns="0" tIns="0" rIns="0" bIns="0" rtlCol="0" anchor="ctr"/>
          <a:lstStyle/>
          <a:p>
            <a:pPr algn="l" indent="0" marL="0">
              <a:buNone/>
            </a:pPr>
            <a:r>
              <a:rPr lang="en-US" sz="1400" b="1" dirty="0">
                <a:solidFill>
                  <a:srgbClr val="0B3D2E"/>
                </a:solidFill>
                <a:latin typeface="Cambria" pitchFamily="34" charset="0"/>
                <a:ea typeface="Cambria" pitchFamily="34" charset="-122"/>
                <a:cs typeface="Cambria" pitchFamily="34" charset="-120"/>
              </a:rPr>
              <a:t>連想モデルとスタースキーマ</a:t>
            </a:r>
            <a:endParaRPr lang="en-US" sz="1400" dirty="0"/>
          </a:p>
        </p:txBody>
      </p:sp>
      <p:sp>
        <p:nvSpPr>
          <p:cNvPr id="7" name="Text 5"/>
          <p:cNvSpPr/>
          <p:nvPr/>
        </p:nvSpPr>
        <p:spPr>
          <a:xfrm>
            <a:off x="804672" y="2395728"/>
            <a:ext cx="2834640" cy="457200"/>
          </a:xfrm>
          <a:prstGeom prst="rect">
            <a:avLst/>
          </a:prstGeom>
          <a:noFill/>
          <a:ln/>
        </p:spPr>
        <p:txBody>
          <a:bodyPr wrap="square" lIns="0" tIns="0" rIns="0" bIns="0" rtlCol="0" anchor="t"/>
          <a:lstStyle/>
          <a:p>
            <a:pPr algn="l" indent="0" marL="0">
              <a:buNone/>
            </a:pPr>
            <a:r>
              <a:rPr lang="en-US" sz="1000" dirty="0">
                <a:solidFill>
                  <a:srgbClr val="64748B"/>
                </a:solidFill>
                <a:latin typeface="Calibri" pitchFamily="34" charset="0"/>
                <a:ea typeface="Calibri" pitchFamily="34" charset="-122"/>
                <a:cs typeface="Calibri" pitchFamily="34" charset="-120"/>
              </a:rPr>
              <a:t>ファクト/ディメンションの考え方と連想エンジンの関係</a:t>
            </a:r>
            <a:endParaRPr lang="en-US" sz="1000" dirty="0"/>
          </a:p>
        </p:txBody>
      </p:sp>
      <p:sp>
        <p:nvSpPr>
          <p:cNvPr id="8" name="Shape 6"/>
          <p:cNvSpPr/>
          <p:nvPr/>
        </p:nvSpPr>
        <p:spPr>
          <a:xfrm>
            <a:off x="4005072" y="1335024"/>
            <a:ext cx="3291840" cy="1353312"/>
          </a:xfrm>
          <a:prstGeom prst="roundRect">
            <a:avLst>
              <a:gd name="adj" fmla="val 4730"/>
            </a:avLst>
          </a:prstGeom>
          <a:solidFill>
            <a:srgbClr val="F3FAF6"/>
          </a:solidFill>
          <a:ln/>
          <a:effectLst>
            <a:outerShdw sx="100000" sy="100000" kx="0" ky="0" algn="bl" rotWithShape="0" blurRad="50800" dist="19050" dir="2700000">
              <a:srgbClr val="000000">
                <a:alpha val="12000"/>
              </a:srgbClr>
            </a:outerShdw>
          </a:effectLst>
        </p:spPr>
      </p:sp>
      <p:sp>
        <p:nvSpPr>
          <p:cNvPr id="9" name="Text 7"/>
          <p:cNvSpPr/>
          <p:nvPr/>
        </p:nvSpPr>
        <p:spPr>
          <a:xfrm>
            <a:off x="4187952" y="1444752"/>
            <a:ext cx="914400" cy="548640"/>
          </a:xfrm>
          <a:prstGeom prst="rect">
            <a:avLst/>
          </a:prstGeom>
          <a:noFill/>
          <a:ln/>
        </p:spPr>
        <p:txBody>
          <a:bodyPr wrap="square" lIns="0" tIns="0" rIns="0" bIns="0" rtlCol="0" anchor="ctr"/>
          <a:lstStyle/>
          <a:p>
            <a:pPr algn="l" indent="0" marL="0">
              <a:buNone/>
            </a:pPr>
            <a:r>
              <a:rPr lang="en-US" sz="2400" b="1" dirty="0">
                <a:solidFill>
                  <a:srgbClr val="1F8A5F"/>
                </a:solidFill>
                <a:latin typeface="Cambria" pitchFamily="34" charset="0"/>
                <a:ea typeface="Cambria" pitchFamily="34" charset="-122"/>
                <a:cs typeface="Cambria" pitchFamily="34" charset="-120"/>
              </a:rPr>
              <a:t>02</a:t>
            </a:r>
            <a:endParaRPr lang="en-US" sz="2400" dirty="0"/>
          </a:p>
        </p:txBody>
      </p:sp>
      <p:sp>
        <p:nvSpPr>
          <p:cNvPr id="10" name="Text 8"/>
          <p:cNvSpPr/>
          <p:nvPr/>
        </p:nvSpPr>
        <p:spPr>
          <a:xfrm>
            <a:off x="4261104" y="2048256"/>
            <a:ext cx="2834640" cy="365760"/>
          </a:xfrm>
          <a:prstGeom prst="rect">
            <a:avLst/>
          </a:prstGeom>
          <a:noFill/>
          <a:ln/>
        </p:spPr>
        <p:txBody>
          <a:bodyPr wrap="square" lIns="0" tIns="0" rIns="0" bIns="0" rtlCol="0" anchor="ctr"/>
          <a:lstStyle/>
          <a:p>
            <a:pPr algn="l" indent="0" marL="0">
              <a:buNone/>
            </a:pPr>
            <a:r>
              <a:rPr lang="en-US" sz="1400" b="1" dirty="0">
                <a:solidFill>
                  <a:srgbClr val="0B3D2E"/>
                </a:solidFill>
                <a:latin typeface="Cambria" pitchFamily="34" charset="0"/>
                <a:ea typeface="Cambria" pitchFamily="34" charset="-122"/>
                <a:cs typeface="Cambria" pitchFamily="34" charset="-120"/>
              </a:rPr>
              <a:t>シンセティックキー</a:t>
            </a:r>
            <a:endParaRPr lang="en-US" sz="1400" dirty="0"/>
          </a:p>
        </p:txBody>
      </p:sp>
      <p:sp>
        <p:nvSpPr>
          <p:cNvPr id="11" name="Text 9"/>
          <p:cNvSpPr/>
          <p:nvPr/>
        </p:nvSpPr>
        <p:spPr>
          <a:xfrm>
            <a:off x="4261104" y="2395728"/>
            <a:ext cx="2834640" cy="457200"/>
          </a:xfrm>
          <a:prstGeom prst="rect">
            <a:avLst/>
          </a:prstGeom>
          <a:noFill/>
          <a:ln/>
        </p:spPr>
        <p:txBody>
          <a:bodyPr wrap="square" lIns="0" tIns="0" rIns="0" bIns="0" rtlCol="0" anchor="t"/>
          <a:lstStyle/>
          <a:p>
            <a:pPr algn="l" indent="0" marL="0">
              <a:buNone/>
            </a:pPr>
            <a:r>
              <a:rPr lang="en-US" sz="1000" dirty="0">
                <a:solidFill>
                  <a:srgbClr val="64748B"/>
                </a:solidFill>
                <a:latin typeface="Calibri" pitchFamily="34" charset="0"/>
                <a:ea typeface="Calibri" pitchFamily="34" charset="-122"/>
                <a:cs typeface="Calibri" pitchFamily="34" charset="-120"/>
              </a:rPr>
              <a:t>発生原因の理解と複合キーによる回避方法</a:t>
            </a:r>
            <a:endParaRPr lang="en-US" sz="1000" dirty="0"/>
          </a:p>
        </p:txBody>
      </p:sp>
      <p:sp>
        <p:nvSpPr>
          <p:cNvPr id="12" name="Shape 10"/>
          <p:cNvSpPr/>
          <p:nvPr/>
        </p:nvSpPr>
        <p:spPr>
          <a:xfrm>
            <a:off x="7461504" y="1335024"/>
            <a:ext cx="3291840" cy="1353312"/>
          </a:xfrm>
          <a:prstGeom prst="roundRect">
            <a:avLst>
              <a:gd name="adj" fmla="val 4730"/>
            </a:avLst>
          </a:prstGeom>
          <a:solidFill>
            <a:srgbClr val="F3FAF6"/>
          </a:solidFill>
          <a:ln/>
          <a:effectLst>
            <a:outerShdw sx="100000" sy="100000" kx="0" ky="0" algn="bl" rotWithShape="0" blurRad="50800" dist="19050" dir="2700000">
              <a:srgbClr val="000000">
                <a:alpha val="12000"/>
              </a:srgbClr>
            </a:outerShdw>
          </a:effectLst>
        </p:spPr>
      </p:sp>
      <p:sp>
        <p:nvSpPr>
          <p:cNvPr id="13" name="Text 11"/>
          <p:cNvSpPr/>
          <p:nvPr/>
        </p:nvSpPr>
        <p:spPr>
          <a:xfrm>
            <a:off x="7644384" y="1444752"/>
            <a:ext cx="914400" cy="548640"/>
          </a:xfrm>
          <a:prstGeom prst="rect">
            <a:avLst/>
          </a:prstGeom>
          <a:noFill/>
          <a:ln/>
        </p:spPr>
        <p:txBody>
          <a:bodyPr wrap="square" lIns="0" tIns="0" rIns="0" bIns="0" rtlCol="0" anchor="ctr"/>
          <a:lstStyle/>
          <a:p>
            <a:pPr algn="l" indent="0" marL="0">
              <a:buNone/>
            </a:pPr>
            <a:r>
              <a:rPr lang="en-US" sz="2400" b="1" dirty="0">
                <a:solidFill>
                  <a:srgbClr val="1F8A5F"/>
                </a:solidFill>
                <a:latin typeface="Cambria" pitchFamily="34" charset="0"/>
                <a:ea typeface="Cambria" pitchFamily="34" charset="-122"/>
                <a:cs typeface="Cambria" pitchFamily="34" charset="-120"/>
              </a:rPr>
              <a:t>03</a:t>
            </a:r>
            <a:endParaRPr lang="en-US" sz="2400" dirty="0"/>
          </a:p>
        </p:txBody>
      </p:sp>
      <p:sp>
        <p:nvSpPr>
          <p:cNvPr id="14" name="Text 12"/>
          <p:cNvSpPr/>
          <p:nvPr/>
        </p:nvSpPr>
        <p:spPr>
          <a:xfrm>
            <a:off x="7717536" y="2048256"/>
            <a:ext cx="2834640" cy="365760"/>
          </a:xfrm>
          <a:prstGeom prst="rect">
            <a:avLst/>
          </a:prstGeom>
          <a:noFill/>
          <a:ln/>
        </p:spPr>
        <p:txBody>
          <a:bodyPr wrap="square" lIns="0" tIns="0" rIns="0" bIns="0" rtlCol="0" anchor="ctr"/>
          <a:lstStyle/>
          <a:p>
            <a:pPr algn="l" indent="0" marL="0">
              <a:buNone/>
            </a:pPr>
            <a:r>
              <a:rPr lang="en-US" sz="1400" b="1" dirty="0">
                <a:solidFill>
                  <a:srgbClr val="0B3D2E"/>
                </a:solidFill>
                <a:latin typeface="Cambria" pitchFamily="34" charset="0"/>
                <a:ea typeface="Cambria" pitchFamily="34" charset="-122"/>
                <a:cs typeface="Cambria" pitchFamily="34" charset="-120"/>
              </a:rPr>
              <a:t>リンクテーブル設計</a:t>
            </a:r>
            <a:endParaRPr lang="en-US" sz="1400" dirty="0"/>
          </a:p>
        </p:txBody>
      </p:sp>
      <p:sp>
        <p:nvSpPr>
          <p:cNvPr id="15" name="Text 13"/>
          <p:cNvSpPr/>
          <p:nvPr/>
        </p:nvSpPr>
        <p:spPr>
          <a:xfrm>
            <a:off x="7717536" y="2395728"/>
            <a:ext cx="2834640" cy="457200"/>
          </a:xfrm>
          <a:prstGeom prst="rect">
            <a:avLst/>
          </a:prstGeom>
          <a:noFill/>
          <a:ln/>
        </p:spPr>
        <p:txBody>
          <a:bodyPr wrap="square" lIns="0" tIns="0" rIns="0" bIns="0" rtlCol="0" anchor="t"/>
          <a:lstStyle/>
          <a:p>
            <a:pPr algn="l" indent="0" marL="0">
              <a:buNone/>
            </a:pPr>
            <a:r>
              <a:rPr lang="en-US" sz="1000" dirty="0">
                <a:solidFill>
                  <a:srgbClr val="64748B"/>
                </a:solidFill>
                <a:latin typeface="Calibri" pitchFamily="34" charset="0"/>
                <a:ea typeface="Calibri" pitchFamily="34" charset="-122"/>
                <a:cs typeface="Calibri" pitchFamily="34" charset="-120"/>
              </a:rPr>
              <a:t>複数ファクトテーブルを安全に結合する設計パターン</a:t>
            </a:r>
            <a:endParaRPr lang="en-US" sz="1000" dirty="0"/>
          </a:p>
        </p:txBody>
      </p:sp>
      <p:sp>
        <p:nvSpPr>
          <p:cNvPr id="16" name="Shape 14"/>
          <p:cNvSpPr/>
          <p:nvPr/>
        </p:nvSpPr>
        <p:spPr>
          <a:xfrm>
            <a:off x="548640" y="2852928"/>
            <a:ext cx="3291840" cy="1353312"/>
          </a:xfrm>
          <a:prstGeom prst="roundRect">
            <a:avLst>
              <a:gd name="adj" fmla="val 4730"/>
            </a:avLst>
          </a:prstGeom>
          <a:solidFill>
            <a:srgbClr val="F3FAF6"/>
          </a:solidFill>
          <a:ln/>
          <a:effectLst>
            <a:outerShdw sx="100000" sy="100000" kx="0" ky="0" algn="bl" rotWithShape="0" blurRad="50800" dist="19050" dir="2700000">
              <a:srgbClr val="000000">
                <a:alpha val="12000"/>
              </a:srgbClr>
            </a:outerShdw>
          </a:effectLst>
        </p:spPr>
      </p:sp>
      <p:sp>
        <p:nvSpPr>
          <p:cNvPr id="17" name="Text 15"/>
          <p:cNvSpPr/>
          <p:nvPr/>
        </p:nvSpPr>
        <p:spPr>
          <a:xfrm>
            <a:off x="731520" y="2962656"/>
            <a:ext cx="914400" cy="548640"/>
          </a:xfrm>
          <a:prstGeom prst="rect">
            <a:avLst/>
          </a:prstGeom>
          <a:noFill/>
          <a:ln/>
        </p:spPr>
        <p:txBody>
          <a:bodyPr wrap="square" lIns="0" tIns="0" rIns="0" bIns="0" rtlCol="0" anchor="ctr"/>
          <a:lstStyle/>
          <a:p>
            <a:pPr algn="l" indent="0" marL="0">
              <a:buNone/>
            </a:pPr>
            <a:r>
              <a:rPr lang="en-US" sz="2400" b="1" dirty="0">
                <a:solidFill>
                  <a:srgbClr val="1F8A5F"/>
                </a:solidFill>
                <a:latin typeface="Cambria" pitchFamily="34" charset="0"/>
                <a:ea typeface="Cambria" pitchFamily="34" charset="-122"/>
                <a:cs typeface="Cambria" pitchFamily="34" charset="-120"/>
              </a:rPr>
              <a:t>04</a:t>
            </a:r>
            <a:endParaRPr lang="en-US" sz="2400" dirty="0"/>
          </a:p>
        </p:txBody>
      </p:sp>
      <p:sp>
        <p:nvSpPr>
          <p:cNvPr id="18" name="Text 16"/>
          <p:cNvSpPr/>
          <p:nvPr/>
        </p:nvSpPr>
        <p:spPr>
          <a:xfrm>
            <a:off x="804672" y="3566160"/>
            <a:ext cx="2834640" cy="365760"/>
          </a:xfrm>
          <a:prstGeom prst="rect">
            <a:avLst/>
          </a:prstGeom>
          <a:noFill/>
          <a:ln/>
        </p:spPr>
        <p:txBody>
          <a:bodyPr wrap="square" lIns="0" tIns="0" rIns="0" bIns="0" rtlCol="0" anchor="ctr"/>
          <a:lstStyle/>
          <a:p>
            <a:pPr algn="l" indent="0" marL="0">
              <a:buNone/>
            </a:pPr>
            <a:r>
              <a:rPr lang="en-US" sz="1400" b="1" dirty="0">
                <a:solidFill>
                  <a:srgbClr val="0B3D2E"/>
                </a:solidFill>
                <a:latin typeface="Cambria" pitchFamily="34" charset="0"/>
                <a:ea typeface="Cambria" pitchFamily="34" charset="-122"/>
                <a:cs typeface="Cambria" pitchFamily="34" charset="-120"/>
              </a:rPr>
              <a:t>循環参照の解消</a:t>
            </a:r>
            <a:endParaRPr lang="en-US" sz="1400" dirty="0"/>
          </a:p>
        </p:txBody>
      </p:sp>
      <p:sp>
        <p:nvSpPr>
          <p:cNvPr id="19" name="Text 17"/>
          <p:cNvSpPr/>
          <p:nvPr/>
        </p:nvSpPr>
        <p:spPr>
          <a:xfrm>
            <a:off x="804672" y="3913632"/>
            <a:ext cx="2834640" cy="457200"/>
          </a:xfrm>
          <a:prstGeom prst="rect">
            <a:avLst/>
          </a:prstGeom>
          <a:noFill/>
          <a:ln/>
        </p:spPr>
        <p:txBody>
          <a:bodyPr wrap="square" lIns="0" tIns="0" rIns="0" bIns="0" rtlCol="0" anchor="t"/>
          <a:lstStyle/>
          <a:p>
            <a:pPr algn="l" indent="0" marL="0">
              <a:buNone/>
            </a:pPr>
            <a:r>
              <a:rPr lang="en-US" sz="1000" dirty="0">
                <a:solidFill>
                  <a:srgbClr val="64748B"/>
                </a:solidFill>
                <a:latin typeface="Calibri" pitchFamily="34" charset="0"/>
                <a:ea typeface="Calibri" pitchFamily="34" charset="-122"/>
                <a:cs typeface="Calibri" pitchFamily="34" charset="-120"/>
              </a:rPr>
              <a:t>Circular Referenceが起きる構造と対処法</a:t>
            </a:r>
            <a:endParaRPr lang="en-US" sz="1000" dirty="0"/>
          </a:p>
        </p:txBody>
      </p:sp>
      <p:sp>
        <p:nvSpPr>
          <p:cNvPr id="20" name="Shape 18"/>
          <p:cNvSpPr/>
          <p:nvPr/>
        </p:nvSpPr>
        <p:spPr>
          <a:xfrm>
            <a:off x="4005072" y="2852928"/>
            <a:ext cx="3291840" cy="1353312"/>
          </a:xfrm>
          <a:prstGeom prst="roundRect">
            <a:avLst>
              <a:gd name="adj" fmla="val 4730"/>
            </a:avLst>
          </a:prstGeom>
          <a:solidFill>
            <a:srgbClr val="F3FAF6"/>
          </a:solidFill>
          <a:ln/>
          <a:effectLst>
            <a:outerShdw sx="100000" sy="100000" kx="0" ky="0" algn="bl" rotWithShape="0" blurRad="50800" dist="19050" dir="2700000">
              <a:srgbClr val="000000">
                <a:alpha val="12000"/>
              </a:srgbClr>
            </a:outerShdw>
          </a:effectLst>
        </p:spPr>
      </p:sp>
      <p:sp>
        <p:nvSpPr>
          <p:cNvPr id="21" name="Text 19"/>
          <p:cNvSpPr/>
          <p:nvPr/>
        </p:nvSpPr>
        <p:spPr>
          <a:xfrm>
            <a:off x="4187952" y="2962656"/>
            <a:ext cx="914400" cy="548640"/>
          </a:xfrm>
          <a:prstGeom prst="rect">
            <a:avLst/>
          </a:prstGeom>
          <a:noFill/>
          <a:ln/>
        </p:spPr>
        <p:txBody>
          <a:bodyPr wrap="square" lIns="0" tIns="0" rIns="0" bIns="0" rtlCol="0" anchor="ctr"/>
          <a:lstStyle/>
          <a:p>
            <a:pPr algn="l" indent="0" marL="0">
              <a:buNone/>
            </a:pPr>
            <a:r>
              <a:rPr lang="en-US" sz="2400" b="1" dirty="0">
                <a:solidFill>
                  <a:srgbClr val="1F8A5F"/>
                </a:solidFill>
                <a:latin typeface="Cambria" pitchFamily="34" charset="0"/>
                <a:ea typeface="Cambria" pitchFamily="34" charset="-122"/>
                <a:cs typeface="Cambria" pitchFamily="34" charset="-120"/>
              </a:rPr>
              <a:t>05</a:t>
            </a:r>
            <a:endParaRPr lang="en-US" sz="2400" dirty="0"/>
          </a:p>
        </p:txBody>
      </p:sp>
      <p:sp>
        <p:nvSpPr>
          <p:cNvPr id="22" name="Text 20"/>
          <p:cNvSpPr/>
          <p:nvPr/>
        </p:nvSpPr>
        <p:spPr>
          <a:xfrm>
            <a:off x="4261104" y="3566160"/>
            <a:ext cx="2834640" cy="365760"/>
          </a:xfrm>
          <a:prstGeom prst="rect">
            <a:avLst/>
          </a:prstGeom>
          <a:noFill/>
          <a:ln/>
        </p:spPr>
        <p:txBody>
          <a:bodyPr wrap="square" lIns="0" tIns="0" rIns="0" bIns="0" rtlCol="0" anchor="ctr"/>
          <a:lstStyle/>
          <a:p>
            <a:pPr algn="l" indent="0" marL="0">
              <a:buNone/>
            </a:pPr>
            <a:r>
              <a:rPr lang="en-US" sz="1400" b="1" dirty="0">
                <a:solidFill>
                  <a:srgbClr val="0B3D2E"/>
                </a:solidFill>
                <a:latin typeface="Cambria" pitchFamily="34" charset="0"/>
                <a:ea typeface="Cambria" pitchFamily="34" charset="-122"/>
                <a:cs typeface="Cambria" pitchFamily="34" charset="-120"/>
              </a:rPr>
              <a:t>Generic/Crosstable</a:t>
            </a:r>
            <a:endParaRPr lang="en-US" sz="1400" dirty="0"/>
          </a:p>
        </p:txBody>
      </p:sp>
      <p:sp>
        <p:nvSpPr>
          <p:cNvPr id="23" name="Text 21"/>
          <p:cNvSpPr/>
          <p:nvPr/>
        </p:nvSpPr>
        <p:spPr>
          <a:xfrm>
            <a:off x="4261104" y="3913632"/>
            <a:ext cx="2834640" cy="457200"/>
          </a:xfrm>
          <a:prstGeom prst="rect">
            <a:avLst/>
          </a:prstGeom>
          <a:noFill/>
          <a:ln/>
        </p:spPr>
        <p:txBody>
          <a:bodyPr wrap="square" lIns="0" tIns="0" rIns="0" bIns="0" rtlCol="0" anchor="t"/>
          <a:lstStyle/>
          <a:p>
            <a:pPr algn="l" indent="0" marL="0">
              <a:buNone/>
            </a:pPr>
            <a:r>
              <a:rPr lang="en-US" sz="1000" dirty="0">
                <a:solidFill>
                  <a:srgbClr val="64748B"/>
                </a:solidFill>
                <a:latin typeface="Calibri" pitchFamily="34" charset="0"/>
                <a:ea typeface="Calibri" pitchFamily="34" charset="-122"/>
                <a:cs typeface="Calibri" pitchFamily="34" charset="-120"/>
              </a:rPr>
              <a:t>可変列データ・属性テーブルの正規化手法</a:t>
            </a:r>
            <a:endParaRPr lang="en-US" sz="1000" dirty="0"/>
          </a:p>
        </p:txBody>
      </p:sp>
      <p:sp>
        <p:nvSpPr>
          <p:cNvPr id="24" name="Shape 22"/>
          <p:cNvSpPr/>
          <p:nvPr/>
        </p:nvSpPr>
        <p:spPr>
          <a:xfrm>
            <a:off x="7461504" y="2852928"/>
            <a:ext cx="3291840" cy="1353312"/>
          </a:xfrm>
          <a:prstGeom prst="roundRect">
            <a:avLst>
              <a:gd name="adj" fmla="val 4730"/>
            </a:avLst>
          </a:prstGeom>
          <a:solidFill>
            <a:srgbClr val="F3FAF6"/>
          </a:solidFill>
          <a:ln/>
          <a:effectLst>
            <a:outerShdw sx="100000" sy="100000" kx="0" ky="0" algn="bl" rotWithShape="0" blurRad="50800" dist="19050" dir="2700000">
              <a:srgbClr val="000000">
                <a:alpha val="12000"/>
              </a:srgbClr>
            </a:outerShdw>
          </a:effectLst>
        </p:spPr>
      </p:sp>
      <p:sp>
        <p:nvSpPr>
          <p:cNvPr id="25" name="Text 23"/>
          <p:cNvSpPr/>
          <p:nvPr/>
        </p:nvSpPr>
        <p:spPr>
          <a:xfrm>
            <a:off x="7644384" y="2962656"/>
            <a:ext cx="914400" cy="548640"/>
          </a:xfrm>
          <a:prstGeom prst="rect">
            <a:avLst/>
          </a:prstGeom>
          <a:noFill/>
          <a:ln/>
        </p:spPr>
        <p:txBody>
          <a:bodyPr wrap="square" lIns="0" tIns="0" rIns="0" bIns="0" rtlCol="0" anchor="ctr"/>
          <a:lstStyle/>
          <a:p>
            <a:pPr algn="l" indent="0" marL="0">
              <a:buNone/>
            </a:pPr>
            <a:r>
              <a:rPr lang="en-US" sz="2400" b="1" dirty="0">
                <a:solidFill>
                  <a:srgbClr val="1F8A5F"/>
                </a:solidFill>
                <a:latin typeface="Cambria" pitchFamily="34" charset="0"/>
                <a:ea typeface="Cambria" pitchFamily="34" charset="-122"/>
                <a:cs typeface="Cambria" pitchFamily="34" charset="-120"/>
              </a:rPr>
              <a:t>06</a:t>
            </a:r>
            <a:endParaRPr lang="en-US" sz="2400" dirty="0"/>
          </a:p>
        </p:txBody>
      </p:sp>
      <p:sp>
        <p:nvSpPr>
          <p:cNvPr id="26" name="Text 24"/>
          <p:cNvSpPr/>
          <p:nvPr/>
        </p:nvSpPr>
        <p:spPr>
          <a:xfrm>
            <a:off x="7717536" y="3566160"/>
            <a:ext cx="2834640" cy="365760"/>
          </a:xfrm>
          <a:prstGeom prst="rect">
            <a:avLst/>
          </a:prstGeom>
          <a:noFill/>
          <a:ln/>
        </p:spPr>
        <p:txBody>
          <a:bodyPr wrap="square" lIns="0" tIns="0" rIns="0" bIns="0" rtlCol="0" anchor="ctr"/>
          <a:lstStyle/>
          <a:p>
            <a:pPr algn="l" indent="0" marL="0">
              <a:buNone/>
            </a:pPr>
            <a:r>
              <a:rPr lang="en-US" sz="1400" b="1" dirty="0">
                <a:solidFill>
                  <a:srgbClr val="0B3D2E"/>
                </a:solidFill>
                <a:latin typeface="Cambria" pitchFamily="34" charset="0"/>
                <a:ea typeface="Cambria" pitchFamily="34" charset="-122"/>
                <a:cs typeface="Cambria" pitchFamily="34" charset="-120"/>
              </a:rPr>
              <a:t>カレンダーテーブル</a:t>
            </a:r>
            <a:endParaRPr lang="en-US" sz="1400" dirty="0"/>
          </a:p>
        </p:txBody>
      </p:sp>
      <p:sp>
        <p:nvSpPr>
          <p:cNvPr id="27" name="Text 25"/>
          <p:cNvSpPr/>
          <p:nvPr/>
        </p:nvSpPr>
        <p:spPr>
          <a:xfrm>
            <a:off x="7717536" y="3913632"/>
            <a:ext cx="2834640" cy="457200"/>
          </a:xfrm>
          <a:prstGeom prst="rect">
            <a:avLst/>
          </a:prstGeom>
          <a:noFill/>
          <a:ln/>
        </p:spPr>
        <p:txBody>
          <a:bodyPr wrap="square" lIns="0" tIns="0" rIns="0" bIns="0" rtlCol="0" anchor="t"/>
          <a:lstStyle/>
          <a:p>
            <a:pPr algn="l" indent="0" marL="0">
              <a:buNone/>
            </a:pPr>
            <a:r>
              <a:rPr lang="en-US" sz="1000" dirty="0">
                <a:solidFill>
                  <a:srgbClr val="64748B"/>
                </a:solidFill>
                <a:latin typeface="Calibri" pitchFamily="34" charset="0"/>
                <a:ea typeface="Calibri" pitchFamily="34" charset="-122"/>
                <a:cs typeface="Calibri" pitchFamily="34" charset="-120"/>
              </a:rPr>
              <a:t>マスターカレンダーの自動生成と日付関連付け</a:t>
            </a:r>
            <a:endParaRPr lang="en-US" sz="1000" dirty="0"/>
          </a:p>
        </p:txBody>
      </p:sp>
      <p:sp>
        <p:nvSpPr>
          <p:cNvPr id="28" name="Shape 26"/>
          <p:cNvSpPr/>
          <p:nvPr/>
        </p:nvSpPr>
        <p:spPr>
          <a:xfrm>
            <a:off x="548640" y="4370832"/>
            <a:ext cx="3291840" cy="1353312"/>
          </a:xfrm>
          <a:prstGeom prst="roundRect">
            <a:avLst>
              <a:gd name="adj" fmla="val 4730"/>
            </a:avLst>
          </a:prstGeom>
          <a:solidFill>
            <a:srgbClr val="F3FAF6"/>
          </a:solidFill>
          <a:ln/>
          <a:effectLst>
            <a:outerShdw sx="100000" sy="100000" kx="0" ky="0" algn="bl" rotWithShape="0" blurRad="50800" dist="19050" dir="2700000">
              <a:srgbClr val="000000">
                <a:alpha val="12000"/>
              </a:srgbClr>
            </a:outerShdw>
          </a:effectLst>
        </p:spPr>
      </p:sp>
      <p:sp>
        <p:nvSpPr>
          <p:cNvPr id="29" name="Text 27"/>
          <p:cNvSpPr/>
          <p:nvPr/>
        </p:nvSpPr>
        <p:spPr>
          <a:xfrm>
            <a:off x="731520" y="4480560"/>
            <a:ext cx="914400" cy="548640"/>
          </a:xfrm>
          <a:prstGeom prst="rect">
            <a:avLst/>
          </a:prstGeom>
          <a:noFill/>
          <a:ln/>
        </p:spPr>
        <p:txBody>
          <a:bodyPr wrap="square" lIns="0" tIns="0" rIns="0" bIns="0" rtlCol="0" anchor="ctr"/>
          <a:lstStyle/>
          <a:p>
            <a:pPr algn="l" indent="0" marL="0">
              <a:buNone/>
            </a:pPr>
            <a:r>
              <a:rPr lang="en-US" sz="2400" b="1" dirty="0">
                <a:solidFill>
                  <a:srgbClr val="1F8A5F"/>
                </a:solidFill>
                <a:latin typeface="Cambria" pitchFamily="34" charset="0"/>
                <a:ea typeface="Cambria" pitchFamily="34" charset="-122"/>
                <a:cs typeface="Cambria" pitchFamily="34" charset="-120"/>
              </a:rPr>
              <a:t>07</a:t>
            </a:r>
            <a:endParaRPr lang="en-US" sz="2400" dirty="0"/>
          </a:p>
        </p:txBody>
      </p:sp>
      <p:sp>
        <p:nvSpPr>
          <p:cNvPr id="30" name="Text 28"/>
          <p:cNvSpPr/>
          <p:nvPr/>
        </p:nvSpPr>
        <p:spPr>
          <a:xfrm>
            <a:off x="804672" y="5084064"/>
            <a:ext cx="2834640" cy="365760"/>
          </a:xfrm>
          <a:prstGeom prst="rect">
            <a:avLst/>
          </a:prstGeom>
          <a:noFill/>
          <a:ln/>
        </p:spPr>
        <p:txBody>
          <a:bodyPr wrap="square" lIns="0" tIns="0" rIns="0" bIns="0" rtlCol="0" anchor="ctr"/>
          <a:lstStyle/>
          <a:p>
            <a:pPr algn="l" indent="0" marL="0">
              <a:buNone/>
            </a:pPr>
            <a:r>
              <a:rPr lang="en-US" sz="1400" b="1" dirty="0">
                <a:solidFill>
                  <a:srgbClr val="0B3D2E"/>
                </a:solidFill>
                <a:latin typeface="Cambria" pitchFamily="34" charset="0"/>
                <a:ea typeface="Cambria" pitchFamily="34" charset="-122"/>
                <a:cs typeface="Cambria" pitchFamily="34" charset="-120"/>
              </a:rPr>
              <a:t>データモデルビューア</a:t>
            </a:r>
            <a:endParaRPr lang="en-US" sz="1400" dirty="0"/>
          </a:p>
        </p:txBody>
      </p:sp>
      <p:sp>
        <p:nvSpPr>
          <p:cNvPr id="31" name="Text 29"/>
          <p:cNvSpPr/>
          <p:nvPr/>
        </p:nvSpPr>
        <p:spPr>
          <a:xfrm>
            <a:off x="804672" y="5431536"/>
            <a:ext cx="2834640" cy="457200"/>
          </a:xfrm>
          <a:prstGeom prst="rect">
            <a:avLst/>
          </a:prstGeom>
          <a:noFill/>
          <a:ln/>
        </p:spPr>
        <p:txBody>
          <a:bodyPr wrap="square" lIns="0" tIns="0" rIns="0" bIns="0" rtlCol="0" anchor="t"/>
          <a:lstStyle/>
          <a:p>
            <a:pPr algn="l" indent="0" marL="0">
              <a:buNone/>
            </a:pPr>
            <a:r>
              <a:rPr lang="en-US" sz="1000" dirty="0">
                <a:solidFill>
                  <a:srgbClr val="64748B"/>
                </a:solidFill>
                <a:latin typeface="Calibri" pitchFamily="34" charset="0"/>
                <a:ea typeface="Calibri" pitchFamily="34" charset="-122"/>
                <a:cs typeface="Calibri" pitchFamily="34" charset="-120"/>
              </a:rPr>
              <a:t>テーブル関連図とキー品質の確認方法</a:t>
            </a:r>
            <a:endParaRPr lang="en-US" sz="1000" dirty="0"/>
          </a:p>
        </p:txBody>
      </p:sp>
      <p:sp>
        <p:nvSpPr>
          <p:cNvPr id="32" name="Text 30"/>
          <p:cNvSpPr/>
          <p:nvPr/>
        </p:nvSpPr>
        <p:spPr>
          <a:xfrm>
            <a:off x="457200" y="649224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Qlik Sense開発者ガイド② データモデリング設計編</a:t>
            </a:r>
            <a:endParaRPr lang="en-US" sz="900" dirty="0"/>
          </a:p>
        </p:txBody>
      </p:sp>
      <p:sp>
        <p:nvSpPr>
          <p:cNvPr id="33" name="Text 31"/>
          <p:cNvSpPr/>
          <p:nvPr/>
        </p:nvSpPr>
        <p:spPr>
          <a:xfrm>
            <a:off x="11365992"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algn="l" indent="0" marL="0">
              <a:buNone/>
            </a:pPr>
            <a:r>
              <a:rPr lang="en-US" sz="2800" b="1" dirty="0">
                <a:solidFill>
                  <a:srgbClr val="0B3D2E"/>
                </a:solidFill>
                <a:latin typeface="Cambria" pitchFamily="34" charset="0"/>
                <a:ea typeface="Cambria" pitchFamily="34" charset="-122"/>
                <a:cs typeface="Cambria" pitchFamily="34" charset="-120"/>
              </a:rPr>
              <a:t>連想モデルとスタースキーマの関係</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algn="l" indent="0" marL="0">
              <a:buNone/>
            </a:pPr>
            <a:r>
              <a:rPr lang="en-US" sz="1300" dirty="0">
                <a:solidFill>
                  <a:srgbClr val="64748B"/>
                </a:solidFill>
                <a:latin typeface="Calibri" pitchFamily="34" charset="0"/>
                <a:ea typeface="Calibri" pitchFamily="34" charset="-122"/>
                <a:cs typeface="Calibri" pitchFamily="34" charset="-120"/>
              </a:rPr>
              <a:t>Qlikの連想エンジンを活かすデータモデル設計の考え方</a:t>
            </a:r>
            <a:endParaRPr lang="en-US" sz="1300" dirty="0"/>
          </a:p>
        </p:txBody>
      </p:sp>
      <p:sp>
        <p:nvSpPr>
          <p:cNvPr id="4" name="Shape 2"/>
          <p:cNvSpPr/>
          <p:nvPr/>
        </p:nvSpPr>
        <p:spPr>
          <a:xfrm>
            <a:off x="548640" y="1600200"/>
            <a:ext cx="100584" cy="100584"/>
          </a:xfrm>
          <a:prstGeom prst="ellipse">
            <a:avLst/>
          </a:prstGeom>
          <a:solidFill>
            <a:srgbClr val="29ADB2"/>
          </a:solidFill>
          <a:ln/>
        </p:spPr>
      </p:sp>
      <p:sp>
        <p:nvSpPr>
          <p:cNvPr id="5" name="Text 3"/>
          <p:cNvSpPr/>
          <p:nvPr/>
        </p:nvSpPr>
        <p:spPr>
          <a:xfrm>
            <a:off x="804672" y="147218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ファクトテーブル：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取引・トランザクションなど「測定値」を持つ最も粒度の細かいテーブル(売上明細など)</a:t>
            </a:r>
            <a:endParaRPr lang="en-US" sz="1250" dirty="0"/>
          </a:p>
        </p:txBody>
      </p:sp>
      <p:sp>
        <p:nvSpPr>
          <p:cNvPr id="6" name="Shape 4"/>
          <p:cNvSpPr/>
          <p:nvPr/>
        </p:nvSpPr>
        <p:spPr>
          <a:xfrm>
            <a:off x="548640" y="2377440"/>
            <a:ext cx="100584" cy="100584"/>
          </a:xfrm>
          <a:prstGeom prst="ellipse">
            <a:avLst/>
          </a:prstGeom>
          <a:solidFill>
            <a:srgbClr val="29ADB2"/>
          </a:solidFill>
          <a:ln/>
        </p:spPr>
      </p:sp>
      <p:sp>
        <p:nvSpPr>
          <p:cNvPr id="7" name="Text 5"/>
          <p:cNvSpPr/>
          <p:nvPr/>
        </p:nvSpPr>
        <p:spPr>
          <a:xfrm>
            <a:off x="804672" y="224942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ディメンションテーブル：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顧客・商品・日付など「分析軸」となるマスタ系テーブル。ファクトから参照される</a:t>
            </a:r>
            <a:endParaRPr lang="en-US" sz="1250" dirty="0"/>
          </a:p>
        </p:txBody>
      </p:sp>
      <p:sp>
        <p:nvSpPr>
          <p:cNvPr id="8" name="Shape 6"/>
          <p:cNvSpPr/>
          <p:nvPr/>
        </p:nvSpPr>
        <p:spPr>
          <a:xfrm>
            <a:off x="548640" y="3154680"/>
            <a:ext cx="100584" cy="100584"/>
          </a:xfrm>
          <a:prstGeom prst="ellipse">
            <a:avLst/>
          </a:prstGeom>
          <a:solidFill>
            <a:srgbClr val="29ADB2"/>
          </a:solidFill>
          <a:ln/>
        </p:spPr>
      </p:sp>
      <p:sp>
        <p:nvSpPr>
          <p:cNvPr id="9" name="Text 7"/>
          <p:cNvSpPr/>
          <p:nvPr/>
        </p:nvSpPr>
        <p:spPr>
          <a:xfrm>
            <a:off x="804672" y="302666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連想エンジンとの関係：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Qlikは明示的なJOINが不要なため、スタースキーマでも雪片型でも動作するが、保守性を考えるとスタースキーマが基本形</a:t>
            </a:r>
            <a:endParaRPr lang="en-US" sz="1250" dirty="0"/>
          </a:p>
        </p:txBody>
      </p:sp>
      <p:sp>
        <p:nvSpPr>
          <p:cNvPr id="10" name="Shape 8"/>
          <p:cNvSpPr/>
          <p:nvPr/>
        </p:nvSpPr>
        <p:spPr>
          <a:xfrm>
            <a:off x="548640" y="4069080"/>
            <a:ext cx="5760720" cy="1051560"/>
          </a:xfrm>
          <a:prstGeom prst="roundRect">
            <a:avLst>
              <a:gd name="adj" fmla="val 5217"/>
            </a:avLst>
          </a:prstGeom>
          <a:solidFill>
            <a:srgbClr val="F3FAF6"/>
          </a:solidFill>
          <a:ln/>
        </p:spPr>
      </p:sp>
      <p:sp>
        <p:nvSpPr>
          <p:cNvPr id="11" name="Text 9"/>
          <p:cNvSpPr/>
          <p:nvPr/>
        </p:nvSpPr>
        <p:spPr>
          <a:xfrm>
            <a:off x="777240" y="4178808"/>
            <a:ext cx="5303520" cy="274320"/>
          </a:xfrm>
          <a:prstGeom prst="rect">
            <a:avLst/>
          </a:prstGeom>
          <a:noFill/>
          <a:ln/>
        </p:spPr>
        <p:txBody>
          <a:bodyPr wrap="square" lIns="0" tIns="0" rIns="0" bIns="0" rtlCol="0" anchor="ctr"/>
          <a:lstStyle/>
          <a:p>
            <a:pPr algn="l" indent="0" marL="0">
              <a:buNone/>
            </a:pPr>
            <a:r>
              <a:rPr lang="en-US" sz="1200" b="1" dirty="0">
                <a:solidFill>
                  <a:srgbClr val="1F8A5F"/>
                </a:solidFill>
                <a:latin typeface="Calibri" pitchFamily="34" charset="0"/>
                <a:ea typeface="Calibri" pitchFamily="34" charset="-122"/>
                <a:cs typeface="Calibri" pitchFamily="34" charset="-120"/>
              </a:rPr>
              <a:t>ポイント</a:t>
            </a:r>
            <a:endParaRPr lang="en-US" sz="1200" dirty="0"/>
          </a:p>
        </p:txBody>
      </p:sp>
      <p:sp>
        <p:nvSpPr>
          <p:cNvPr id="12" name="Text 10"/>
          <p:cNvSpPr/>
          <p:nvPr/>
        </p:nvSpPr>
        <p:spPr>
          <a:xfrm>
            <a:off x="777240" y="4453128"/>
            <a:ext cx="5303520" cy="548640"/>
          </a:xfrm>
          <a:prstGeom prst="rect">
            <a:avLst/>
          </a:prstGeom>
          <a:noFill/>
          <a:ln/>
        </p:spPr>
        <p:txBody>
          <a:bodyPr wrap="square" lIns="0" tIns="0" rIns="0" bIns="0" rtlCol="0" anchor="t"/>
          <a:lstStyle/>
          <a:p>
            <a:pPr algn="l" indent="0" marL="0">
              <a:lnSpc>
                <a:spcPct val="120000"/>
              </a:lnSpc>
              <a:buNone/>
            </a:pPr>
            <a:r>
              <a:rPr lang="en-US" sz="1100" dirty="0">
                <a:solidFill>
                  <a:srgbClr val="1E293B"/>
                </a:solidFill>
                <a:latin typeface="Calibri" pitchFamily="34" charset="0"/>
                <a:ea typeface="Calibri" pitchFamily="34" charset="-122"/>
                <a:cs typeface="Calibri" pitchFamily="34" charset="-120"/>
              </a:rPr>
              <a:t>他のBIツールと違いQlikはJOINレスでも動くが、無秩序な関連付けはシンセティックキーや循環参照の温床になる。設計原則は変わらず重要。</a:t>
            </a:r>
            <a:endParaRPr lang="en-US" sz="1100" dirty="0"/>
          </a:p>
        </p:txBody>
      </p:sp>
      <p:sp>
        <p:nvSpPr>
          <p:cNvPr id="13" name="Shape 11"/>
          <p:cNvSpPr/>
          <p:nvPr/>
        </p:nvSpPr>
        <p:spPr>
          <a:xfrm>
            <a:off x="6583680" y="1600200"/>
            <a:ext cx="5074920" cy="4937760"/>
          </a:xfrm>
          <a:prstGeom prst="roundRect">
            <a:avLst>
              <a:gd name="adj" fmla="val 1481"/>
            </a:avLst>
          </a:prstGeom>
          <a:solidFill>
            <a:srgbClr val="16322A"/>
          </a:solidFill>
          <a:ln/>
          <a:effectLst>
            <a:outerShdw sx="100000" sy="100000" kx="0" ky="0" algn="bl" rotWithShape="0" blurRad="50800" dist="19050" dir="2700000">
              <a:srgbClr val="000000">
                <a:alpha val="12000"/>
              </a:srgbClr>
            </a:outerShdw>
          </a:effectLst>
        </p:spPr>
      </p:sp>
      <p:sp>
        <p:nvSpPr>
          <p:cNvPr id="14" name="Shape 12"/>
          <p:cNvSpPr/>
          <p:nvPr/>
        </p:nvSpPr>
        <p:spPr>
          <a:xfrm>
            <a:off x="10725912" y="1746504"/>
            <a:ext cx="822960" cy="292608"/>
          </a:xfrm>
          <a:prstGeom prst="roundRect">
            <a:avLst>
              <a:gd name="adj" fmla="val 18750"/>
            </a:avLst>
          </a:prstGeom>
          <a:solidFill>
            <a:srgbClr val="1F8A5F"/>
          </a:solidFill>
          <a:ln/>
        </p:spPr>
      </p:sp>
      <p:sp>
        <p:nvSpPr>
          <p:cNvPr id="15" name="Text 13"/>
          <p:cNvSpPr/>
          <p:nvPr/>
        </p:nvSpPr>
        <p:spPr>
          <a:xfrm>
            <a:off x="10725912" y="1746504"/>
            <a:ext cx="8229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Script</a:t>
            </a:r>
            <a:endParaRPr lang="en-US" sz="1100" dirty="0"/>
          </a:p>
        </p:txBody>
      </p:sp>
      <p:sp>
        <p:nvSpPr>
          <p:cNvPr id="16" name="Text 14"/>
          <p:cNvSpPr/>
          <p:nvPr/>
        </p:nvSpPr>
        <p:spPr>
          <a:xfrm>
            <a:off x="6839712" y="1764792"/>
            <a:ext cx="4562856" cy="4608576"/>
          </a:xfrm>
          <a:prstGeom prst="rect">
            <a:avLst/>
          </a:prstGeom>
          <a:noFill/>
          <a:ln/>
        </p:spPr>
        <p:txBody>
          <a:bodyPr wrap="square" lIns="0" tIns="0" rIns="0" bIns="0" rtlCol="0" anchor="t"/>
          <a:lstStyle/>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スタースキーマの典型例</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Sales:</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LOAD</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OrderID, CustomerID, ProductID,</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DateID, Quantity, Amount</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FROM [lib://QVD/sales.qvd] (qvd);</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Customers:</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LOAD CustomerID, CustomerName, Segment</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FROM [lib://QVD/customers.qvd] (qvd);</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Products:</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LOAD ProductID, ProductName, Category</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FROM [lib://QVD/products.qvd] (qvd);</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Sales(ファクト)を中心に</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Customers/Products(ディメンション)が</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放射状につながる「星型」構造</a:t>
            </a:r>
            <a:endParaRPr lang="en-US" sz="950" dirty="0"/>
          </a:p>
        </p:txBody>
      </p:sp>
      <p:sp>
        <p:nvSpPr>
          <p:cNvPr id="17" name="Text 15"/>
          <p:cNvSpPr/>
          <p:nvPr/>
        </p:nvSpPr>
        <p:spPr>
          <a:xfrm>
            <a:off x="457200" y="649224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Qlik Sense開発者ガイド② データモデリング設計編</a:t>
            </a:r>
            <a:endParaRPr lang="en-US" sz="900" dirty="0"/>
          </a:p>
        </p:txBody>
      </p:sp>
      <p:sp>
        <p:nvSpPr>
          <p:cNvPr id="18" name="Text 16"/>
          <p:cNvSpPr/>
          <p:nvPr/>
        </p:nvSpPr>
        <p:spPr>
          <a:xfrm>
            <a:off x="11365992"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algn="l" indent="0" marL="0">
              <a:buNone/>
            </a:pPr>
            <a:r>
              <a:rPr lang="en-US" sz="2800" b="1" dirty="0">
                <a:solidFill>
                  <a:srgbClr val="0B3D2E"/>
                </a:solidFill>
                <a:latin typeface="Cambria" pitchFamily="34" charset="0"/>
                <a:ea typeface="Cambria" pitchFamily="34" charset="-122"/>
                <a:cs typeface="Cambria" pitchFamily="34" charset="-120"/>
              </a:rPr>
              <a:t>スタースキーマの基本</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algn="l" indent="0" marL="0">
              <a:buNone/>
            </a:pPr>
            <a:r>
              <a:rPr lang="en-US" sz="1300" dirty="0">
                <a:solidFill>
                  <a:srgbClr val="64748B"/>
                </a:solidFill>
                <a:latin typeface="Calibri" pitchFamily="34" charset="0"/>
                <a:ea typeface="Calibri" pitchFamily="34" charset="-122"/>
                <a:cs typeface="Calibri" pitchFamily="34" charset="-120"/>
              </a:rPr>
              <a:t>ファクト1つに対しディメンションを放射状に配置する設計</a:t>
            </a:r>
            <a:endParaRPr lang="en-US" sz="1300" dirty="0"/>
          </a:p>
        </p:txBody>
      </p:sp>
      <p:sp>
        <p:nvSpPr>
          <p:cNvPr id="4" name="Shape 2"/>
          <p:cNvSpPr/>
          <p:nvPr/>
        </p:nvSpPr>
        <p:spPr>
          <a:xfrm>
            <a:off x="548640" y="1600200"/>
            <a:ext cx="100584" cy="100584"/>
          </a:xfrm>
          <a:prstGeom prst="ellipse">
            <a:avLst/>
          </a:prstGeom>
          <a:solidFill>
            <a:srgbClr val="29ADB2"/>
          </a:solidFill>
          <a:ln/>
        </p:spPr>
      </p:sp>
      <p:sp>
        <p:nvSpPr>
          <p:cNvPr id="5" name="Text 3"/>
          <p:cNvSpPr/>
          <p:nvPr/>
        </p:nvSpPr>
        <p:spPr>
          <a:xfrm>
            <a:off x="804672" y="147218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1ファクト原則：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中心となるファクトテーブルは1つに保つ。複数ファクトが必要な場合はリンクテーブルで対応する</a:t>
            </a:r>
            <a:endParaRPr lang="en-US" sz="1250" dirty="0"/>
          </a:p>
        </p:txBody>
      </p:sp>
      <p:sp>
        <p:nvSpPr>
          <p:cNvPr id="6" name="Shape 4"/>
          <p:cNvSpPr/>
          <p:nvPr/>
        </p:nvSpPr>
        <p:spPr>
          <a:xfrm>
            <a:off x="548640" y="2377440"/>
            <a:ext cx="100584" cy="100584"/>
          </a:xfrm>
          <a:prstGeom prst="ellipse">
            <a:avLst/>
          </a:prstGeom>
          <a:solidFill>
            <a:srgbClr val="29ADB2"/>
          </a:solidFill>
          <a:ln/>
        </p:spPr>
      </p:sp>
      <p:sp>
        <p:nvSpPr>
          <p:cNvPr id="7" name="Text 5"/>
          <p:cNvSpPr/>
          <p:nvPr/>
        </p:nvSpPr>
        <p:spPr>
          <a:xfrm>
            <a:off x="804672" y="224942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ディメンションの正規化：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同じ意味を持つ列は1つのディメンションテーブルにまとめ、表記ゆれを防ぐ</a:t>
            </a:r>
            <a:endParaRPr lang="en-US" sz="1250" dirty="0"/>
          </a:p>
        </p:txBody>
      </p:sp>
      <p:sp>
        <p:nvSpPr>
          <p:cNvPr id="8" name="Shape 6"/>
          <p:cNvSpPr/>
          <p:nvPr/>
        </p:nvSpPr>
        <p:spPr>
          <a:xfrm>
            <a:off x="548640" y="3154680"/>
            <a:ext cx="100584" cy="100584"/>
          </a:xfrm>
          <a:prstGeom prst="ellipse">
            <a:avLst/>
          </a:prstGeom>
          <a:solidFill>
            <a:srgbClr val="29ADB2"/>
          </a:solidFill>
          <a:ln/>
        </p:spPr>
      </p:sp>
      <p:sp>
        <p:nvSpPr>
          <p:cNvPr id="9" name="Text 7"/>
          <p:cNvSpPr/>
          <p:nvPr/>
        </p:nvSpPr>
        <p:spPr>
          <a:xfrm>
            <a:off x="804672" y="302666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主キー/外部キーの明示：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ディメンション側は主キーが一意であることを保証し、ファクト側は外部キーとして参照する</a:t>
            </a:r>
            <a:endParaRPr lang="en-US" sz="1250" dirty="0"/>
          </a:p>
        </p:txBody>
      </p:sp>
      <p:sp>
        <p:nvSpPr>
          <p:cNvPr id="10" name="Shape 8"/>
          <p:cNvSpPr/>
          <p:nvPr/>
        </p:nvSpPr>
        <p:spPr>
          <a:xfrm>
            <a:off x="548640" y="4069080"/>
            <a:ext cx="5760720" cy="1051560"/>
          </a:xfrm>
          <a:prstGeom prst="roundRect">
            <a:avLst>
              <a:gd name="adj" fmla="val 5217"/>
            </a:avLst>
          </a:prstGeom>
          <a:solidFill>
            <a:srgbClr val="F3FAF6"/>
          </a:solidFill>
          <a:ln/>
        </p:spPr>
      </p:sp>
      <p:sp>
        <p:nvSpPr>
          <p:cNvPr id="11" name="Text 9"/>
          <p:cNvSpPr/>
          <p:nvPr/>
        </p:nvSpPr>
        <p:spPr>
          <a:xfrm>
            <a:off x="777240" y="4178808"/>
            <a:ext cx="5303520" cy="274320"/>
          </a:xfrm>
          <a:prstGeom prst="rect">
            <a:avLst/>
          </a:prstGeom>
          <a:noFill/>
          <a:ln/>
        </p:spPr>
        <p:txBody>
          <a:bodyPr wrap="square" lIns="0" tIns="0" rIns="0" bIns="0" rtlCol="0" anchor="ctr"/>
          <a:lstStyle/>
          <a:p>
            <a:pPr algn="l" indent="0" marL="0">
              <a:buNone/>
            </a:pPr>
            <a:r>
              <a:rPr lang="en-US" sz="1200" b="1" dirty="0">
                <a:solidFill>
                  <a:srgbClr val="1F8A5F"/>
                </a:solidFill>
                <a:latin typeface="Calibri" pitchFamily="34" charset="0"/>
                <a:ea typeface="Calibri" pitchFamily="34" charset="-122"/>
                <a:cs typeface="Calibri" pitchFamily="34" charset="-120"/>
              </a:rPr>
              <a:t>ポイント</a:t>
            </a:r>
            <a:endParaRPr lang="en-US" sz="1200" dirty="0"/>
          </a:p>
        </p:txBody>
      </p:sp>
      <p:sp>
        <p:nvSpPr>
          <p:cNvPr id="12" name="Text 10"/>
          <p:cNvSpPr/>
          <p:nvPr/>
        </p:nvSpPr>
        <p:spPr>
          <a:xfrm>
            <a:off x="777240" y="4453128"/>
            <a:ext cx="5303520" cy="548640"/>
          </a:xfrm>
          <a:prstGeom prst="rect">
            <a:avLst/>
          </a:prstGeom>
          <a:noFill/>
          <a:ln/>
        </p:spPr>
        <p:txBody>
          <a:bodyPr wrap="square" lIns="0" tIns="0" rIns="0" bIns="0" rtlCol="0" anchor="t"/>
          <a:lstStyle/>
          <a:p>
            <a:pPr algn="l" indent="0" marL="0">
              <a:lnSpc>
                <a:spcPct val="120000"/>
              </a:lnSpc>
              <a:buNone/>
            </a:pPr>
            <a:r>
              <a:rPr lang="en-US" sz="1100" dirty="0">
                <a:solidFill>
                  <a:srgbClr val="1E293B"/>
                </a:solidFill>
                <a:latin typeface="Calibri" pitchFamily="34" charset="0"/>
                <a:ea typeface="Calibri" pitchFamily="34" charset="-122"/>
                <a:cs typeface="Calibri" pitchFamily="34" charset="-120"/>
              </a:rPr>
              <a:t>ディメンションテーブルの主キーにDISTINCTやGROUP BYを使い、必ず一意性を検証してからモデルに組み込む。</a:t>
            </a:r>
            <a:endParaRPr lang="en-US" sz="1100" dirty="0"/>
          </a:p>
        </p:txBody>
      </p:sp>
      <p:sp>
        <p:nvSpPr>
          <p:cNvPr id="13" name="Shape 11"/>
          <p:cNvSpPr/>
          <p:nvPr/>
        </p:nvSpPr>
        <p:spPr>
          <a:xfrm>
            <a:off x="6583680" y="1600200"/>
            <a:ext cx="5074920" cy="4937760"/>
          </a:xfrm>
          <a:prstGeom prst="roundRect">
            <a:avLst>
              <a:gd name="adj" fmla="val 1481"/>
            </a:avLst>
          </a:prstGeom>
          <a:solidFill>
            <a:srgbClr val="16322A"/>
          </a:solidFill>
          <a:ln/>
          <a:effectLst>
            <a:outerShdw sx="100000" sy="100000" kx="0" ky="0" algn="bl" rotWithShape="0" blurRad="50800" dist="19050" dir="2700000">
              <a:srgbClr val="000000">
                <a:alpha val="12000"/>
              </a:srgbClr>
            </a:outerShdw>
          </a:effectLst>
        </p:spPr>
      </p:sp>
      <p:sp>
        <p:nvSpPr>
          <p:cNvPr id="14" name="Shape 12"/>
          <p:cNvSpPr/>
          <p:nvPr/>
        </p:nvSpPr>
        <p:spPr>
          <a:xfrm>
            <a:off x="10725912" y="1746504"/>
            <a:ext cx="822960" cy="292608"/>
          </a:xfrm>
          <a:prstGeom prst="roundRect">
            <a:avLst>
              <a:gd name="adj" fmla="val 18750"/>
            </a:avLst>
          </a:prstGeom>
          <a:solidFill>
            <a:srgbClr val="1F8A5F"/>
          </a:solidFill>
          <a:ln/>
        </p:spPr>
      </p:sp>
      <p:sp>
        <p:nvSpPr>
          <p:cNvPr id="15" name="Text 13"/>
          <p:cNvSpPr/>
          <p:nvPr/>
        </p:nvSpPr>
        <p:spPr>
          <a:xfrm>
            <a:off x="10725912" y="1746504"/>
            <a:ext cx="8229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Script</a:t>
            </a:r>
            <a:endParaRPr lang="en-US" sz="1100" dirty="0"/>
          </a:p>
        </p:txBody>
      </p:sp>
      <p:sp>
        <p:nvSpPr>
          <p:cNvPr id="16" name="Text 14"/>
          <p:cNvSpPr/>
          <p:nvPr/>
        </p:nvSpPr>
        <p:spPr>
          <a:xfrm>
            <a:off x="6839712" y="1764792"/>
            <a:ext cx="4562856" cy="4608576"/>
          </a:xfrm>
          <a:prstGeom prst="rect">
            <a:avLst/>
          </a:prstGeom>
          <a:noFill/>
          <a:ln/>
        </p:spPr>
        <p:txBody>
          <a:bodyPr wrap="square" lIns="0" tIns="0" rIns="0" bIns="0" rtlCol="0" anchor="t"/>
          <a:lstStyle/>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ディメンションの主キー一意性を確認</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Customers:</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LOAD</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CustomerID,</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CustomerName,</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Segment</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FROM [lib://QVD/customers.qvd] (qvd);</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件数チェック用の一時テーブル</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DupCheck:</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LOAD CustomerID, Count(CustomerID) AS Cnt</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RESIDENT Customers</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GROUP BY CustomerID</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HAVING Count(CustomerID) &gt; 1;</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TRACE '重複CustomerID件数: ' &amp;</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NoOfRows('DupCheck');</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DROP TABLE DupCheck;</a:t>
            </a:r>
            <a:endParaRPr lang="en-US" sz="950" dirty="0"/>
          </a:p>
        </p:txBody>
      </p:sp>
      <p:sp>
        <p:nvSpPr>
          <p:cNvPr id="17" name="Text 15"/>
          <p:cNvSpPr/>
          <p:nvPr/>
        </p:nvSpPr>
        <p:spPr>
          <a:xfrm>
            <a:off x="457200" y="649224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Qlik Sense開発者ガイド② データモデリング設計編</a:t>
            </a:r>
            <a:endParaRPr lang="en-US" sz="900" dirty="0"/>
          </a:p>
        </p:txBody>
      </p:sp>
      <p:sp>
        <p:nvSpPr>
          <p:cNvPr id="18" name="Text 16"/>
          <p:cNvSpPr/>
          <p:nvPr/>
        </p:nvSpPr>
        <p:spPr>
          <a:xfrm>
            <a:off x="11365992"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algn="l" indent="0" marL="0">
              <a:buNone/>
            </a:pPr>
            <a:r>
              <a:rPr lang="en-US" sz="2800" b="1" dirty="0">
                <a:solidFill>
                  <a:srgbClr val="0B3D2E"/>
                </a:solidFill>
                <a:latin typeface="Cambria" pitchFamily="34" charset="0"/>
                <a:ea typeface="Cambria" pitchFamily="34" charset="-122"/>
                <a:cs typeface="Cambria" pitchFamily="34" charset="-120"/>
              </a:rPr>
              <a:t>シンセティックキーの発生原因と回避</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algn="l" indent="0" marL="0">
              <a:buNone/>
            </a:pPr>
            <a:r>
              <a:rPr lang="en-US" sz="1300" dirty="0">
                <a:solidFill>
                  <a:srgbClr val="64748B"/>
                </a:solidFill>
                <a:latin typeface="Calibri" pitchFamily="34" charset="0"/>
                <a:ea typeface="Calibri" pitchFamily="34" charset="-122"/>
                <a:cs typeface="Calibri" pitchFamily="34" charset="-120"/>
              </a:rPr>
              <a:t>2つ以上の共通フィールドが招く予期しない関連付け</a:t>
            </a:r>
            <a:endParaRPr lang="en-US" sz="1300" dirty="0"/>
          </a:p>
        </p:txBody>
      </p:sp>
      <p:sp>
        <p:nvSpPr>
          <p:cNvPr id="4" name="Shape 2"/>
          <p:cNvSpPr/>
          <p:nvPr/>
        </p:nvSpPr>
        <p:spPr>
          <a:xfrm>
            <a:off x="548640" y="1600200"/>
            <a:ext cx="100584" cy="100584"/>
          </a:xfrm>
          <a:prstGeom prst="ellipse">
            <a:avLst/>
          </a:prstGeom>
          <a:solidFill>
            <a:srgbClr val="29ADB2"/>
          </a:solidFill>
          <a:ln/>
        </p:spPr>
      </p:sp>
      <p:sp>
        <p:nvSpPr>
          <p:cNvPr id="5" name="Text 3"/>
          <p:cNvSpPr/>
          <p:nvPr/>
        </p:nvSpPr>
        <p:spPr>
          <a:xfrm>
            <a:off x="804672" y="147218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発生条件：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2つのテーブルが2つ以上の同名フィールドを共有すると、Qlikは自動的に$Syntheticテーブルを生成する</a:t>
            </a:r>
            <a:endParaRPr lang="en-US" sz="1250" dirty="0"/>
          </a:p>
        </p:txBody>
      </p:sp>
      <p:sp>
        <p:nvSpPr>
          <p:cNvPr id="6" name="Shape 4"/>
          <p:cNvSpPr/>
          <p:nvPr/>
        </p:nvSpPr>
        <p:spPr>
          <a:xfrm>
            <a:off x="548640" y="2377440"/>
            <a:ext cx="100584" cy="100584"/>
          </a:xfrm>
          <a:prstGeom prst="ellipse">
            <a:avLst/>
          </a:prstGeom>
          <a:solidFill>
            <a:srgbClr val="29ADB2"/>
          </a:solidFill>
          <a:ln/>
        </p:spPr>
      </p:sp>
      <p:sp>
        <p:nvSpPr>
          <p:cNvPr id="7" name="Text 5"/>
          <p:cNvSpPr/>
          <p:nvPr/>
        </p:nvSpPr>
        <p:spPr>
          <a:xfrm>
            <a:off x="804672" y="224942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何が問題か：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意図しない粒度での結合が起こり、集計値が想定と異なる、リロードが遅くなるなどの不具合につながる</a:t>
            </a:r>
            <a:endParaRPr lang="en-US" sz="1250" dirty="0"/>
          </a:p>
        </p:txBody>
      </p:sp>
      <p:sp>
        <p:nvSpPr>
          <p:cNvPr id="8" name="Shape 6"/>
          <p:cNvSpPr/>
          <p:nvPr/>
        </p:nvSpPr>
        <p:spPr>
          <a:xfrm>
            <a:off x="548640" y="3154680"/>
            <a:ext cx="100584" cy="100584"/>
          </a:xfrm>
          <a:prstGeom prst="ellipse">
            <a:avLst/>
          </a:prstGeom>
          <a:solidFill>
            <a:srgbClr val="29ADB2"/>
          </a:solidFill>
          <a:ln/>
        </p:spPr>
      </p:sp>
      <p:sp>
        <p:nvSpPr>
          <p:cNvPr id="9" name="Text 7"/>
          <p:cNvSpPr/>
          <p:nvPr/>
        </p:nvSpPr>
        <p:spPr>
          <a:xfrm>
            <a:off x="804672" y="302666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解決の基本方針：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複合キーとして1本のフィールドに連結するか、不要な共通フィールドをリネームして関連を切る</a:t>
            </a:r>
            <a:endParaRPr lang="en-US" sz="1250" dirty="0"/>
          </a:p>
        </p:txBody>
      </p:sp>
      <p:sp>
        <p:nvSpPr>
          <p:cNvPr id="10" name="Shape 8"/>
          <p:cNvSpPr/>
          <p:nvPr/>
        </p:nvSpPr>
        <p:spPr>
          <a:xfrm>
            <a:off x="548640" y="4069080"/>
            <a:ext cx="5760720" cy="1051560"/>
          </a:xfrm>
          <a:prstGeom prst="roundRect">
            <a:avLst>
              <a:gd name="adj" fmla="val 5217"/>
            </a:avLst>
          </a:prstGeom>
          <a:solidFill>
            <a:srgbClr val="F3FAF6"/>
          </a:solidFill>
          <a:ln/>
        </p:spPr>
      </p:sp>
      <p:sp>
        <p:nvSpPr>
          <p:cNvPr id="11" name="Text 9"/>
          <p:cNvSpPr/>
          <p:nvPr/>
        </p:nvSpPr>
        <p:spPr>
          <a:xfrm>
            <a:off x="777240" y="4178808"/>
            <a:ext cx="5303520" cy="274320"/>
          </a:xfrm>
          <a:prstGeom prst="rect">
            <a:avLst/>
          </a:prstGeom>
          <a:noFill/>
          <a:ln/>
        </p:spPr>
        <p:txBody>
          <a:bodyPr wrap="square" lIns="0" tIns="0" rIns="0" bIns="0" rtlCol="0" anchor="ctr"/>
          <a:lstStyle/>
          <a:p>
            <a:pPr algn="l" indent="0" marL="0">
              <a:buNone/>
            </a:pPr>
            <a:r>
              <a:rPr lang="en-US" sz="1200" b="1" dirty="0">
                <a:solidFill>
                  <a:srgbClr val="1F8A5F"/>
                </a:solidFill>
                <a:latin typeface="Calibri" pitchFamily="34" charset="0"/>
                <a:ea typeface="Calibri" pitchFamily="34" charset="-122"/>
                <a:cs typeface="Calibri" pitchFamily="34" charset="-120"/>
              </a:rPr>
              <a:t>ポイント</a:t>
            </a:r>
            <a:endParaRPr lang="en-US" sz="1200" dirty="0"/>
          </a:p>
        </p:txBody>
      </p:sp>
      <p:sp>
        <p:nvSpPr>
          <p:cNvPr id="12" name="Text 10"/>
          <p:cNvSpPr/>
          <p:nvPr/>
        </p:nvSpPr>
        <p:spPr>
          <a:xfrm>
            <a:off x="777240" y="4453128"/>
            <a:ext cx="5303520" cy="548640"/>
          </a:xfrm>
          <a:prstGeom prst="rect">
            <a:avLst/>
          </a:prstGeom>
          <a:noFill/>
          <a:ln/>
        </p:spPr>
        <p:txBody>
          <a:bodyPr wrap="square" lIns="0" tIns="0" rIns="0" bIns="0" rtlCol="0" anchor="t"/>
          <a:lstStyle/>
          <a:p>
            <a:pPr algn="l" indent="0" marL="0">
              <a:lnSpc>
                <a:spcPct val="120000"/>
              </a:lnSpc>
              <a:buNone/>
            </a:pPr>
            <a:r>
              <a:rPr lang="en-US" sz="1100" dirty="0">
                <a:solidFill>
                  <a:srgbClr val="1E293B"/>
                </a:solidFill>
                <a:latin typeface="Calibri" pitchFamily="34" charset="0"/>
                <a:ea typeface="Calibri" pitchFamily="34" charset="-122"/>
                <a:cs typeface="Calibri" pitchFamily="34" charset="-120"/>
              </a:rPr>
              <a:t>データモデルビューアでテーブル間に「$Syn」という名前のテーブルが現れたら、即座に複合キー化を検討するサイン。</a:t>
            </a:r>
            <a:endParaRPr lang="en-US" sz="1100" dirty="0"/>
          </a:p>
        </p:txBody>
      </p:sp>
      <p:sp>
        <p:nvSpPr>
          <p:cNvPr id="13" name="Shape 11"/>
          <p:cNvSpPr/>
          <p:nvPr/>
        </p:nvSpPr>
        <p:spPr>
          <a:xfrm>
            <a:off x="6583680" y="1600200"/>
            <a:ext cx="5074920" cy="4937760"/>
          </a:xfrm>
          <a:prstGeom prst="roundRect">
            <a:avLst>
              <a:gd name="adj" fmla="val 1481"/>
            </a:avLst>
          </a:prstGeom>
          <a:solidFill>
            <a:srgbClr val="16322A"/>
          </a:solidFill>
          <a:ln/>
          <a:effectLst>
            <a:outerShdw sx="100000" sy="100000" kx="0" ky="0" algn="bl" rotWithShape="0" blurRad="50800" dist="19050" dir="2700000">
              <a:srgbClr val="000000">
                <a:alpha val="12000"/>
              </a:srgbClr>
            </a:outerShdw>
          </a:effectLst>
        </p:spPr>
      </p:sp>
      <p:sp>
        <p:nvSpPr>
          <p:cNvPr id="14" name="Shape 12"/>
          <p:cNvSpPr/>
          <p:nvPr/>
        </p:nvSpPr>
        <p:spPr>
          <a:xfrm>
            <a:off x="10725912" y="1746504"/>
            <a:ext cx="822960" cy="292608"/>
          </a:xfrm>
          <a:prstGeom prst="roundRect">
            <a:avLst>
              <a:gd name="adj" fmla="val 18750"/>
            </a:avLst>
          </a:prstGeom>
          <a:solidFill>
            <a:srgbClr val="1F8A5F"/>
          </a:solidFill>
          <a:ln/>
        </p:spPr>
      </p:sp>
      <p:sp>
        <p:nvSpPr>
          <p:cNvPr id="15" name="Text 13"/>
          <p:cNvSpPr/>
          <p:nvPr/>
        </p:nvSpPr>
        <p:spPr>
          <a:xfrm>
            <a:off x="10725912" y="1746504"/>
            <a:ext cx="8229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Script</a:t>
            </a:r>
            <a:endParaRPr lang="en-US" sz="1100" dirty="0"/>
          </a:p>
        </p:txBody>
      </p:sp>
      <p:sp>
        <p:nvSpPr>
          <p:cNvPr id="16" name="Text 14"/>
          <p:cNvSpPr/>
          <p:nvPr/>
        </p:nvSpPr>
        <p:spPr>
          <a:xfrm>
            <a:off x="6839712" y="1764792"/>
            <a:ext cx="4562856" cy="4608576"/>
          </a:xfrm>
          <a:prstGeom prst="rect">
            <a:avLst/>
          </a:prstGeom>
          <a:noFill/>
          <a:ln/>
        </p:spPr>
        <p:txBody>
          <a:bodyPr wrap="square" lIns="0" tIns="0" rIns="0" bIns="0" rtlCol="0" anchor="t"/>
          <a:lstStyle/>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シンセティックキーが発生するケース</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Sales: OrderID, ProductID, StoreID</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Returns: ProductID, StoreID, Reason</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 ProductID と StoreID の2つが共通</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複合キーとして明示的に1本化</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Sales:</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LOAD</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OrderID,</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ProductID &amp; '|' &amp; StoreID AS ProdStoreKey,</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ProductID, StoreID, Amount</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FROM [lib://QVD/sales.qvd] (qvd);</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Returns:</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LOAD</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ProductID &amp; '|' &amp; StoreID AS ProdStoreKey,</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Reason</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FROM [lib://QVD/returns.qvd] (qvd);</a:t>
            </a:r>
            <a:endParaRPr lang="en-US" sz="950" dirty="0"/>
          </a:p>
        </p:txBody>
      </p:sp>
      <p:sp>
        <p:nvSpPr>
          <p:cNvPr id="17" name="Text 15"/>
          <p:cNvSpPr/>
          <p:nvPr/>
        </p:nvSpPr>
        <p:spPr>
          <a:xfrm>
            <a:off x="457200" y="649224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Qlik Sense開発者ガイド② データモデリング設計編</a:t>
            </a:r>
            <a:endParaRPr lang="en-US" sz="900" dirty="0"/>
          </a:p>
        </p:txBody>
      </p:sp>
      <p:sp>
        <p:nvSpPr>
          <p:cNvPr id="18" name="Text 16"/>
          <p:cNvSpPr/>
          <p:nvPr/>
        </p:nvSpPr>
        <p:spPr>
          <a:xfrm>
            <a:off x="11365992"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algn="l" indent="0" marL="0">
              <a:buNone/>
            </a:pPr>
            <a:r>
              <a:rPr lang="en-US" sz="2800" b="1" dirty="0">
                <a:solidFill>
                  <a:srgbClr val="0B3D2E"/>
                </a:solidFill>
                <a:latin typeface="Cambria" pitchFamily="34" charset="0"/>
                <a:ea typeface="Cambria" pitchFamily="34" charset="-122"/>
                <a:cs typeface="Cambria" pitchFamily="34" charset="-120"/>
              </a:rPr>
              <a:t>リンクテーブル設計</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algn="l" indent="0" marL="0">
              <a:buNone/>
            </a:pPr>
            <a:r>
              <a:rPr lang="en-US" sz="1300" dirty="0">
                <a:solidFill>
                  <a:srgbClr val="64748B"/>
                </a:solidFill>
                <a:latin typeface="Calibri" pitchFamily="34" charset="0"/>
                <a:ea typeface="Calibri" pitchFamily="34" charset="-122"/>
                <a:cs typeface="Calibri" pitchFamily="34" charset="-120"/>
              </a:rPr>
              <a:t>複数ファクトテーブルを安全に結合する設計パターン</a:t>
            </a:r>
            <a:endParaRPr lang="en-US" sz="1300" dirty="0"/>
          </a:p>
        </p:txBody>
      </p:sp>
      <p:sp>
        <p:nvSpPr>
          <p:cNvPr id="4" name="Shape 2"/>
          <p:cNvSpPr/>
          <p:nvPr/>
        </p:nvSpPr>
        <p:spPr>
          <a:xfrm>
            <a:off x="548640" y="1600200"/>
            <a:ext cx="100584" cy="100584"/>
          </a:xfrm>
          <a:prstGeom prst="ellipse">
            <a:avLst/>
          </a:prstGeom>
          <a:solidFill>
            <a:srgbClr val="29ADB2"/>
          </a:solidFill>
          <a:ln/>
        </p:spPr>
      </p:sp>
      <p:sp>
        <p:nvSpPr>
          <p:cNvPr id="5" name="Text 3"/>
          <p:cNvSpPr/>
          <p:nvPr/>
        </p:nvSpPr>
        <p:spPr>
          <a:xfrm>
            <a:off x="804672" y="147218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リンクテーブルとは：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複数のファクトテーブルが共有する次元キーを1つにまとめた橋渡し用テーブル</a:t>
            </a:r>
            <a:endParaRPr lang="en-US" sz="1250" dirty="0"/>
          </a:p>
        </p:txBody>
      </p:sp>
      <p:sp>
        <p:nvSpPr>
          <p:cNvPr id="6" name="Shape 4"/>
          <p:cNvSpPr/>
          <p:nvPr/>
        </p:nvSpPr>
        <p:spPr>
          <a:xfrm>
            <a:off x="548640" y="2377440"/>
            <a:ext cx="100584" cy="100584"/>
          </a:xfrm>
          <a:prstGeom prst="ellipse">
            <a:avLst/>
          </a:prstGeom>
          <a:solidFill>
            <a:srgbClr val="29ADB2"/>
          </a:solidFill>
          <a:ln/>
        </p:spPr>
      </p:sp>
      <p:sp>
        <p:nvSpPr>
          <p:cNvPr id="7" name="Text 5"/>
          <p:cNvSpPr/>
          <p:nvPr/>
        </p:nvSpPr>
        <p:spPr>
          <a:xfrm>
            <a:off x="804672" y="224942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適用場面：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売上ファクトと在庫ファクトのように、粒度の異なる複数ファクトを同じディメンションで分析したい場合</a:t>
            </a:r>
            <a:endParaRPr lang="en-US" sz="1250" dirty="0"/>
          </a:p>
        </p:txBody>
      </p:sp>
      <p:sp>
        <p:nvSpPr>
          <p:cNvPr id="8" name="Shape 6"/>
          <p:cNvSpPr/>
          <p:nvPr/>
        </p:nvSpPr>
        <p:spPr>
          <a:xfrm>
            <a:off x="548640" y="3154680"/>
            <a:ext cx="100584" cy="100584"/>
          </a:xfrm>
          <a:prstGeom prst="ellipse">
            <a:avLst/>
          </a:prstGeom>
          <a:solidFill>
            <a:srgbClr val="29ADB2"/>
          </a:solidFill>
          <a:ln/>
        </p:spPr>
      </p:sp>
      <p:sp>
        <p:nvSpPr>
          <p:cNvPr id="9" name="Text 7"/>
          <p:cNvSpPr/>
          <p:nvPr/>
        </p:nvSpPr>
        <p:spPr>
          <a:xfrm>
            <a:off x="804672" y="302666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キー設計のコツ：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各ファクトの複合キーをリンクテーブル側で連結し、ファクト同士は直接関連付けない</a:t>
            </a:r>
            <a:endParaRPr lang="en-US" sz="1250" dirty="0"/>
          </a:p>
        </p:txBody>
      </p:sp>
      <p:sp>
        <p:nvSpPr>
          <p:cNvPr id="10" name="Shape 8"/>
          <p:cNvSpPr/>
          <p:nvPr/>
        </p:nvSpPr>
        <p:spPr>
          <a:xfrm>
            <a:off x="548640" y="4069080"/>
            <a:ext cx="5760720" cy="1051560"/>
          </a:xfrm>
          <a:prstGeom prst="roundRect">
            <a:avLst>
              <a:gd name="adj" fmla="val 5217"/>
            </a:avLst>
          </a:prstGeom>
          <a:solidFill>
            <a:srgbClr val="F3FAF6"/>
          </a:solidFill>
          <a:ln/>
        </p:spPr>
      </p:sp>
      <p:sp>
        <p:nvSpPr>
          <p:cNvPr id="11" name="Text 9"/>
          <p:cNvSpPr/>
          <p:nvPr/>
        </p:nvSpPr>
        <p:spPr>
          <a:xfrm>
            <a:off x="777240" y="4178808"/>
            <a:ext cx="5303520" cy="274320"/>
          </a:xfrm>
          <a:prstGeom prst="rect">
            <a:avLst/>
          </a:prstGeom>
          <a:noFill/>
          <a:ln/>
        </p:spPr>
        <p:txBody>
          <a:bodyPr wrap="square" lIns="0" tIns="0" rIns="0" bIns="0" rtlCol="0" anchor="ctr"/>
          <a:lstStyle/>
          <a:p>
            <a:pPr algn="l" indent="0" marL="0">
              <a:buNone/>
            </a:pPr>
            <a:r>
              <a:rPr lang="en-US" sz="1200" b="1" dirty="0">
                <a:solidFill>
                  <a:srgbClr val="1F8A5F"/>
                </a:solidFill>
                <a:latin typeface="Calibri" pitchFamily="34" charset="0"/>
                <a:ea typeface="Calibri" pitchFamily="34" charset="-122"/>
                <a:cs typeface="Calibri" pitchFamily="34" charset="-120"/>
              </a:rPr>
              <a:t>ポイント</a:t>
            </a:r>
            <a:endParaRPr lang="en-US" sz="1200" dirty="0"/>
          </a:p>
        </p:txBody>
      </p:sp>
      <p:sp>
        <p:nvSpPr>
          <p:cNvPr id="12" name="Text 10"/>
          <p:cNvSpPr/>
          <p:nvPr/>
        </p:nvSpPr>
        <p:spPr>
          <a:xfrm>
            <a:off x="777240" y="4453128"/>
            <a:ext cx="5303520" cy="548640"/>
          </a:xfrm>
          <a:prstGeom prst="rect">
            <a:avLst/>
          </a:prstGeom>
          <a:noFill/>
          <a:ln/>
        </p:spPr>
        <p:txBody>
          <a:bodyPr wrap="square" lIns="0" tIns="0" rIns="0" bIns="0" rtlCol="0" anchor="t"/>
          <a:lstStyle/>
          <a:p>
            <a:pPr algn="l" indent="0" marL="0">
              <a:lnSpc>
                <a:spcPct val="120000"/>
              </a:lnSpc>
              <a:buNone/>
            </a:pPr>
            <a:r>
              <a:rPr lang="en-US" sz="1100" dirty="0">
                <a:solidFill>
                  <a:srgbClr val="1E293B"/>
                </a:solidFill>
                <a:latin typeface="Calibri" pitchFamily="34" charset="0"/>
                <a:ea typeface="Calibri" pitchFamily="34" charset="-122"/>
                <a:cs typeface="Calibri" pitchFamily="34" charset="-120"/>
              </a:rPr>
              <a:t>リンクテーブルはあくまでキーの集合体。測定値(Amountなど)は含めず、各ファクト側に残すのが鉄則。</a:t>
            </a:r>
            <a:endParaRPr lang="en-US" sz="1100" dirty="0"/>
          </a:p>
        </p:txBody>
      </p:sp>
      <p:sp>
        <p:nvSpPr>
          <p:cNvPr id="13" name="Shape 11"/>
          <p:cNvSpPr/>
          <p:nvPr/>
        </p:nvSpPr>
        <p:spPr>
          <a:xfrm>
            <a:off x="6583680" y="1600200"/>
            <a:ext cx="5074920" cy="4937760"/>
          </a:xfrm>
          <a:prstGeom prst="roundRect">
            <a:avLst>
              <a:gd name="adj" fmla="val 1481"/>
            </a:avLst>
          </a:prstGeom>
          <a:solidFill>
            <a:srgbClr val="16322A"/>
          </a:solidFill>
          <a:ln/>
          <a:effectLst>
            <a:outerShdw sx="100000" sy="100000" kx="0" ky="0" algn="bl" rotWithShape="0" blurRad="50800" dist="19050" dir="2700000">
              <a:srgbClr val="000000">
                <a:alpha val="12000"/>
              </a:srgbClr>
            </a:outerShdw>
          </a:effectLst>
        </p:spPr>
      </p:sp>
      <p:sp>
        <p:nvSpPr>
          <p:cNvPr id="14" name="Shape 12"/>
          <p:cNvSpPr/>
          <p:nvPr/>
        </p:nvSpPr>
        <p:spPr>
          <a:xfrm>
            <a:off x="10725912" y="1746504"/>
            <a:ext cx="822960" cy="292608"/>
          </a:xfrm>
          <a:prstGeom prst="roundRect">
            <a:avLst>
              <a:gd name="adj" fmla="val 18750"/>
            </a:avLst>
          </a:prstGeom>
          <a:solidFill>
            <a:srgbClr val="1F8A5F"/>
          </a:solidFill>
          <a:ln/>
        </p:spPr>
      </p:sp>
      <p:sp>
        <p:nvSpPr>
          <p:cNvPr id="15" name="Text 13"/>
          <p:cNvSpPr/>
          <p:nvPr/>
        </p:nvSpPr>
        <p:spPr>
          <a:xfrm>
            <a:off x="10725912" y="1746504"/>
            <a:ext cx="8229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Script</a:t>
            </a:r>
            <a:endParaRPr lang="en-US" sz="1100" dirty="0"/>
          </a:p>
        </p:txBody>
      </p:sp>
      <p:sp>
        <p:nvSpPr>
          <p:cNvPr id="16" name="Text 14"/>
          <p:cNvSpPr/>
          <p:nvPr/>
        </p:nvSpPr>
        <p:spPr>
          <a:xfrm>
            <a:off x="6839712" y="1764792"/>
            <a:ext cx="4562856" cy="4608576"/>
          </a:xfrm>
          <a:prstGeom prst="rect">
            <a:avLst/>
          </a:prstGeom>
          <a:noFill/>
          <a:ln/>
        </p:spPr>
        <p:txBody>
          <a:bodyPr wrap="square" lIns="0" tIns="0" rIns="0" bIns="0" rtlCol="0" anchor="t"/>
          <a:lstStyle/>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Sales:</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LOAD</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'S' &amp; OrderID AS LinkKey,</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ProductID, Amount</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FROM [lib://QVD/sales.qvd] (qvd);</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Inventory:</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LOAD</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'I' &amp; MovementID AS LinkKey,</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ProductID, StockQty</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FROM [lib://QVD/inventory.qvd] (qvd);</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リンクテーブル: 各ファクトのキーを集約</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LinkTable:</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LOAD LinkKey, ProductID RESIDENT Sales;</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CONCATENATE (LinkTable)</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LOAD LinkKey, ProductID RESIDENT Inventory;</a:t>
            </a:r>
            <a:endParaRPr lang="en-US" sz="950" dirty="0"/>
          </a:p>
        </p:txBody>
      </p:sp>
      <p:sp>
        <p:nvSpPr>
          <p:cNvPr id="17" name="Text 15"/>
          <p:cNvSpPr/>
          <p:nvPr/>
        </p:nvSpPr>
        <p:spPr>
          <a:xfrm>
            <a:off x="457200" y="649224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Qlik Sense開発者ガイド② データモデリング設計編</a:t>
            </a:r>
            <a:endParaRPr lang="en-US" sz="900" dirty="0"/>
          </a:p>
        </p:txBody>
      </p:sp>
      <p:sp>
        <p:nvSpPr>
          <p:cNvPr id="18" name="Text 16"/>
          <p:cNvSpPr/>
          <p:nvPr/>
        </p:nvSpPr>
        <p:spPr>
          <a:xfrm>
            <a:off x="11365992"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algn="l" indent="0" marL="0">
              <a:buNone/>
            </a:pPr>
            <a:r>
              <a:rPr lang="en-US" sz="2800" b="1" dirty="0">
                <a:solidFill>
                  <a:srgbClr val="0B3D2E"/>
                </a:solidFill>
                <a:latin typeface="Cambria" pitchFamily="34" charset="0"/>
                <a:ea typeface="Cambria" pitchFamily="34" charset="-122"/>
                <a:cs typeface="Cambria" pitchFamily="34" charset="-120"/>
              </a:rPr>
              <a:t>循環参照(Circular Reference)の解消</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algn="l" indent="0" marL="0">
              <a:buNone/>
            </a:pPr>
            <a:r>
              <a:rPr lang="en-US" sz="1300" dirty="0">
                <a:solidFill>
                  <a:srgbClr val="64748B"/>
                </a:solidFill>
                <a:latin typeface="Calibri" pitchFamily="34" charset="0"/>
                <a:ea typeface="Calibri" pitchFamily="34" charset="-122"/>
                <a:cs typeface="Calibri" pitchFamily="34" charset="-120"/>
              </a:rPr>
              <a:t>テーブル間にループ構造ができ、関連付けが曖昧になる問題</a:t>
            </a:r>
            <a:endParaRPr lang="en-US" sz="1300" dirty="0"/>
          </a:p>
        </p:txBody>
      </p:sp>
      <p:sp>
        <p:nvSpPr>
          <p:cNvPr id="4" name="Shape 2"/>
          <p:cNvSpPr/>
          <p:nvPr/>
        </p:nvSpPr>
        <p:spPr>
          <a:xfrm>
            <a:off x="548640" y="1600200"/>
            <a:ext cx="100584" cy="100584"/>
          </a:xfrm>
          <a:prstGeom prst="ellipse">
            <a:avLst/>
          </a:prstGeom>
          <a:solidFill>
            <a:srgbClr val="29ADB2"/>
          </a:solidFill>
          <a:ln/>
        </p:spPr>
      </p:sp>
      <p:sp>
        <p:nvSpPr>
          <p:cNvPr id="5" name="Text 3"/>
          <p:cNvSpPr/>
          <p:nvPr/>
        </p:nvSpPr>
        <p:spPr>
          <a:xfrm>
            <a:off x="804672" y="147218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発生メカニズム：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テーブルAがB,Cと繋がり、BとCも直接繋がっていると、A→B→C→Aのループができる</a:t>
            </a:r>
            <a:endParaRPr lang="en-US" sz="1250" dirty="0"/>
          </a:p>
        </p:txBody>
      </p:sp>
      <p:sp>
        <p:nvSpPr>
          <p:cNvPr id="6" name="Shape 4"/>
          <p:cNvSpPr/>
          <p:nvPr/>
        </p:nvSpPr>
        <p:spPr>
          <a:xfrm>
            <a:off x="548640" y="2377440"/>
            <a:ext cx="100584" cy="100584"/>
          </a:xfrm>
          <a:prstGeom prst="ellipse">
            <a:avLst/>
          </a:prstGeom>
          <a:solidFill>
            <a:srgbClr val="29ADB2"/>
          </a:solidFill>
          <a:ln/>
        </p:spPr>
      </p:sp>
      <p:sp>
        <p:nvSpPr>
          <p:cNvPr id="7" name="Text 5"/>
          <p:cNvSpPr/>
          <p:nvPr/>
        </p:nvSpPr>
        <p:spPr>
          <a:xfrm>
            <a:off x="804672" y="224942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Qlikの挙動：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リロード時に警告が出て、いずれかのリンクが自動的に切断される。意図しない結合が残るリスクがある</a:t>
            </a:r>
            <a:endParaRPr lang="en-US" sz="1250" dirty="0"/>
          </a:p>
        </p:txBody>
      </p:sp>
      <p:sp>
        <p:nvSpPr>
          <p:cNvPr id="8" name="Shape 6"/>
          <p:cNvSpPr/>
          <p:nvPr/>
        </p:nvSpPr>
        <p:spPr>
          <a:xfrm>
            <a:off x="548640" y="3154680"/>
            <a:ext cx="100584" cy="100584"/>
          </a:xfrm>
          <a:prstGeom prst="ellipse">
            <a:avLst/>
          </a:prstGeom>
          <a:solidFill>
            <a:srgbClr val="29ADB2"/>
          </a:solidFill>
          <a:ln/>
        </p:spPr>
      </p:sp>
      <p:sp>
        <p:nvSpPr>
          <p:cNvPr id="9" name="Text 7"/>
          <p:cNvSpPr/>
          <p:nvPr/>
        </p:nvSpPr>
        <p:spPr>
          <a:xfrm>
            <a:off x="804672" y="302666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解消方法：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片方のリンクをリネームして連想を切るか、ループの一辺をリンクテーブル経由に変更する</a:t>
            </a:r>
            <a:endParaRPr lang="en-US" sz="1250" dirty="0"/>
          </a:p>
        </p:txBody>
      </p:sp>
      <p:sp>
        <p:nvSpPr>
          <p:cNvPr id="10" name="Shape 8"/>
          <p:cNvSpPr/>
          <p:nvPr/>
        </p:nvSpPr>
        <p:spPr>
          <a:xfrm>
            <a:off x="548640" y="4069080"/>
            <a:ext cx="5760720" cy="1051560"/>
          </a:xfrm>
          <a:prstGeom prst="roundRect">
            <a:avLst>
              <a:gd name="adj" fmla="val 5217"/>
            </a:avLst>
          </a:prstGeom>
          <a:solidFill>
            <a:srgbClr val="F3FAF6"/>
          </a:solidFill>
          <a:ln/>
        </p:spPr>
      </p:sp>
      <p:sp>
        <p:nvSpPr>
          <p:cNvPr id="11" name="Text 9"/>
          <p:cNvSpPr/>
          <p:nvPr/>
        </p:nvSpPr>
        <p:spPr>
          <a:xfrm>
            <a:off x="777240" y="4178808"/>
            <a:ext cx="5303520" cy="274320"/>
          </a:xfrm>
          <a:prstGeom prst="rect">
            <a:avLst/>
          </a:prstGeom>
          <a:noFill/>
          <a:ln/>
        </p:spPr>
        <p:txBody>
          <a:bodyPr wrap="square" lIns="0" tIns="0" rIns="0" bIns="0" rtlCol="0" anchor="ctr"/>
          <a:lstStyle/>
          <a:p>
            <a:pPr algn="l" indent="0" marL="0">
              <a:buNone/>
            </a:pPr>
            <a:r>
              <a:rPr lang="en-US" sz="1200" b="1" dirty="0">
                <a:solidFill>
                  <a:srgbClr val="1F8A5F"/>
                </a:solidFill>
                <a:latin typeface="Calibri" pitchFamily="34" charset="0"/>
                <a:ea typeface="Calibri" pitchFamily="34" charset="-122"/>
                <a:cs typeface="Calibri" pitchFamily="34" charset="-120"/>
              </a:rPr>
              <a:t>ポイント</a:t>
            </a:r>
            <a:endParaRPr lang="en-US" sz="1200" dirty="0"/>
          </a:p>
        </p:txBody>
      </p:sp>
      <p:sp>
        <p:nvSpPr>
          <p:cNvPr id="12" name="Text 10"/>
          <p:cNvSpPr/>
          <p:nvPr/>
        </p:nvSpPr>
        <p:spPr>
          <a:xfrm>
            <a:off x="777240" y="4453128"/>
            <a:ext cx="5303520" cy="548640"/>
          </a:xfrm>
          <a:prstGeom prst="rect">
            <a:avLst/>
          </a:prstGeom>
          <a:noFill/>
          <a:ln/>
        </p:spPr>
        <p:txBody>
          <a:bodyPr wrap="square" lIns="0" tIns="0" rIns="0" bIns="0" rtlCol="0" anchor="t"/>
          <a:lstStyle/>
          <a:p>
            <a:pPr algn="l" indent="0" marL="0">
              <a:lnSpc>
                <a:spcPct val="120000"/>
              </a:lnSpc>
              <a:buNone/>
            </a:pPr>
            <a:r>
              <a:rPr lang="en-US" sz="1100" dirty="0">
                <a:solidFill>
                  <a:srgbClr val="1E293B"/>
                </a:solidFill>
                <a:latin typeface="Calibri" pitchFamily="34" charset="0"/>
                <a:ea typeface="Calibri" pitchFamily="34" charset="-122"/>
                <a:cs typeface="Calibri" pitchFamily="34" charset="-120"/>
              </a:rPr>
              <a:t>循環参照はリロードが成功してしまうため気づきにくい。データモデルビューアを定期的に目視確認する習慣が重要。</a:t>
            </a:r>
            <a:endParaRPr lang="en-US" sz="1100" dirty="0"/>
          </a:p>
        </p:txBody>
      </p:sp>
      <p:sp>
        <p:nvSpPr>
          <p:cNvPr id="13" name="Shape 11"/>
          <p:cNvSpPr/>
          <p:nvPr/>
        </p:nvSpPr>
        <p:spPr>
          <a:xfrm>
            <a:off x="6583680" y="1600200"/>
            <a:ext cx="5074920" cy="4937760"/>
          </a:xfrm>
          <a:prstGeom prst="roundRect">
            <a:avLst>
              <a:gd name="adj" fmla="val 1481"/>
            </a:avLst>
          </a:prstGeom>
          <a:solidFill>
            <a:srgbClr val="16322A"/>
          </a:solidFill>
          <a:ln/>
          <a:effectLst>
            <a:outerShdw sx="100000" sy="100000" kx="0" ky="0" algn="bl" rotWithShape="0" blurRad="50800" dist="19050" dir="2700000">
              <a:srgbClr val="000000">
                <a:alpha val="12000"/>
              </a:srgbClr>
            </a:outerShdw>
          </a:effectLst>
        </p:spPr>
      </p:sp>
      <p:sp>
        <p:nvSpPr>
          <p:cNvPr id="14" name="Shape 12"/>
          <p:cNvSpPr/>
          <p:nvPr/>
        </p:nvSpPr>
        <p:spPr>
          <a:xfrm>
            <a:off x="10725912" y="1746504"/>
            <a:ext cx="822960" cy="292608"/>
          </a:xfrm>
          <a:prstGeom prst="roundRect">
            <a:avLst>
              <a:gd name="adj" fmla="val 18750"/>
            </a:avLst>
          </a:prstGeom>
          <a:solidFill>
            <a:srgbClr val="1F8A5F"/>
          </a:solidFill>
          <a:ln/>
        </p:spPr>
      </p:sp>
      <p:sp>
        <p:nvSpPr>
          <p:cNvPr id="15" name="Text 13"/>
          <p:cNvSpPr/>
          <p:nvPr/>
        </p:nvSpPr>
        <p:spPr>
          <a:xfrm>
            <a:off x="10725912" y="1746504"/>
            <a:ext cx="8229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Script</a:t>
            </a:r>
            <a:endParaRPr lang="en-US" sz="1100" dirty="0"/>
          </a:p>
        </p:txBody>
      </p:sp>
      <p:sp>
        <p:nvSpPr>
          <p:cNvPr id="16" name="Text 14"/>
          <p:cNvSpPr/>
          <p:nvPr/>
        </p:nvSpPr>
        <p:spPr>
          <a:xfrm>
            <a:off x="6839712" y="1764792"/>
            <a:ext cx="4562856" cy="4608576"/>
          </a:xfrm>
          <a:prstGeom prst="rect">
            <a:avLst/>
          </a:prstGeom>
          <a:noFill/>
          <a:ln/>
        </p:spPr>
        <p:txBody>
          <a:bodyPr wrap="square" lIns="0" tIns="0" rIns="0" bIns="0" rtlCol="0" anchor="t"/>
          <a:lstStyle/>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循環参照の例:</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Orders(CustomerID, StoreID)</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Customers(CustomerID, HomeStoreID)</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Stores(StoreID)</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 Orders-Customers-Stores-Ordersでループ</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片方のキーをリネームして連想を切る</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Customers:</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LOAD</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CustomerID,</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HomeStoreID AS Customer_HomeStoreID,</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CustomerName</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FROM [lib://QVD/customers.qvd] (qvd);</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Customer_HomeStoreIDはStoresと</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連想されなくなり、ループが解消する</a:t>
            </a:r>
            <a:endParaRPr lang="en-US" sz="950" dirty="0"/>
          </a:p>
        </p:txBody>
      </p:sp>
      <p:sp>
        <p:nvSpPr>
          <p:cNvPr id="17" name="Text 15"/>
          <p:cNvSpPr/>
          <p:nvPr/>
        </p:nvSpPr>
        <p:spPr>
          <a:xfrm>
            <a:off x="457200" y="649224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Qlik Sense開発者ガイド② データモデリング設計編</a:t>
            </a:r>
            <a:endParaRPr lang="en-US" sz="900" dirty="0"/>
          </a:p>
        </p:txBody>
      </p:sp>
      <p:sp>
        <p:nvSpPr>
          <p:cNvPr id="18" name="Text 16"/>
          <p:cNvSpPr/>
          <p:nvPr/>
        </p:nvSpPr>
        <p:spPr>
          <a:xfrm>
            <a:off x="11365992"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algn="l" indent="0" marL="0">
              <a:buNone/>
            </a:pPr>
            <a:r>
              <a:rPr lang="en-US" sz="2800" b="1" dirty="0">
                <a:solidFill>
                  <a:srgbClr val="0B3D2E"/>
                </a:solidFill>
                <a:latin typeface="Cambria" pitchFamily="34" charset="0"/>
                <a:ea typeface="Cambria" pitchFamily="34" charset="-122"/>
                <a:cs typeface="Cambria" pitchFamily="34" charset="-120"/>
              </a:rPr>
              <a:t>Generic Load / Crosstable</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algn="l" indent="0" marL="0">
              <a:buNone/>
            </a:pPr>
            <a:r>
              <a:rPr lang="en-US" sz="1300" dirty="0">
                <a:solidFill>
                  <a:srgbClr val="64748B"/>
                </a:solidFill>
                <a:latin typeface="Calibri" pitchFamily="34" charset="0"/>
                <a:ea typeface="Calibri" pitchFamily="34" charset="-122"/>
                <a:cs typeface="Calibri" pitchFamily="34" charset="-120"/>
              </a:rPr>
              <a:t>可変列データ・属性テーブルを正規化する手法</a:t>
            </a:r>
            <a:endParaRPr lang="en-US" sz="1300" dirty="0"/>
          </a:p>
        </p:txBody>
      </p:sp>
      <p:sp>
        <p:nvSpPr>
          <p:cNvPr id="4" name="Shape 2"/>
          <p:cNvSpPr/>
          <p:nvPr/>
        </p:nvSpPr>
        <p:spPr>
          <a:xfrm>
            <a:off x="548640" y="1600200"/>
            <a:ext cx="100584" cy="100584"/>
          </a:xfrm>
          <a:prstGeom prst="ellipse">
            <a:avLst/>
          </a:prstGeom>
          <a:solidFill>
            <a:srgbClr val="29ADB2"/>
          </a:solidFill>
          <a:ln/>
        </p:spPr>
      </p:sp>
      <p:sp>
        <p:nvSpPr>
          <p:cNvPr id="5" name="Text 3"/>
          <p:cNvSpPr/>
          <p:nvPr/>
        </p:nvSpPr>
        <p:spPr>
          <a:xfrm>
            <a:off x="804672" y="147218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CROSSTABLE：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月別売上のように横持ちになっている列群を、縦持ちの「属性名・値」ペアに変換する</a:t>
            </a:r>
            <a:endParaRPr lang="en-US" sz="1250" dirty="0"/>
          </a:p>
        </p:txBody>
      </p:sp>
      <p:sp>
        <p:nvSpPr>
          <p:cNvPr id="6" name="Shape 4"/>
          <p:cNvSpPr/>
          <p:nvPr/>
        </p:nvSpPr>
        <p:spPr>
          <a:xfrm>
            <a:off x="548640" y="2167128"/>
            <a:ext cx="100584" cy="100584"/>
          </a:xfrm>
          <a:prstGeom prst="ellipse">
            <a:avLst/>
          </a:prstGeom>
          <a:solidFill>
            <a:srgbClr val="29ADB2"/>
          </a:solidFill>
          <a:ln/>
        </p:spPr>
      </p:sp>
      <p:sp>
        <p:nvSpPr>
          <p:cNvPr id="7" name="Text 5"/>
          <p:cNvSpPr/>
          <p:nvPr/>
        </p:nvSpPr>
        <p:spPr>
          <a:xfrm>
            <a:off x="804672" y="2039112"/>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GENERIC LOAD：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エンティティ毎に属性の種類が異なるデータ(商品属性など)を1テーブルで柔軟に管理する</a:t>
            </a:r>
            <a:endParaRPr lang="en-US" sz="1250" dirty="0"/>
          </a:p>
        </p:txBody>
      </p:sp>
      <p:sp>
        <p:nvSpPr>
          <p:cNvPr id="8" name="Shape 6"/>
          <p:cNvSpPr/>
          <p:nvPr/>
        </p:nvSpPr>
        <p:spPr>
          <a:xfrm>
            <a:off x="548640" y="2734056"/>
            <a:ext cx="100584" cy="100584"/>
          </a:xfrm>
          <a:prstGeom prst="ellipse">
            <a:avLst/>
          </a:prstGeom>
          <a:solidFill>
            <a:srgbClr val="29ADB2"/>
          </a:solidFill>
          <a:ln/>
        </p:spPr>
      </p:sp>
      <p:sp>
        <p:nvSpPr>
          <p:cNvPr id="9" name="Text 7"/>
          <p:cNvSpPr/>
          <p:nvPr/>
        </p:nvSpPr>
        <p:spPr>
          <a:xfrm>
            <a:off x="804672" y="2606040"/>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使い分け：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Crosstableは固定列の横持ちデータ、Genericは属性自体が可変なデータに向く</a:t>
            </a:r>
            <a:endParaRPr lang="en-US" sz="1250" dirty="0"/>
          </a:p>
        </p:txBody>
      </p:sp>
      <p:sp>
        <p:nvSpPr>
          <p:cNvPr id="10" name="Shape 8"/>
          <p:cNvSpPr/>
          <p:nvPr/>
        </p:nvSpPr>
        <p:spPr>
          <a:xfrm>
            <a:off x="548640" y="3337560"/>
            <a:ext cx="5760720" cy="3200400"/>
          </a:xfrm>
          <a:prstGeom prst="roundRect">
            <a:avLst>
              <a:gd name="adj" fmla="val 2286"/>
            </a:avLst>
          </a:prstGeom>
          <a:solidFill>
            <a:srgbClr val="16322A"/>
          </a:solidFill>
          <a:ln/>
          <a:effectLst>
            <a:outerShdw sx="100000" sy="100000" kx="0" ky="0" algn="bl" rotWithShape="0" blurRad="50800" dist="19050" dir="2700000">
              <a:srgbClr val="000000">
                <a:alpha val="12000"/>
              </a:srgbClr>
            </a:outerShdw>
          </a:effectLst>
        </p:spPr>
      </p:sp>
      <p:sp>
        <p:nvSpPr>
          <p:cNvPr id="11" name="Shape 9"/>
          <p:cNvSpPr/>
          <p:nvPr/>
        </p:nvSpPr>
        <p:spPr>
          <a:xfrm>
            <a:off x="5376672" y="3483864"/>
            <a:ext cx="822960" cy="292608"/>
          </a:xfrm>
          <a:prstGeom prst="roundRect">
            <a:avLst>
              <a:gd name="adj" fmla="val 18750"/>
            </a:avLst>
          </a:prstGeom>
          <a:solidFill>
            <a:srgbClr val="1F8A5F"/>
          </a:solidFill>
          <a:ln/>
        </p:spPr>
      </p:sp>
      <p:sp>
        <p:nvSpPr>
          <p:cNvPr id="12" name="Text 10"/>
          <p:cNvSpPr/>
          <p:nvPr/>
        </p:nvSpPr>
        <p:spPr>
          <a:xfrm>
            <a:off x="5376672" y="3483864"/>
            <a:ext cx="8229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Script</a:t>
            </a:r>
            <a:endParaRPr lang="en-US" sz="1100" dirty="0"/>
          </a:p>
        </p:txBody>
      </p:sp>
      <p:sp>
        <p:nvSpPr>
          <p:cNvPr id="13" name="Text 11"/>
          <p:cNvSpPr/>
          <p:nvPr/>
        </p:nvSpPr>
        <p:spPr>
          <a:xfrm>
            <a:off x="804672" y="3502152"/>
            <a:ext cx="5248656" cy="2871216"/>
          </a:xfrm>
          <a:prstGeom prst="rect">
            <a:avLst/>
          </a:prstGeom>
          <a:noFill/>
          <a:ln/>
        </p:spPr>
        <p:txBody>
          <a:bodyPr wrap="square" lIns="0" tIns="0" rIns="0" bIns="0" rtlCol="0" anchor="t"/>
          <a:lstStyle/>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横持ち(月別列)を縦持ちに変換</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CrosstableSales:</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CROSSTABLE (Month, Amount, 1)</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LOAD</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ProductID, Jan, Feb, Mar, Apr</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FROM [lib://Source/sales_wide.xlsx]</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(ooxml, embedded labels, table</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is Sheet1);</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ProductID, Month, Amount の</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3列構造に変換される</a:t>
            </a:r>
            <a:endParaRPr lang="en-US" sz="950" dirty="0"/>
          </a:p>
        </p:txBody>
      </p:sp>
      <p:sp>
        <p:nvSpPr>
          <p:cNvPr id="14" name="Shape 12"/>
          <p:cNvSpPr/>
          <p:nvPr/>
        </p:nvSpPr>
        <p:spPr>
          <a:xfrm>
            <a:off x="6583680" y="1600200"/>
            <a:ext cx="5074920" cy="4937760"/>
          </a:xfrm>
          <a:prstGeom prst="roundRect">
            <a:avLst>
              <a:gd name="adj" fmla="val 1481"/>
            </a:avLst>
          </a:prstGeom>
          <a:solidFill>
            <a:srgbClr val="16322A"/>
          </a:solidFill>
          <a:ln/>
          <a:effectLst>
            <a:outerShdw sx="100000" sy="100000" kx="0" ky="0" algn="bl" rotWithShape="0" blurRad="50800" dist="19050" dir="2700000">
              <a:srgbClr val="000000">
                <a:alpha val="12000"/>
              </a:srgbClr>
            </a:outerShdw>
          </a:effectLst>
        </p:spPr>
      </p:sp>
      <p:sp>
        <p:nvSpPr>
          <p:cNvPr id="15" name="Shape 13"/>
          <p:cNvSpPr/>
          <p:nvPr/>
        </p:nvSpPr>
        <p:spPr>
          <a:xfrm>
            <a:off x="10725912" y="1746504"/>
            <a:ext cx="822960" cy="292608"/>
          </a:xfrm>
          <a:prstGeom prst="roundRect">
            <a:avLst>
              <a:gd name="adj" fmla="val 18750"/>
            </a:avLst>
          </a:prstGeom>
          <a:solidFill>
            <a:srgbClr val="1F8A5F"/>
          </a:solidFill>
          <a:ln/>
        </p:spPr>
      </p:sp>
      <p:sp>
        <p:nvSpPr>
          <p:cNvPr id="16" name="Text 14"/>
          <p:cNvSpPr/>
          <p:nvPr/>
        </p:nvSpPr>
        <p:spPr>
          <a:xfrm>
            <a:off x="10725912" y="1746504"/>
            <a:ext cx="8229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Script</a:t>
            </a:r>
            <a:endParaRPr lang="en-US" sz="1100" dirty="0"/>
          </a:p>
        </p:txBody>
      </p:sp>
      <p:sp>
        <p:nvSpPr>
          <p:cNvPr id="17" name="Text 15"/>
          <p:cNvSpPr/>
          <p:nvPr/>
        </p:nvSpPr>
        <p:spPr>
          <a:xfrm>
            <a:off x="6839712" y="1764792"/>
            <a:ext cx="4562856" cy="4608576"/>
          </a:xfrm>
          <a:prstGeom prst="rect">
            <a:avLst/>
          </a:prstGeom>
          <a:noFill/>
          <a:ln/>
        </p:spPr>
        <p:txBody>
          <a:bodyPr wrap="square" lIns="0" tIns="0" rIns="0" bIns="0" rtlCol="0" anchor="t"/>
          <a:lstStyle/>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商品ごとに属性が異なるデータ</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GENERIC LOAD</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ProductID, AttributeName, AttrValue</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FROM [lib://Source/product_attrs.csv]</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(txt, codepage is 65001, embedded</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labels, delimiter is ',', msq);</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AttributeNameの値ごとに</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'Product-Color' 'Product-Size' のように</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自動でテーブルが分割生成される</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必要に応じてAPPLYMAPなどで</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後段の分析用に再結合する</a:t>
            </a:r>
            <a:endParaRPr lang="en-US" sz="950" dirty="0"/>
          </a:p>
        </p:txBody>
      </p:sp>
      <p:sp>
        <p:nvSpPr>
          <p:cNvPr id="18" name="Text 16"/>
          <p:cNvSpPr/>
          <p:nvPr/>
        </p:nvSpPr>
        <p:spPr>
          <a:xfrm>
            <a:off x="457200" y="649224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Qlik Sense開発者ガイド② データモデリング設計編</a:t>
            </a:r>
            <a:endParaRPr lang="en-US" sz="900" dirty="0"/>
          </a:p>
        </p:txBody>
      </p:sp>
      <p:sp>
        <p:nvSpPr>
          <p:cNvPr id="19" name="Text 17"/>
          <p:cNvSpPr/>
          <p:nvPr/>
        </p:nvSpPr>
        <p:spPr>
          <a:xfrm>
            <a:off x="11365992"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algn="l" indent="0" marL="0">
              <a:buNone/>
            </a:pPr>
            <a:r>
              <a:rPr lang="en-US" sz="2800" b="1" dirty="0">
                <a:solidFill>
                  <a:srgbClr val="0B3D2E"/>
                </a:solidFill>
                <a:latin typeface="Cambria" pitchFamily="34" charset="0"/>
                <a:ea typeface="Cambria" pitchFamily="34" charset="-122"/>
                <a:cs typeface="Cambria" pitchFamily="34" charset="-120"/>
              </a:rPr>
              <a:t>カレンダーテーブルの作り方</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algn="l" indent="0" marL="0">
              <a:buNone/>
            </a:pPr>
            <a:r>
              <a:rPr lang="en-US" sz="1300" dirty="0">
                <a:solidFill>
                  <a:srgbClr val="64748B"/>
                </a:solidFill>
                <a:latin typeface="Calibri" pitchFamily="34" charset="0"/>
                <a:ea typeface="Calibri" pitchFamily="34" charset="-122"/>
                <a:cs typeface="Calibri" pitchFamily="34" charset="-120"/>
              </a:rPr>
              <a:t>マスターカレンダーで日付関連の分析軸を一元管理する</a:t>
            </a:r>
            <a:endParaRPr lang="en-US" sz="1300" dirty="0"/>
          </a:p>
        </p:txBody>
      </p:sp>
      <p:sp>
        <p:nvSpPr>
          <p:cNvPr id="4" name="Shape 2"/>
          <p:cNvSpPr/>
          <p:nvPr/>
        </p:nvSpPr>
        <p:spPr>
          <a:xfrm>
            <a:off x="548640" y="1600200"/>
            <a:ext cx="100584" cy="100584"/>
          </a:xfrm>
          <a:prstGeom prst="ellipse">
            <a:avLst/>
          </a:prstGeom>
          <a:solidFill>
            <a:srgbClr val="29ADB2"/>
          </a:solidFill>
          <a:ln/>
        </p:spPr>
      </p:sp>
      <p:sp>
        <p:nvSpPr>
          <p:cNvPr id="5" name="Text 3"/>
          <p:cNvSpPr/>
          <p:nvPr/>
        </p:nvSpPr>
        <p:spPr>
          <a:xfrm>
            <a:off x="804672" y="147218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マスターカレンダー：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日付の最小値〜最大値の連続した日付テーブルを生成し、年/四半期/月などの属性を付与する</a:t>
            </a:r>
            <a:endParaRPr lang="en-US" sz="1250" dirty="0"/>
          </a:p>
        </p:txBody>
      </p:sp>
      <p:sp>
        <p:nvSpPr>
          <p:cNvPr id="6" name="Shape 4"/>
          <p:cNvSpPr/>
          <p:nvPr/>
        </p:nvSpPr>
        <p:spPr>
          <a:xfrm>
            <a:off x="548640" y="2377440"/>
            <a:ext cx="100584" cy="100584"/>
          </a:xfrm>
          <a:prstGeom prst="ellipse">
            <a:avLst/>
          </a:prstGeom>
          <a:solidFill>
            <a:srgbClr val="29ADB2"/>
          </a:solidFill>
          <a:ln/>
        </p:spPr>
      </p:sp>
      <p:sp>
        <p:nvSpPr>
          <p:cNvPr id="7" name="Text 5"/>
          <p:cNvSpPr/>
          <p:nvPr/>
        </p:nvSpPr>
        <p:spPr>
          <a:xfrm>
            <a:off x="804672" y="224942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autoCalendar/自前生成：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拡張機能のautoCalendarか、Min/Maxとループで自前生成する方法がある</a:t>
            </a:r>
            <a:endParaRPr lang="en-US" sz="1250" dirty="0"/>
          </a:p>
        </p:txBody>
      </p:sp>
      <p:sp>
        <p:nvSpPr>
          <p:cNvPr id="8" name="Shape 6"/>
          <p:cNvSpPr/>
          <p:nvPr/>
        </p:nvSpPr>
        <p:spPr>
          <a:xfrm>
            <a:off x="548640" y="3154680"/>
            <a:ext cx="100584" cy="100584"/>
          </a:xfrm>
          <a:prstGeom prst="ellipse">
            <a:avLst/>
          </a:prstGeom>
          <a:solidFill>
            <a:srgbClr val="29ADB2"/>
          </a:solidFill>
          <a:ln/>
        </p:spPr>
      </p:sp>
      <p:sp>
        <p:nvSpPr>
          <p:cNvPr id="9" name="Text 7"/>
          <p:cNvSpPr/>
          <p:nvPr/>
        </p:nvSpPr>
        <p:spPr>
          <a:xfrm>
            <a:off x="804672" y="302666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ファクトとの関連付け：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ファクトテーブルの日付フィールドをそのままキーとして連想させ、JOINを書かずに済ませる</a:t>
            </a:r>
            <a:endParaRPr lang="en-US" sz="1250" dirty="0"/>
          </a:p>
        </p:txBody>
      </p:sp>
      <p:sp>
        <p:nvSpPr>
          <p:cNvPr id="10" name="Shape 8"/>
          <p:cNvSpPr/>
          <p:nvPr/>
        </p:nvSpPr>
        <p:spPr>
          <a:xfrm>
            <a:off x="548640" y="4069080"/>
            <a:ext cx="5760720" cy="1051560"/>
          </a:xfrm>
          <a:prstGeom prst="roundRect">
            <a:avLst>
              <a:gd name="adj" fmla="val 5217"/>
            </a:avLst>
          </a:prstGeom>
          <a:solidFill>
            <a:srgbClr val="F3FAF6"/>
          </a:solidFill>
          <a:ln/>
        </p:spPr>
      </p:sp>
      <p:sp>
        <p:nvSpPr>
          <p:cNvPr id="11" name="Text 9"/>
          <p:cNvSpPr/>
          <p:nvPr/>
        </p:nvSpPr>
        <p:spPr>
          <a:xfrm>
            <a:off x="777240" y="4178808"/>
            <a:ext cx="5303520" cy="274320"/>
          </a:xfrm>
          <a:prstGeom prst="rect">
            <a:avLst/>
          </a:prstGeom>
          <a:noFill/>
          <a:ln/>
        </p:spPr>
        <p:txBody>
          <a:bodyPr wrap="square" lIns="0" tIns="0" rIns="0" bIns="0" rtlCol="0" anchor="ctr"/>
          <a:lstStyle/>
          <a:p>
            <a:pPr algn="l" indent="0" marL="0">
              <a:buNone/>
            </a:pPr>
            <a:r>
              <a:rPr lang="en-US" sz="1200" b="1" dirty="0">
                <a:solidFill>
                  <a:srgbClr val="1F8A5F"/>
                </a:solidFill>
                <a:latin typeface="Calibri" pitchFamily="34" charset="0"/>
                <a:ea typeface="Calibri" pitchFamily="34" charset="-122"/>
                <a:cs typeface="Calibri" pitchFamily="34" charset="-120"/>
              </a:rPr>
              <a:t>ポイント</a:t>
            </a:r>
            <a:endParaRPr lang="en-US" sz="1200" dirty="0"/>
          </a:p>
        </p:txBody>
      </p:sp>
      <p:sp>
        <p:nvSpPr>
          <p:cNvPr id="12" name="Text 10"/>
          <p:cNvSpPr/>
          <p:nvPr/>
        </p:nvSpPr>
        <p:spPr>
          <a:xfrm>
            <a:off x="777240" y="4453128"/>
            <a:ext cx="5303520" cy="548640"/>
          </a:xfrm>
          <a:prstGeom prst="rect">
            <a:avLst/>
          </a:prstGeom>
          <a:noFill/>
          <a:ln/>
        </p:spPr>
        <p:txBody>
          <a:bodyPr wrap="square" lIns="0" tIns="0" rIns="0" bIns="0" rtlCol="0" anchor="t"/>
          <a:lstStyle/>
          <a:p>
            <a:pPr algn="l" indent="0" marL="0">
              <a:lnSpc>
                <a:spcPct val="120000"/>
              </a:lnSpc>
              <a:buNone/>
            </a:pPr>
            <a:r>
              <a:rPr lang="en-US" sz="1100" dirty="0">
                <a:solidFill>
                  <a:srgbClr val="1E293B"/>
                </a:solidFill>
                <a:latin typeface="Calibri" pitchFamily="34" charset="0"/>
                <a:ea typeface="Calibri" pitchFamily="34" charset="-122"/>
                <a:cs typeface="Calibri" pitchFamily="34" charset="-120"/>
              </a:rPr>
              <a:t>カレンダーは日付型を統一しておくこと。文字列の日付とDate型が混在すると連想が切れる典型的な事故になる。</a:t>
            </a:r>
            <a:endParaRPr lang="en-US" sz="1100" dirty="0"/>
          </a:p>
        </p:txBody>
      </p:sp>
      <p:sp>
        <p:nvSpPr>
          <p:cNvPr id="13" name="Shape 11"/>
          <p:cNvSpPr/>
          <p:nvPr/>
        </p:nvSpPr>
        <p:spPr>
          <a:xfrm>
            <a:off x="6583680" y="1600200"/>
            <a:ext cx="5074920" cy="4937760"/>
          </a:xfrm>
          <a:prstGeom prst="roundRect">
            <a:avLst>
              <a:gd name="adj" fmla="val 1481"/>
            </a:avLst>
          </a:prstGeom>
          <a:solidFill>
            <a:srgbClr val="16322A"/>
          </a:solidFill>
          <a:ln/>
          <a:effectLst>
            <a:outerShdw sx="100000" sy="100000" kx="0" ky="0" algn="bl" rotWithShape="0" blurRad="50800" dist="19050" dir="2700000">
              <a:srgbClr val="000000">
                <a:alpha val="12000"/>
              </a:srgbClr>
            </a:outerShdw>
          </a:effectLst>
        </p:spPr>
      </p:sp>
      <p:sp>
        <p:nvSpPr>
          <p:cNvPr id="14" name="Shape 12"/>
          <p:cNvSpPr/>
          <p:nvPr/>
        </p:nvSpPr>
        <p:spPr>
          <a:xfrm>
            <a:off x="10725912" y="1746504"/>
            <a:ext cx="822960" cy="292608"/>
          </a:xfrm>
          <a:prstGeom prst="roundRect">
            <a:avLst>
              <a:gd name="adj" fmla="val 18750"/>
            </a:avLst>
          </a:prstGeom>
          <a:solidFill>
            <a:srgbClr val="1F8A5F"/>
          </a:solidFill>
          <a:ln/>
        </p:spPr>
      </p:sp>
      <p:sp>
        <p:nvSpPr>
          <p:cNvPr id="15" name="Text 13"/>
          <p:cNvSpPr/>
          <p:nvPr/>
        </p:nvSpPr>
        <p:spPr>
          <a:xfrm>
            <a:off x="10725912" y="1746504"/>
            <a:ext cx="8229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Script</a:t>
            </a:r>
            <a:endParaRPr lang="en-US" sz="1100" dirty="0"/>
          </a:p>
        </p:txBody>
      </p:sp>
      <p:sp>
        <p:nvSpPr>
          <p:cNvPr id="16" name="Text 14"/>
          <p:cNvSpPr/>
          <p:nvPr/>
        </p:nvSpPr>
        <p:spPr>
          <a:xfrm>
            <a:off x="6839712" y="1764792"/>
            <a:ext cx="4562856" cy="4608576"/>
          </a:xfrm>
          <a:prstGeom prst="rect">
            <a:avLst/>
          </a:prstGeom>
          <a:noFill/>
          <a:ln/>
        </p:spPr>
        <p:txBody>
          <a:bodyPr wrap="square" lIns="0" tIns="0" rIns="0" bIns="0" rtlCol="0" anchor="t"/>
          <a:lstStyle/>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ファクトの日付範囲を取得</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MinMax:</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LOAD Min(OrderDate) AS MinDate,</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Max(OrderDate) AS MaxDate</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RESIDENT Orders;</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LET vMinDate = Peek('MinDate', 0, 'MinMax');</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LET vMaxDate = Peek('MaxDate', 0, 'MinMax');</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DROP TABLE MinMax;</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連続した日付を生成</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TempCalendar:</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LOAD</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$(vMinDate) + IterNo() - 1 AS OrderDate</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AUTOGENERATE 1</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WHILE $(vMinDate) + IterNo() - 1</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&lt;= $(vMaxDate);</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MasterCalendar:</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LOAD</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OrderDate,</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Year(OrderDate) AS Year,</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Month(OrderDate) AS Month,</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'Q' &amp; Ceil(Month(OrderDate)/3)</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AS Quarter</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RESIDENT TempCalendar;</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DROP TABLE TempCalendar;</a:t>
            </a:r>
            <a:endParaRPr lang="en-US" sz="950" dirty="0"/>
          </a:p>
        </p:txBody>
      </p:sp>
      <p:sp>
        <p:nvSpPr>
          <p:cNvPr id="17" name="Text 15"/>
          <p:cNvSpPr/>
          <p:nvPr/>
        </p:nvSpPr>
        <p:spPr>
          <a:xfrm>
            <a:off x="457200" y="649224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Qlik Sense開発者ガイド② データモデリング設計編</a:t>
            </a:r>
            <a:endParaRPr lang="en-US" sz="900" dirty="0"/>
          </a:p>
        </p:txBody>
      </p:sp>
      <p:sp>
        <p:nvSpPr>
          <p:cNvPr id="18" name="Text 16"/>
          <p:cNvSpPr/>
          <p:nvPr/>
        </p:nvSpPr>
        <p:spPr>
          <a:xfrm>
            <a:off x="11365992"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algn="l" indent="0" marL="0">
              <a:buNone/>
            </a:pPr>
            <a:r>
              <a:rPr lang="en-US" sz="2800" b="1" dirty="0">
                <a:solidFill>
                  <a:srgbClr val="0B3D2E"/>
                </a:solidFill>
                <a:latin typeface="Cambria" pitchFamily="34" charset="0"/>
                <a:ea typeface="Cambria" pitchFamily="34" charset="-122"/>
                <a:cs typeface="Cambria" pitchFamily="34" charset="-120"/>
              </a:rPr>
              <a:t>よくあるアンチパターン①</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algn="l" indent="0" marL="0">
              <a:buNone/>
            </a:pPr>
            <a:r>
              <a:rPr lang="en-US" sz="1300" dirty="0">
                <a:solidFill>
                  <a:srgbClr val="64748B"/>
                </a:solidFill>
                <a:latin typeface="Calibri" pitchFamily="34" charset="0"/>
                <a:ea typeface="Calibri" pitchFamily="34" charset="-122"/>
                <a:cs typeface="Calibri" pitchFamily="34" charset="-120"/>
              </a:rPr>
              <a:t>キー設計でやりがちなミス</a:t>
            </a:r>
            <a:endParaRPr lang="en-US" sz="1300" dirty="0"/>
          </a:p>
        </p:txBody>
      </p:sp>
      <p:sp>
        <p:nvSpPr>
          <p:cNvPr id="4" name="Shape 2"/>
          <p:cNvSpPr/>
          <p:nvPr/>
        </p:nvSpPr>
        <p:spPr>
          <a:xfrm>
            <a:off x="548640" y="1600200"/>
            <a:ext cx="5413248" cy="292608"/>
          </a:xfrm>
          <a:prstGeom prst="roundRect">
            <a:avLst>
              <a:gd name="adj" fmla="val 15625"/>
            </a:avLst>
          </a:prstGeom>
          <a:solidFill>
            <a:srgbClr val="C0392B"/>
          </a:solidFill>
          <a:ln/>
        </p:spPr>
      </p:sp>
      <p:sp>
        <p:nvSpPr>
          <p:cNvPr id="5" name="Text 3"/>
          <p:cNvSpPr/>
          <p:nvPr/>
        </p:nvSpPr>
        <p:spPr>
          <a:xfrm>
            <a:off x="548640" y="1600200"/>
            <a:ext cx="541324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避けるべき</a:t>
            </a:r>
            <a:endParaRPr lang="en-US" sz="1200" dirty="0"/>
          </a:p>
        </p:txBody>
      </p:sp>
      <p:sp>
        <p:nvSpPr>
          <p:cNvPr id="6" name="Shape 4"/>
          <p:cNvSpPr/>
          <p:nvPr/>
        </p:nvSpPr>
        <p:spPr>
          <a:xfrm>
            <a:off x="548640" y="1965960"/>
            <a:ext cx="5413248" cy="1353312"/>
          </a:xfrm>
          <a:prstGeom prst="roundRect">
            <a:avLst>
              <a:gd name="adj" fmla="val 4054"/>
            </a:avLst>
          </a:prstGeom>
          <a:solidFill>
            <a:srgbClr val="16322A"/>
          </a:solidFill>
          <a:ln/>
        </p:spPr>
      </p:sp>
      <p:sp>
        <p:nvSpPr>
          <p:cNvPr id="7" name="Text 5"/>
          <p:cNvSpPr/>
          <p:nvPr/>
        </p:nvSpPr>
        <p:spPr>
          <a:xfrm>
            <a:off x="731520" y="2075688"/>
            <a:ext cx="5047488" cy="1133856"/>
          </a:xfrm>
          <a:prstGeom prst="rect">
            <a:avLst/>
          </a:prstGeom>
          <a:noFill/>
          <a:ln/>
        </p:spPr>
        <p:txBody>
          <a:bodyPr wrap="square" lIns="0" tIns="0" rIns="0" bIns="0" rtlCol="0" anchor="t"/>
          <a:lstStyle/>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意味の異なる同名キーを放置</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Orders:</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LOAD OrderID, Date, ProductID</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FROM orders.qvd (qvd);</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Campaigns:</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LOAD CampaignID, Date, Region</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FROM campaigns.qvd (qvd);</a:t>
            </a:r>
            <a:endParaRPr lang="en-US" sz="950" dirty="0"/>
          </a:p>
        </p:txBody>
      </p:sp>
      <p:sp>
        <p:nvSpPr>
          <p:cNvPr id="8" name="Shape 6"/>
          <p:cNvSpPr/>
          <p:nvPr/>
        </p:nvSpPr>
        <p:spPr>
          <a:xfrm>
            <a:off x="6245352" y="1600200"/>
            <a:ext cx="5413248" cy="292608"/>
          </a:xfrm>
          <a:prstGeom prst="roundRect">
            <a:avLst>
              <a:gd name="adj" fmla="val 15625"/>
            </a:avLst>
          </a:prstGeom>
          <a:solidFill>
            <a:srgbClr val="1F8A5F"/>
          </a:solidFill>
          <a:ln/>
        </p:spPr>
      </p:sp>
      <p:sp>
        <p:nvSpPr>
          <p:cNvPr id="9" name="Text 7"/>
          <p:cNvSpPr/>
          <p:nvPr/>
        </p:nvSpPr>
        <p:spPr>
          <a:xfrm>
            <a:off x="6245352" y="1600200"/>
            <a:ext cx="541324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推奨</a:t>
            </a:r>
            <a:endParaRPr lang="en-US" sz="1200" dirty="0"/>
          </a:p>
        </p:txBody>
      </p:sp>
      <p:sp>
        <p:nvSpPr>
          <p:cNvPr id="10" name="Shape 8"/>
          <p:cNvSpPr/>
          <p:nvPr/>
        </p:nvSpPr>
        <p:spPr>
          <a:xfrm>
            <a:off x="6245352" y="1965960"/>
            <a:ext cx="5413248" cy="1353312"/>
          </a:xfrm>
          <a:prstGeom prst="roundRect">
            <a:avLst>
              <a:gd name="adj" fmla="val 4054"/>
            </a:avLst>
          </a:prstGeom>
          <a:solidFill>
            <a:srgbClr val="16322A"/>
          </a:solidFill>
          <a:ln/>
        </p:spPr>
      </p:sp>
      <p:sp>
        <p:nvSpPr>
          <p:cNvPr id="11" name="Text 9"/>
          <p:cNvSpPr/>
          <p:nvPr/>
        </p:nvSpPr>
        <p:spPr>
          <a:xfrm>
            <a:off x="6428232" y="2075688"/>
            <a:ext cx="5047488" cy="1133856"/>
          </a:xfrm>
          <a:prstGeom prst="rect">
            <a:avLst/>
          </a:prstGeom>
          <a:noFill/>
          <a:ln/>
        </p:spPr>
        <p:txBody>
          <a:bodyPr wrap="square" lIns="0" tIns="0" rIns="0" bIns="0" rtlCol="0" anchor="t"/>
          <a:lstStyle/>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意味が違う場合は明示的にリネーム</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Orders:</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LOAD OrderID, Date AS OrderDate</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FROM orders.qvd (qvd);</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Campaigns:</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LOAD CampaignID, Date AS CampaignDate</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FROM campaigns.qvd (qvd);</a:t>
            </a:r>
            <a:endParaRPr lang="en-US" sz="950" dirty="0"/>
          </a:p>
        </p:txBody>
      </p:sp>
      <p:sp>
        <p:nvSpPr>
          <p:cNvPr id="12" name="Shape 10"/>
          <p:cNvSpPr/>
          <p:nvPr/>
        </p:nvSpPr>
        <p:spPr>
          <a:xfrm>
            <a:off x="548640" y="3840480"/>
            <a:ext cx="5413248" cy="292608"/>
          </a:xfrm>
          <a:prstGeom prst="roundRect">
            <a:avLst>
              <a:gd name="adj" fmla="val 15625"/>
            </a:avLst>
          </a:prstGeom>
          <a:solidFill>
            <a:srgbClr val="C0392B"/>
          </a:solidFill>
          <a:ln/>
        </p:spPr>
      </p:sp>
      <p:sp>
        <p:nvSpPr>
          <p:cNvPr id="13" name="Text 11"/>
          <p:cNvSpPr/>
          <p:nvPr/>
        </p:nvSpPr>
        <p:spPr>
          <a:xfrm>
            <a:off x="548640" y="3840480"/>
            <a:ext cx="541324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避けるべき</a:t>
            </a:r>
            <a:endParaRPr lang="en-US" sz="1200" dirty="0"/>
          </a:p>
        </p:txBody>
      </p:sp>
      <p:sp>
        <p:nvSpPr>
          <p:cNvPr id="14" name="Shape 12"/>
          <p:cNvSpPr/>
          <p:nvPr/>
        </p:nvSpPr>
        <p:spPr>
          <a:xfrm>
            <a:off x="548640" y="4206240"/>
            <a:ext cx="5413248" cy="1691640"/>
          </a:xfrm>
          <a:prstGeom prst="roundRect">
            <a:avLst>
              <a:gd name="adj" fmla="val 3243"/>
            </a:avLst>
          </a:prstGeom>
          <a:solidFill>
            <a:srgbClr val="16322A"/>
          </a:solidFill>
          <a:ln/>
        </p:spPr>
      </p:sp>
      <p:sp>
        <p:nvSpPr>
          <p:cNvPr id="15" name="Text 13"/>
          <p:cNvSpPr/>
          <p:nvPr/>
        </p:nvSpPr>
        <p:spPr>
          <a:xfrm>
            <a:off x="731520" y="4315968"/>
            <a:ext cx="5047488" cy="1472184"/>
          </a:xfrm>
          <a:prstGeom prst="rect">
            <a:avLst/>
          </a:prstGeom>
          <a:noFill/>
          <a:ln/>
        </p:spPr>
        <p:txBody>
          <a:bodyPr wrap="square" lIns="0" tIns="0" rIns="0" bIns="0" rtlCol="0" anchor="t"/>
          <a:lstStyle/>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主キーの一意性を未検証のまま結合</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Products:</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LOAD ProductID, ProductName</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FROM products_v1.qvd (qvd);</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CONCATENATE (Products)</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LOAD ProductID, ProductName</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FROM products_v2.qvd (qvd);</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 重複IDが粒度を狂わせる</a:t>
            </a:r>
            <a:endParaRPr lang="en-US" sz="950" dirty="0"/>
          </a:p>
        </p:txBody>
      </p:sp>
      <p:sp>
        <p:nvSpPr>
          <p:cNvPr id="16" name="Shape 14"/>
          <p:cNvSpPr/>
          <p:nvPr/>
        </p:nvSpPr>
        <p:spPr>
          <a:xfrm>
            <a:off x="6245352" y="3840480"/>
            <a:ext cx="5413248" cy="292608"/>
          </a:xfrm>
          <a:prstGeom prst="roundRect">
            <a:avLst>
              <a:gd name="adj" fmla="val 15625"/>
            </a:avLst>
          </a:prstGeom>
          <a:solidFill>
            <a:srgbClr val="1F8A5F"/>
          </a:solidFill>
          <a:ln/>
        </p:spPr>
      </p:sp>
      <p:sp>
        <p:nvSpPr>
          <p:cNvPr id="17" name="Text 15"/>
          <p:cNvSpPr/>
          <p:nvPr/>
        </p:nvSpPr>
        <p:spPr>
          <a:xfrm>
            <a:off x="6245352" y="3840480"/>
            <a:ext cx="541324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推奨</a:t>
            </a:r>
            <a:endParaRPr lang="en-US" sz="1200" dirty="0"/>
          </a:p>
        </p:txBody>
      </p:sp>
      <p:sp>
        <p:nvSpPr>
          <p:cNvPr id="18" name="Shape 16"/>
          <p:cNvSpPr/>
          <p:nvPr/>
        </p:nvSpPr>
        <p:spPr>
          <a:xfrm>
            <a:off x="6245352" y="4206240"/>
            <a:ext cx="5413248" cy="1691640"/>
          </a:xfrm>
          <a:prstGeom prst="roundRect">
            <a:avLst>
              <a:gd name="adj" fmla="val 3243"/>
            </a:avLst>
          </a:prstGeom>
          <a:solidFill>
            <a:srgbClr val="16322A"/>
          </a:solidFill>
          <a:ln/>
        </p:spPr>
      </p:sp>
      <p:sp>
        <p:nvSpPr>
          <p:cNvPr id="19" name="Text 17"/>
          <p:cNvSpPr/>
          <p:nvPr/>
        </p:nvSpPr>
        <p:spPr>
          <a:xfrm>
            <a:off x="6428232" y="4315968"/>
            <a:ext cx="5047488" cy="1472184"/>
          </a:xfrm>
          <a:prstGeom prst="rect">
            <a:avLst/>
          </a:prstGeom>
          <a:noFill/>
          <a:ln/>
        </p:spPr>
        <p:txBody>
          <a:bodyPr wrap="square" lIns="0" tIns="0" rIns="0" bIns="0" rtlCol="0" anchor="t"/>
          <a:lstStyle/>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結合前にDISTINCTで重複確認</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Products:</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LOAD DISTINCT ProductID, ProductName</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FROM products_v1.qvd (qvd);</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CONCATENATE (Products)</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LOAD DISTINCT ProductID, ProductName</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FROM products_v2.qvd (qvd);</a:t>
            </a:r>
            <a:endParaRPr lang="en-US" sz="950" dirty="0"/>
          </a:p>
        </p:txBody>
      </p:sp>
      <p:sp>
        <p:nvSpPr>
          <p:cNvPr id="20" name="Text 18"/>
          <p:cNvSpPr/>
          <p:nvPr/>
        </p:nvSpPr>
        <p:spPr>
          <a:xfrm>
            <a:off x="457200" y="649224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Qlik Sense開発者ガイド② データモデリング設計編</a:t>
            </a:r>
            <a:endParaRPr lang="en-US" sz="900" dirty="0"/>
          </a:p>
        </p:txBody>
      </p:sp>
      <p:sp>
        <p:nvSpPr>
          <p:cNvPr id="21" name="Text 19"/>
          <p:cNvSpPr/>
          <p:nvPr/>
        </p:nvSpPr>
        <p:spPr>
          <a:xfrm>
            <a:off x="11365992"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algn="l" indent="0" marL="0">
              <a:buNone/>
            </a:pPr>
            <a:r>
              <a:rPr lang="en-US" sz="2800" b="1" dirty="0">
                <a:solidFill>
                  <a:srgbClr val="0B3D2E"/>
                </a:solidFill>
                <a:latin typeface="Cambria" pitchFamily="34" charset="0"/>
                <a:ea typeface="Cambria" pitchFamily="34" charset="-122"/>
                <a:cs typeface="Cambria" pitchFamily="34" charset="-120"/>
              </a:rPr>
              <a:t>よくあるアンチパターン②</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algn="l" indent="0" marL="0">
              <a:buNone/>
            </a:pPr>
            <a:r>
              <a:rPr lang="en-US" sz="1300" dirty="0">
                <a:solidFill>
                  <a:srgbClr val="64748B"/>
                </a:solidFill>
                <a:latin typeface="Calibri" pitchFamily="34" charset="0"/>
                <a:ea typeface="Calibri" pitchFamily="34" charset="-122"/>
                <a:cs typeface="Calibri" pitchFamily="34" charset="-120"/>
              </a:rPr>
              <a:t>粒度・正規化でやりがちなミス</a:t>
            </a:r>
            <a:endParaRPr lang="en-US" sz="1300" dirty="0"/>
          </a:p>
        </p:txBody>
      </p:sp>
      <p:sp>
        <p:nvSpPr>
          <p:cNvPr id="4" name="Shape 2"/>
          <p:cNvSpPr/>
          <p:nvPr/>
        </p:nvSpPr>
        <p:spPr>
          <a:xfrm>
            <a:off x="548640" y="1600200"/>
            <a:ext cx="5413248" cy="292608"/>
          </a:xfrm>
          <a:prstGeom prst="roundRect">
            <a:avLst>
              <a:gd name="adj" fmla="val 15625"/>
            </a:avLst>
          </a:prstGeom>
          <a:solidFill>
            <a:srgbClr val="C0392B"/>
          </a:solidFill>
          <a:ln/>
        </p:spPr>
      </p:sp>
      <p:sp>
        <p:nvSpPr>
          <p:cNvPr id="5" name="Text 3"/>
          <p:cNvSpPr/>
          <p:nvPr/>
        </p:nvSpPr>
        <p:spPr>
          <a:xfrm>
            <a:off x="548640" y="1600200"/>
            <a:ext cx="541324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避けるべき</a:t>
            </a:r>
            <a:endParaRPr lang="en-US" sz="1200" dirty="0"/>
          </a:p>
        </p:txBody>
      </p:sp>
      <p:sp>
        <p:nvSpPr>
          <p:cNvPr id="6" name="Shape 4"/>
          <p:cNvSpPr/>
          <p:nvPr/>
        </p:nvSpPr>
        <p:spPr>
          <a:xfrm>
            <a:off x="548640" y="1965960"/>
            <a:ext cx="5413248" cy="1353312"/>
          </a:xfrm>
          <a:prstGeom prst="roundRect">
            <a:avLst>
              <a:gd name="adj" fmla="val 4054"/>
            </a:avLst>
          </a:prstGeom>
          <a:solidFill>
            <a:srgbClr val="16322A"/>
          </a:solidFill>
          <a:ln/>
        </p:spPr>
      </p:sp>
      <p:sp>
        <p:nvSpPr>
          <p:cNvPr id="7" name="Text 5"/>
          <p:cNvSpPr/>
          <p:nvPr/>
        </p:nvSpPr>
        <p:spPr>
          <a:xfrm>
            <a:off x="731520" y="2075688"/>
            <a:ext cx="5047488" cy="1133856"/>
          </a:xfrm>
          <a:prstGeom prst="rect">
            <a:avLst/>
          </a:prstGeom>
          <a:noFill/>
          <a:ln/>
        </p:spPr>
        <p:txBody>
          <a:bodyPr wrap="square" lIns="0" tIns="0" rIns="0" bIns="0" rtlCol="0" anchor="t"/>
          <a:lstStyle/>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異なる粒度のファクトを直接結合</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OrderHeader:</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LOAD OrderID, CustomerID, OrderDate</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FROM order_header.qvd (qvd);</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OrderDetail:</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LOAD OrderID, ProductID, Qty</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FROM order_detail.qvd (qvd);</a:t>
            </a:r>
            <a:endParaRPr lang="en-US" sz="950" dirty="0"/>
          </a:p>
        </p:txBody>
      </p:sp>
      <p:sp>
        <p:nvSpPr>
          <p:cNvPr id="8" name="Shape 6"/>
          <p:cNvSpPr/>
          <p:nvPr/>
        </p:nvSpPr>
        <p:spPr>
          <a:xfrm>
            <a:off x="6245352" y="1600200"/>
            <a:ext cx="5413248" cy="292608"/>
          </a:xfrm>
          <a:prstGeom prst="roundRect">
            <a:avLst>
              <a:gd name="adj" fmla="val 15625"/>
            </a:avLst>
          </a:prstGeom>
          <a:solidFill>
            <a:srgbClr val="1F8A5F"/>
          </a:solidFill>
          <a:ln/>
        </p:spPr>
      </p:sp>
      <p:sp>
        <p:nvSpPr>
          <p:cNvPr id="9" name="Text 7"/>
          <p:cNvSpPr/>
          <p:nvPr/>
        </p:nvSpPr>
        <p:spPr>
          <a:xfrm>
            <a:off x="6245352" y="1600200"/>
            <a:ext cx="541324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推奨</a:t>
            </a:r>
            <a:endParaRPr lang="en-US" sz="1200" dirty="0"/>
          </a:p>
        </p:txBody>
      </p:sp>
      <p:sp>
        <p:nvSpPr>
          <p:cNvPr id="10" name="Shape 8"/>
          <p:cNvSpPr/>
          <p:nvPr/>
        </p:nvSpPr>
        <p:spPr>
          <a:xfrm>
            <a:off x="6245352" y="1965960"/>
            <a:ext cx="5413248" cy="1353312"/>
          </a:xfrm>
          <a:prstGeom prst="roundRect">
            <a:avLst>
              <a:gd name="adj" fmla="val 4054"/>
            </a:avLst>
          </a:prstGeom>
          <a:solidFill>
            <a:srgbClr val="16322A"/>
          </a:solidFill>
          <a:ln/>
        </p:spPr>
      </p:sp>
      <p:sp>
        <p:nvSpPr>
          <p:cNvPr id="11" name="Text 9"/>
          <p:cNvSpPr/>
          <p:nvPr/>
        </p:nvSpPr>
        <p:spPr>
          <a:xfrm>
            <a:off x="6428232" y="2075688"/>
            <a:ext cx="5047488" cy="1133856"/>
          </a:xfrm>
          <a:prstGeom prst="rect">
            <a:avLst/>
          </a:prstGeom>
          <a:noFill/>
          <a:ln/>
        </p:spPr>
        <p:txBody>
          <a:bodyPr wrap="square" lIns="0" tIns="0" rIns="0" bIns="0" rtlCol="0" anchor="t"/>
          <a:lstStyle/>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ヘッダー値はDetail側でAggr/集約</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OrderDetail:</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LOAD OrderID, ProductID, Qty</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FROM order_detail.qvd (qvd);</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ヘッダー金額はOrderID単位の</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Set Analysisで都度集計し</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二重カウントを防ぐ</a:t>
            </a:r>
            <a:endParaRPr lang="en-US" sz="950" dirty="0"/>
          </a:p>
        </p:txBody>
      </p:sp>
      <p:sp>
        <p:nvSpPr>
          <p:cNvPr id="12" name="Shape 10"/>
          <p:cNvSpPr/>
          <p:nvPr/>
        </p:nvSpPr>
        <p:spPr>
          <a:xfrm>
            <a:off x="548640" y="3840480"/>
            <a:ext cx="5413248" cy="292608"/>
          </a:xfrm>
          <a:prstGeom prst="roundRect">
            <a:avLst>
              <a:gd name="adj" fmla="val 15625"/>
            </a:avLst>
          </a:prstGeom>
          <a:solidFill>
            <a:srgbClr val="C0392B"/>
          </a:solidFill>
          <a:ln/>
        </p:spPr>
      </p:sp>
      <p:sp>
        <p:nvSpPr>
          <p:cNvPr id="13" name="Text 11"/>
          <p:cNvSpPr/>
          <p:nvPr/>
        </p:nvSpPr>
        <p:spPr>
          <a:xfrm>
            <a:off x="548640" y="3840480"/>
            <a:ext cx="541324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避けるべき</a:t>
            </a:r>
            <a:endParaRPr lang="en-US" sz="1200" dirty="0"/>
          </a:p>
        </p:txBody>
      </p:sp>
      <p:sp>
        <p:nvSpPr>
          <p:cNvPr id="14" name="Shape 12"/>
          <p:cNvSpPr/>
          <p:nvPr/>
        </p:nvSpPr>
        <p:spPr>
          <a:xfrm>
            <a:off x="548640" y="4206240"/>
            <a:ext cx="5413248" cy="1691640"/>
          </a:xfrm>
          <a:prstGeom prst="roundRect">
            <a:avLst>
              <a:gd name="adj" fmla="val 3243"/>
            </a:avLst>
          </a:prstGeom>
          <a:solidFill>
            <a:srgbClr val="16322A"/>
          </a:solidFill>
          <a:ln/>
        </p:spPr>
      </p:sp>
      <p:sp>
        <p:nvSpPr>
          <p:cNvPr id="15" name="Text 13"/>
          <p:cNvSpPr/>
          <p:nvPr/>
        </p:nvSpPr>
        <p:spPr>
          <a:xfrm>
            <a:off x="731520" y="4315968"/>
            <a:ext cx="5047488" cy="1472184"/>
          </a:xfrm>
          <a:prstGeom prst="rect">
            <a:avLst/>
          </a:prstGeom>
          <a:noFill/>
          <a:ln/>
        </p:spPr>
        <p:txBody>
          <a:bodyPr wrap="square" lIns="0" tIns="0" rIns="0" bIns="0" rtlCol="0" anchor="t"/>
          <a:lstStyle/>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非正規化で同じ属性を複数列に展開</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Customers:</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LOAD</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CustomerID, Tag1, Tag2, Tag3</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FROM customers.qvd (qvd);</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 タグが4つ以上になると</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テーブル構造の変更が必要</a:t>
            </a:r>
            <a:endParaRPr lang="en-US" sz="950" dirty="0"/>
          </a:p>
        </p:txBody>
      </p:sp>
      <p:sp>
        <p:nvSpPr>
          <p:cNvPr id="16" name="Shape 14"/>
          <p:cNvSpPr/>
          <p:nvPr/>
        </p:nvSpPr>
        <p:spPr>
          <a:xfrm>
            <a:off x="6245352" y="3840480"/>
            <a:ext cx="5413248" cy="292608"/>
          </a:xfrm>
          <a:prstGeom prst="roundRect">
            <a:avLst>
              <a:gd name="adj" fmla="val 15625"/>
            </a:avLst>
          </a:prstGeom>
          <a:solidFill>
            <a:srgbClr val="1F8A5F"/>
          </a:solidFill>
          <a:ln/>
        </p:spPr>
      </p:sp>
      <p:sp>
        <p:nvSpPr>
          <p:cNvPr id="17" name="Text 15"/>
          <p:cNvSpPr/>
          <p:nvPr/>
        </p:nvSpPr>
        <p:spPr>
          <a:xfrm>
            <a:off x="6245352" y="3840480"/>
            <a:ext cx="541324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推奨</a:t>
            </a:r>
            <a:endParaRPr lang="en-US" sz="1200" dirty="0"/>
          </a:p>
        </p:txBody>
      </p:sp>
      <p:sp>
        <p:nvSpPr>
          <p:cNvPr id="18" name="Shape 16"/>
          <p:cNvSpPr/>
          <p:nvPr/>
        </p:nvSpPr>
        <p:spPr>
          <a:xfrm>
            <a:off x="6245352" y="4206240"/>
            <a:ext cx="5413248" cy="1691640"/>
          </a:xfrm>
          <a:prstGeom prst="roundRect">
            <a:avLst>
              <a:gd name="adj" fmla="val 3243"/>
            </a:avLst>
          </a:prstGeom>
          <a:solidFill>
            <a:srgbClr val="16322A"/>
          </a:solidFill>
          <a:ln/>
        </p:spPr>
      </p:sp>
      <p:sp>
        <p:nvSpPr>
          <p:cNvPr id="19" name="Text 17"/>
          <p:cNvSpPr/>
          <p:nvPr/>
        </p:nvSpPr>
        <p:spPr>
          <a:xfrm>
            <a:off x="6428232" y="4315968"/>
            <a:ext cx="5047488" cy="1472184"/>
          </a:xfrm>
          <a:prstGeom prst="rect">
            <a:avLst/>
          </a:prstGeom>
          <a:noFill/>
          <a:ln/>
        </p:spPr>
        <p:txBody>
          <a:bodyPr wrap="square" lIns="0" tIns="0" rIns="0" bIns="0" rtlCol="0" anchor="t"/>
          <a:lstStyle/>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タグは縦持ちの中間テーブルに分離</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CustomerTags:</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LOAD CustomerID, Tag</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FROM customer_tags.qvd (qvd);</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行数は増えるが、タグの増減に</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構造変更不要で対応できる</a:t>
            </a:r>
            <a:endParaRPr lang="en-US" sz="950" dirty="0"/>
          </a:p>
        </p:txBody>
      </p:sp>
      <p:sp>
        <p:nvSpPr>
          <p:cNvPr id="20" name="Text 18"/>
          <p:cNvSpPr/>
          <p:nvPr/>
        </p:nvSpPr>
        <p:spPr>
          <a:xfrm>
            <a:off x="457200" y="649224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Qlik Sense開発者ガイド② データモデリング設計編</a:t>
            </a:r>
            <a:endParaRPr lang="en-US" sz="900" dirty="0"/>
          </a:p>
        </p:txBody>
      </p:sp>
      <p:sp>
        <p:nvSpPr>
          <p:cNvPr id="21" name="Text 19"/>
          <p:cNvSpPr/>
          <p:nvPr/>
        </p:nvSpPr>
        <p:spPr>
          <a:xfrm>
            <a:off x="11365992"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algn="l" indent="0" marL="0">
              <a:buNone/>
            </a:pPr>
            <a:r>
              <a:rPr lang="en-US" sz="2800" b="1" dirty="0">
                <a:solidFill>
                  <a:srgbClr val="0B3D2E"/>
                </a:solidFill>
                <a:latin typeface="Cambria" pitchFamily="34" charset="0"/>
                <a:ea typeface="Cambria" pitchFamily="34" charset="-122"/>
                <a:cs typeface="Cambria" pitchFamily="34" charset="-120"/>
              </a:rPr>
              <a:t>データモデルビューアの読み方</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algn="l" indent="0" marL="0">
              <a:buNone/>
            </a:pPr>
            <a:r>
              <a:rPr lang="en-US" sz="1300" dirty="0">
                <a:solidFill>
                  <a:srgbClr val="64748B"/>
                </a:solidFill>
                <a:latin typeface="Calibri" pitchFamily="34" charset="0"/>
                <a:ea typeface="Calibri" pitchFamily="34" charset="-122"/>
                <a:cs typeface="Calibri" pitchFamily="34" charset="-120"/>
              </a:rPr>
              <a:t>テーブル関連図とキー品質をリロード毎に確認する</a:t>
            </a:r>
            <a:endParaRPr lang="en-US" sz="1300" dirty="0"/>
          </a:p>
        </p:txBody>
      </p:sp>
      <p:sp>
        <p:nvSpPr>
          <p:cNvPr id="4" name="Shape 2"/>
          <p:cNvSpPr/>
          <p:nvPr/>
        </p:nvSpPr>
        <p:spPr>
          <a:xfrm>
            <a:off x="548640" y="1600200"/>
            <a:ext cx="100584" cy="100584"/>
          </a:xfrm>
          <a:prstGeom prst="ellipse">
            <a:avLst/>
          </a:prstGeom>
          <a:solidFill>
            <a:srgbClr val="29ADB2"/>
          </a:solidFill>
          <a:ln/>
        </p:spPr>
      </p:sp>
      <p:sp>
        <p:nvSpPr>
          <p:cNvPr id="5" name="Text 3"/>
          <p:cNvSpPr/>
          <p:nvPr/>
        </p:nvSpPr>
        <p:spPr>
          <a:xfrm>
            <a:off x="804672" y="147218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テーブル関連図：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テーブル間の線がキーを表す。線が太い/細いでフィールドの基数(カーディナリティ)感を把握できる</a:t>
            </a:r>
            <a:endParaRPr lang="en-US" sz="1250" dirty="0"/>
          </a:p>
        </p:txBody>
      </p:sp>
      <p:sp>
        <p:nvSpPr>
          <p:cNvPr id="6" name="Shape 4"/>
          <p:cNvSpPr/>
          <p:nvPr/>
        </p:nvSpPr>
        <p:spPr>
          <a:xfrm>
            <a:off x="548640" y="2377440"/>
            <a:ext cx="100584" cy="100584"/>
          </a:xfrm>
          <a:prstGeom prst="ellipse">
            <a:avLst/>
          </a:prstGeom>
          <a:solidFill>
            <a:srgbClr val="29ADB2"/>
          </a:solidFill>
          <a:ln/>
        </p:spPr>
      </p:sp>
      <p:sp>
        <p:nvSpPr>
          <p:cNvPr id="7" name="Text 5"/>
          <p:cNvSpPr/>
          <p:nvPr/>
        </p:nvSpPr>
        <p:spPr>
          <a:xfrm>
            <a:off x="804672" y="224942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$Syn / $Loose テーブル：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シンセティックキーやルーズな関連(円形アイコン)が表示されたら設計の見直しサイン</a:t>
            </a:r>
            <a:endParaRPr lang="en-US" sz="1250" dirty="0"/>
          </a:p>
        </p:txBody>
      </p:sp>
      <p:sp>
        <p:nvSpPr>
          <p:cNvPr id="8" name="Shape 6"/>
          <p:cNvSpPr/>
          <p:nvPr/>
        </p:nvSpPr>
        <p:spPr>
          <a:xfrm>
            <a:off x="548640" y="3154680"/>
            <a:ext cx="100584" cy="100584"/>
          </a:xfrm>
          <a:prstGeom prst="ellipse">
            <a:avLst/>
          </a:prstGeom>
          <a:solidFill>
            <a:srgbClr val="29ADB2"/>
          </a:solidFill>
          <a:ln/>
        </p:spPr>
      </p:sp>
      <p:sp>
        <p:nvSpPr>
          <p:cNvPr id="9" name="Text 7"/>
          <p:cNvSpPr/>
          <p:nvPr/>
        </p:nvSpPr>
        <p:spPr>
          <a:xfrm>
            <a:off x="804672" y="302666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プレビュー機能：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各テーブルをクリックするとサンプルデータとフィールド一覧を確認でき、想定通りの値か検証できる</a:t>
            </a:r>
            <a:endParaRPr lang="en-US" sz="1250" dirty="0"/>
          </a:p>
        </p:txBody>
      </p:sp>
      <p:sp>
        <p:nvSpPr>
          <p:cNvPr id="10" name="Shape 8"/>
          <p:cNvSpPr/>
          <p:nvPr/>
        </p:nvSpPr>
        <p:spPr>
          <a:xfrm>
            <a:off x="548640" y="4069080"/>
            <a:ext cx="5760720" cy="1051560"/>
          </a:xfrm>
          <a:prstGeom prst="roundRect">
            <a:avLst>
              <a:gd name="adj" fmla="val 5217"/>
            </a:avLst>
          </a:prstGeom>
          <a:solidFill>
            <a:srgbClr val="F3FAF6"/>
          </a:solidFill>
          <a:ln/>
        </p:spPr>
      </p:sp>
      <p:sp>
        <p:nvSpPr>
          <p:cNvPr id="11" name="Text 9"/>
          <p:cNvSpPr/>
          <p:nvPr/>
        </p:nvSpPr>
        <p:spPr>
          <a:xfrm>
            <a:off x="777240" y="4178808"/>
            <a:ext cx="5303520" cy="274320"/>
          </a:xfrm>
          <a:prstGeom prst="rect">
            <a:avLst/>
          </a:prstGeom>
          <a:noFill/>
          <a:ln/>
        </p:spPr>
        <p:txBody>
          <a:bodyPr wrap="square" lIns="0" tIns="0" rIns="0" bIns="0" rtlCol="0" anchor="ctr"/>
          <a:lstStyle/>
          <a:p>
            <a:pPr algn="l" indent="0" marL="0">
              <a:buNone/>
            </a:pPr>
            <a:r>
              <a:rPr lang="en-US" sz="1200" b="1" dirty="0">
                <a:solidFill>
                  <a:srgbClr val="1F8A5F"/>
                </a:solidFill>
                <a:latin typeface="Calibri" pitchFamily="34" charset="0"/>
                <a:ea typeface="Calibri" pitchFamily="34" charset="-122"/>
                <a:cs typeface="Calibri" pitchFamily="34" charset="-120"/>
              </a:rPr>
              <a:t>ポイント</a:t>
            </a:r>
            <a:endParaRPr lang="en-US" sz="1200" dirty="0"/>
          </a:p>
        </p:txBody>
      </p:sp>
      <p:sp>
        <p:nvSpPr>
          <p:cNvPr id="12" name="Text 10"/>
          <p:cNvSpPr/>
          <p:nvPr/>
        </p:nvSpPr>
        <p:spPr>
          <a:xfrm>
            <a:off x="777240" y="4453128"/>
            <a:ext cx="5303520" cy="548640"/>
          </a:xfrm>
          <a:prstGeom prst="rect">
            <a:avLst/>
          </a:prstGeom>
          <a:noFill/>
          <a:ln/>
        </p:spPr>
        <p:txBody>
          <a:bodyPr wrap="square" lIns="0" tIns="0" rIns="0" bIns="0" rtlCol="0" anchor="t"/>
          <a:lstStyle/>
          <a:p>
            <a:pPr algn="l" indent="0" marL="0">
              <a:lnSpc>
                <a:spcPct val="120000"/>
              </a:lnSpc>
              <a:buNone/>
            </a:pPr>
            <a:r>
              <a:rPr lang="en-US" sz="1100" dirty="0">
                <a:solidFill>
                  <a:srgbClr val="1E293B"/>
                </a:solidFill>
                <a:latin typeface="Calibri" pitchFamily="34" charset="0"/>
                <a:ea typeface="Calibri" pitchFamily="34" charset="-122"/>
                <a:cs typeface="Calibri" pitchFamily="34" charset="-120"/>
              </a:rPr>
              <a:t>リロード成功は「エラーがない」ことの証明であって「モデルが正しい」ことの証明ではない。ビューア確認を毎回の習慣にする。</a:t>
            </a:r>
            <a:endParaRPr lang="en-US" sz="1100" dirty="0"/>
          </a:p>
        </p:txBody>
      </p:sp>
      <p:sp>
        <p:nvSpPr>
          <p:cNvPr id="13" name="Shape 11"/>
          <p:cNvSpPr/>
          <p:nvPr/>
        </p:nvSpPr>
        <p:spPr>
          <a:xfrm>
            <a:off x="6583680" y="1600200"/>
            <a:ext cx="5074920" cy="4937760"/>
          </a:xfrm>
          <a:prstGeom prst="roundRect">
            <a:avLst>
              <a:gd name="adj" fmla="val 1481"/>
            </a:avLst>
          </a:prstGeom>
          <a:solidFill>
            <a:srgbClr val="16322A"/>
          </a:solidFill>
          <a:ln/>
          <a:effectLst>
            <a:outerShdw sx="100000" sy="100000" kx="0" ky="0" algn="bl" rotWithShape="0" blurRad="50800" dist="19050" dir="2700000">
              <a:srgbClr val="000000">
                <a:alpha val="12000"/>
              </a:srgbClr>
            </a:outerShdw>
          </a:effectLst>
        </p:spPr>
      </p:sp>
      <p:sp>
        <p:nvSpPr>
          <p:cNvPr id="14" name="Shape 12"/>
          <p:cNvSpPr/>
          <p:nvPr/>
        </p:nvSpPr>
        <p:spPr>
          <a:xfrm>
            <a:off x="10725912" y="1746504"/>
            <a:ext cx="822960" cy="292608"/>
          </a:xfrm>
          <a:prstGeom prst="roundRect">
            <a:avLst>
              <a:gd name="adj" fmla="val 18750"/>
            </a:avLst>
          </a:prstGeom>
          <a:solidFill>
            <a:srgbClr val="1F8A5F"/>
          </a:solidFill>
          <a:ln/>
        </p:spPr>
      </p:sp>
      <p:sp>
        <p:nvSpPr>
          <p:cNvPr id="15" name="Text 13"/>
          <p:cNvSpPr/>
          <p:nvPr/>
        </p:nvSpPr>
        <p:spPr>
          <a:xfrm>
            <a:off x="10725912" y="1746504"/>
            <a:ext cx="8229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Script</a:t>
            </a:r>
            <a:endParaRPr lang="en-US" sz="1100" dirty="0"/>
          </a:p>
        </p:txBody>
      </p:sp>
      <p:sp>
        <p:nvSpPr>
          <p:cNvPr id="16" name="Text 14"/>
          <p:cNvSpPr/>
          <p:nvPr/>
        </p:nvSpPr>
        <p:spPr>
          <a:xfrm>
            <a:off x="6839712" y="1764792"/>
            <a:ext cx="4562856" cy="4608576"/>
          </a:xfrm>
          <a:prstGeom prst="rect">
            <a:avLst/>
          </a:prstGeom>
          <a:noFill/>
          <a:ln/>
        </p:spPr>
        <p:txBody>
          <a:bodyPr wrap="square" lIns="0" tIns="0" rIns="0" bIns="0" rtlCol="0" anchor="t"/>
          <a:lstStyle/>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モデル検証を自動化する一例</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TableInfo:</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LOAD</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TableName,</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NoOfRows(TableName) AS RowCount,</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NoOfFields(TableName) AS FieldCount</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FROM (inline) [TableName] WITH</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CONNECT TO 'qlik://';</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実務では以下を毎回手動確認</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・$Synテーブルが存在しないか</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・主要キーのCardinalityが想定通りか</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・孤立した(他と未接続の)</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テーブルが残っていないか</a:t>
            </a:r>
            <a:endParaRPr lang="en-US" sz="950" dirty="0"/>
          </a:p>
        </p:txBody>
      </p:sp>
      <p:sp>
        <p:nvSpPr>
          <p:cNvPr id="17" name="Text 15"/>
          <p:cNvSpPr/>
          <p:nvPr/>
        </p:nvSpPr>
        <p:spPr>
          <a:xfrm>
            <a:off x="457200" y="649224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Qlik Sense開発者ガイド② データモデリング設計編</a:t>
            </a:r>
            <a:endParaRPr lang="en-US" sz="900" dirty="0"/>
          </a:p>
        </p:txBody>
      </p:sp>
      <p:sp>
        <p:nvSpPr>
          <p:cNvPr id="18" name="Text 16"/>
          <p:cNvSpPr/>
          <p:nvPr/>
        </p:nvSpPr>
        <p:spPr>
          <a:xfrm>
            <a:off x="11365992"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3D2E"/>
        </a:solidFill>
      </p:bgPr>
    </p:bg>
    <p:spTree>
      <p:nvGrpSpPr>
        <p:cNvPr id="1" name=""/>
        <p:cNvGrpSpPr/>
        <p:nvPr/>
      </p:nvGrpSpPr>
      <p:grpSpPr>
        <a:xfrm>
          <a:off x="0" y="0"/>
          <a:ext cx="0" cy="0"/>
          <a:chOff x="0" y="0"/>
          <a:chExt cx="0" cy="0"/>
        </a:xfrm>
      </p:grpSpPr>
      <p:sp>
        <p:nvSpPr>
          <p:cNvPr id="2" name="Shape 0"/>
          <p:cNvSpPr/>
          <p:nvPr/>
        </p:nvSpPr>
        <p:spPr>
          <a:xfrm>
            <a:off x="-1371600" y="-1371600"/>
            <a:ext cx="4572000" cy="4572000"/>
          </a:xfrm>
          <a:prstGeom prst="ellipse">
            <a:avLst/>
          </a:prstGeom>
          <a:solidFill>
            <a:srgbClr val="16614A">
              <a:alpha val="45000"/>
            </a:srgbClr>
          </a:solidFill>
          <a:ln/>
        </p:spPr>
      </p:sp>
      <p:sp>
        <p:nvSpPr>
          <p:cNvPr id="3" name="Shape 1"/>
          <p:cNvSpPr/>
          <p:nvPr/>
        </p:nvSpPr>
        <p:spPr>
          <a:xfrm>
            <a:off x="10058400" y="4114800"/>
            <a:ext cx="3657600" cy="3657600"/>
          </a:xfrm>
          <a:prstGeom prst="ellipse">
            <a:avLst/>
          </a:prstGeom>
          <a:solidFill>
            <a:srgbClr val="1F8A5F">
              <a:alpha val="45000"/>
            </a:srgbClr>
          </a:solidFill>
          <a:ln/>
        </p:spPr>
      </p:sp>
      <p:sp>
        <p:nvSpPr>
          <p:cNvPr id="4" name="Text 2"/>
          <p:cNvSpPr/>
          <p:nvPr/>
        </p:nvSpPr>
        <p:spPr>
          <a:xfrm>
            <a:off x="640080" y="502920"/>
            <a:ext cx="10058400" cy="64008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まとめ：実装前チェックリスト</a:t>
            </a:r>
            <a:endParaRPr lang="en-US" sz="2600" dirty="0"/>
          </a:p>
        </p:txBody>
      </p:sp>
      <p:sp>
        <p:nvSpPr>
          <p:cNvPr id="5" name="Text 3"/>
          <p:cNvSpPr/>
          <p:nvPr/>
        </p:nvSpPr>
        <p:spPr>
          <a:xfrm>
            <a:off x="640080" y="1097280"/>
            <a:ext cx="7315200" cy="411480"/>
          </a:xfrm>
          <a:prstGeom prst="rect">
            <a:avLst/>
          </a:prstGeom>
          <a:noFill/>
          <a:ln/>
        </p:spPr>
        <p:txBody>
          <a:bodyPr wrap="square" lIns="0" tIns="0" rIns="0" bIns="0" rtlCol="0" anchor="ctr"/>
          <a:lstStyle/>
          <a:p>
            <a:pPr algn="l" indent="0" marL="0">
              <a:buNone/>
            </a:pPr>
            <a:r>
              <a:rPr lang="en-US" sz="1300" dirty="0">
                <a:solidFill>
                  <a:srgbClr val="E8F5EF"/>
                </a:solidFill>
                <a:latin typeface="Calibri" pitchFamily="34" charset="0"/>
                <a:ea typeface="Calibri" pitchFamily="34" charset="-122"/>
                <a:cs typeface="Calibri" pitchFamily="34" charset="-120"/>
              </a:rPr>
              <a:t>データモデリング設計編の振り返り</a:t>
            </a:r>
            <a:endParaRPr lang="en-US" sz="1300" dirty="0"/>
          </a:p>
        </p:txBody>
      </p:sp>
      <p:sp>
        <p:nvSpPr>
          <p:cNvPr id="6" name="Shape 4"/>
          <p:cNvSpPr/>
          <p:nvPr/>
        </p:nvSpPr>
        <p:spPr>
          <a:xfrm>
            <a:off x="640080" y="1783080"/>
            <a:ext cx="10927080" cy="658368"/>
          </a:xfrm>
          <a:prstGeom prst="roundRect">
            <a:avLst>
              <a:gd name="adj" fmla="val 6944"/>
            </a:avLst>
          </a:prstGeom>
          <a:solidFill>
            <a:srgbClr val="FFFFFF">
              <a:alpha val="8000"/>
            </a:srgbClr>
          </a:solidFill>
          <a:ln w="9525">
            <a:solidFill>
              <a:srgbClr val="1F8A5F">
                <a:alpha val="70000"/>
              </a:srgbClr>
            </a:solidFill>
            <a:prstDash val="solid"/>
          </a:ln>
        </p:spPr>
      </p:sp>
      <p:sp>
        <p:nvSpPr>
          <p:cNvPr id="7" name="Shape 5"/>
          <p:cNvSpPr/>
          <p:nvPr/>
        </p:nvSpPr>
        <p:spPr>
          <a:xfrm>
            <a:off x="868680" y="1993392"/>
            <a:ext cx="237744" cy="237744"/>
          </a:xfrm>
          <a:prstGeom prst="ellipse">
            <a:avLst/>
          </a:prstGeom>
          <a:solidFill>
            <a:srgbClr val="1F8A5F"/>
          </a:solidFill>
          <a:ln/>
        </p:spPr>
      </p:sp>
      <p:sp>
        <p:nvSpPr>
          <p:cNvPr id="8" name="Text 6"/>
          <p:cNvSpPr/>
          <p:nvPr/>
        </p:nvSpPr>
        <p:spPr>
          <a:xfrm>
            <a:off x="868680" y="1993392"/>
            <a:ext cx="237744"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9" name="Text 7"/>
          <p:cNvSpPr/>
          <p:nvPr/>
        </p:nvSpPr>
        <p:spPr>
          <a:xfrm>
            <a:off x="1371600" y="1783080"/>
            <a:ext cx="9966960" cy="658368"/>
          </a:xfrm>
          <a:prstGeom prst="rect">
            <a:avLst/>
          </a:prstGeom>
          <a:noFill/>
          <a:ln/>
        </p:spPr>
        <p:txBody>
          <a:bodyPr wrap="square" lIns="0" tIns="0" rIns="0" bIns="0" rtlCol="0" anchor="ctr"/>
          <a:lstStyle/>
          <a:p>
            <a:pPr algn="l" indent="0" marL="0">
              <a:buNone/>
            </a:pPr>
            <a:r>
              <a:rPr lang="en-US" sz="1300" dirty="0">
                <a:solidFill>
                  <a:srgbClr val="E8F5EF"/>
                </a:solidFill>
                <a:latin typeface="Calibri" pitchFamily="34" charset="0"/>
                <a:ea typeface="Calibri" pitchFamily="34" charset="-122"/>
                <a:cs typeface="Calibri" pitchFamily="34" charset="-120"/>
              </a:rPr>
              <a:t>中心となるファクトテーブルは1つに絞り、複数ファクトはリンクテーブル経由にしているか</a:t>
            </a:r>
            <a:endParaRPr lang="en-US" sz="1300" dirty="0"/>
          </a:p>
        </p:txBody>
      </p:sp>
      <p:sp>
        <p:nvSpPr>
          <p:cNvPr id="10" name="Shape 8"/>
          <p:cNvSpPr/>
          <p:nvPr/>
        </p:nvSpPr>
        <p:spPr>
          <a:xfrm>
            <a:off x="640080" y="2560320"/>
            <a:ext cx="10927080" cy="658368"/>
          </a:xfrm>
          <a:prstGeom prst="roundRect">
            <a:avLst>
              <a:gd name="adj" fmla="val 6944"/>
            </a:avLst>
          </a:prstGeom>
          <a:solidFill>
            <a:srgbClr val="FFFFFF">
              <a:alpha val="8000"/>
            </a:srgbClr>
          </a:solidFill>
          <a:ln w="9525">
            <a:solidFill>
              <a:srgbClr val="1F8A5F">
                <a:alpha val="70000"/>
              </a:srgbClr>
            </a:solidFill>
            <a:prstDash val="solid"/>
          </a:ln>
        </p:spPr>
      </p:sp>
      <p:sp>
        <p:nvSpPr>
          <p:cNvPr id="11" name="Shape 9"/>
          <p:cNvSpPr/>
          <p:nvPr/>
        </p:nvSpPr>
        <p:spPr>
          <a:xfrm>
            <a:off x="868680" y="2770632"/>
            <a:ext cx="237744" cy="237744"/>
          </a:xfrm>
          <a:prstGeom prst="ellipse">
            <a:avLst/>
          </a:prstGeom>
          <a:solidFill>
            <a:srgbClr val="1F8A5F"/>
          </a:solidFill>
          <a:ln/>
        </p:spPr>
      </p:sp>
      <p:sp>
        <p:nvSpPr>
          <p:cNvPr id="12" name="Text 10"/>
          <p:cNvSpPr/>
          <p:nvPr/>
        </p:nvSpPr>
        <p:spPr>
          <a:xfrm>
            <a:off x="868680" y="2770632"/>
            <a:ext cx="237744"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3" name="Text 11"/>
          <p:cNvSpPr/>
          <p:nvPr/>
        </p:nvSpPr>
        <p:spPr>
          <a:xfrm>
            <a:off x="1371600" y="2560320"/>
            <a:ext cx="9966960" cy="658368"/>
          </a:xfrm>
          <a:prstGeom prst="rect">
            <a:avLst/>
          </a:prstGeom>
          <a:noFill/>
          <a:ln/>
        </p:spPr>
        <p:txBody>
          <a:bodyPr wrap="square" lIns="0" tIns="0" rIns="0" bIns="0" rtlCol="0" anchor="ctr"/>
          <a:lstStyle/>
          <a:p>
            <a:pPr algn="l" indent="0" marL="0">
              <a:buNone/>
            </a:pPr>
            <a:r>
              <a:rPr lang="en-US" sz="1300" dirty="0">
                <a:solidFill>
                  <a:srgbClr val="E8F5EF"/>
                </a:solidFill>
                <a:latin typeface="Calibri" pitchFamily="34" charset="0"/>
                <a:ea typeface="Calibri" pitchFamily="34" charset="-122"/>
                <a:cs typeface="Calibri" pitchFamily="34" charset="-120"/>
              </a:rPr>
              <a:t>2つ以上の同名フィールドを持つテーブルがなく、シンセティックキーが発生していないか</a:t>
            </a:r>
            <a:endParaRPr lang="en-US" sz="1300" dirty="0"/>
          </a:p>
        </p:txBody>
      </p:sp>
      <p:sp>
        <p:nvSpPr>
          <p:cNvPr id="14" name="Shape 12"/>
          <p:cNvSpPr/>
          <p:nvPr/>
        </p:nvSpPr>
        <p:spPr>
          <a:xfrm>
            <a:off x="640080" y="3337560"/>
            <a:ext cx="10927080" cy="658368"/>
          </a:xfrm>
          <a:prstGeom prst="roundRect">
            <a:avLst>
              <a:gd name="adj" fmla="val 6944"/>
            </a:avLst>
          </a:prstGeom>
          <a:solidFill>
            <a:srgbClr val="FFFFFF">
              <a:alpha val="8000"/>
            </a:srgbClr>
          </a:solidFill>
          <a:ln w="9525">
            <a:solidFill>
              <a:srgbClr val="1F8A5F">
                <a:alpha val="70000"/>
              </a:srgbClr>
            </a:solidFill>
            <a:prstDash val="solid"/>
          </a:ln>
        </p:spPr>
      </p:sp>
      <p:sp>
        <p:nvSpPr>
          <p:cNvPr id="15" name="Shape 13"/>
          <p:cNvSpPr/>
          <p:nvPr/>
        </p:nvSpPr>
        <p:spPr>
          <a:xfrm>
            <a:off x="868680" y="3547872"/>
            <a:ext cx="237744" cy="237744"/>
          </a:xfrm>
          <a:prstGeom prst="ellipse">
            <a:avLst/>
          </a:prstGeom>
          <a:solidFill>
            <a:srgbClr val="1F8A5F"/>
          </a:solidFill>
          <a:ln/>
        </p:spPr>
      </p:sp>
      <p:sp>
        <p:nvSpPr>
          <p:cNvPr id="16" name="Text 14"/>
          <p:cNvSpPr/>
          <p:nvPr/>
        </p:nvSpPr>
        <p:spPr>
          <a:xfrm>
            <a:off x="868680" y="3547872"/>
            <a:ext cx="237744"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7" name="Text 15"/>
          <p:cNvSpPr/>
          <p:nvPr/>
        </p:nvSpPr>
        <p:spPr>
          <a:xfrm>
            <a:off x="1371600" y="3337560"/>
            <a:ext cx="9966960" cy="658368"/>
          </a:xfrm>
          <a:prstGeom prst="rect">
            <a:avLst/>
          </a:prstGeom>
          <a:noFill/>
          <a:ln/>
        </p:spPr>
        <p:txBody>
          <a:bodyPr wrap="square" lIns="0" tIns="0" rIns="0" bIns="0" rtlCol="0" anchor="ctr"/>
          <a:lstStyle/>
          <a:p>
            <a:pPr algn="l" indent="0" marL="0">
              <a:buNone/>
            </a:pPr>
            <a:r>
              <a:rPr lang="en-US" sz="1300" dirty="0">
                <a:solidFill>
                  <a:srgbClr val="E8F5EF"/>
                </a:solidFill>
                <a:latin typeface="Calibri" pitchFamily="34" charset="0"/>
                <a:ea typeface="Calibri" pitchFamily="34" charset="-122"/>
                <a:cs typeface="Calibri" pitchFamily="34" charset="-120"/>
              </a:rPr>
              <a:t>テーブル間にループ構造(循環参照)が残っていないか</a:t>
            </a:r>
            <a:endParaRPr lang="en-US" sz="1300" dirty="0"/>
          </a:p>
        </p:txBody>
      </p:sp>
      <p:sp>
        <p:nvSpPr>
          <p:cNvPr id="18" name="Shape 16"/>
          <p:cNvSpPr/>
          <p:nvPr/>
        </p:nvSpPr>
        <p:spPr>
          <a:xfrm>
            <a:off x="640080" y="4114800"/>
            <a:ext cx="10927080" cy="658368"/>
          </a:xfrm>
          <a:prstGeom prst="roundRect">
            <a:avLst>
              <a:gd name="adj" fmla="val 6944"/>
            </a:avLst>
          </a:prstGeom>
          <a:solidFill>
            <a:srgbClr val="FFFFFF">
              <a:alpha val="8000"/>
            </a:srgbClr>
          </a:solidFill>
          <a:ln w="9525">
            <a:solidFill>
              <a:srgbClr val="1F8A5F">
                <a:alpha val="70000"/>
              </a:srgbClr>
            </a:solidFill>
            <a:prstDash val="solid"/>
          </a:ln>
        </p:spPr>
      </p:sp>
      <p:sp>
        <p:nvSpPr>
          <p:cNvPr id="19" name="Shape 17"/>
          <p:cNvSpPr/>
          <p:nvPr/>
        </p:nvSpPr>
        <p:spPr>
          <a:xfrm>
            <a:off x="868680" y="4325112"/>
            <a:ext cx="237744" cy="237744"/>
          </a:xfrm>
          <a:prstGeom prst="ellipse">
            <a:avLst/>
          </a:prstGeom>
          <a:solidFill>
            <a:srgbClr val="1F8A5F"/>
          </a:solidFill>
          <a:ln/>
        </p:spPr>
      </p:sp>
      <p:sp>
        <p:nvSpPr>
          <p:cNvPr id="20" name="Text 18"/>
          <p:cNvSpPr/>
          <p:nvPr/>
        </p:nvSpPr>
        <p:spPr>
          <a:xfrm>
            <a:off x="868680" y="4325112"/>
            <a:ext cx="237744"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1" name="Text 19"/>
          <p:cNvSpPr/>
          <p:nvPr/>
        </p:nvSpPr>
        <p:spPr>
          <a:xfrm>
            <a:off x="1371600" y="4114800"/>
            <a:ext cx="9966960" cy="658368"/>
          </a:xfrm>
          <a:prstGeom prst="rect">
            <a:avLst/>
          </a:prstGeom>
          <a:noFill/>
          <a:ln/>
        </p:spPr>
        <p:txBody>
          <a:bodyPr wrap="square" lIns="0" tIns="0" rIns="0" bIns="0" rtlCol="0" anchor="ctr"/>
          <a:lstStyle/>
          <a:p>
            <a:pPr algn="l" indent="0" marL="0">
              <a:buNone/>
            </a:pPr>
            <a:r>
              <a:rPr lang="en-US" sz="1300" dirty="0">
                <a:solidFill>
                  <a:srgbClr val="E8F5EF"/>
                </a:solidFill>
                <a:latin typeface="Calibri" pitchFamily="34" charset="0"/>
                <a:ea typeface="Calibri" pitchFamily="34" charset="-122"/>
                <a:cs typeface="Calibri" pitchFamily="34" charset="-120"/>
              </a:rPr>
              <a:t>ディメンションテーブルの主キーがDISTINCT/件数チェックで一意と確認できているか</a:t>
            </a:r>
            <a:endParaRPr lang="en-US" sz="1300" dirty="0"/>
          </a:p>
        </p:txBody>
      </p:sp>
      <p:sp>
        <p:nvSpPr>
          <p:cNvPr id="22" name="Shape 20"/>
          <p:cNvSpPr/>
          <p:nvPr/>
        </p:nvSpPr>
        <p:spPr>
          <a:xfrm>
            <a:off x="640080" y="4892040"/>
            <a:ext cx="10927080" cy="658368"/>
          </a:xfrm>
          <a:prstGeom prst="roundRect">
            <a:avLst>
              <a:gd name="adj" fmla="val 6944"/>
            </a:avLst>
          </a:prstGeom>
          <a:solidFill>
            <a:srgbClr val="FFFFFF">
              <a:alpha val="8000"/>
            </a:srgbClr>
          </a:solidFill>
          <a:ln w="9525">
            <a:solidFill>
              <a:srgbClr val="1F8A5F">
                <a:alpha val="70000"/>
              </a:srgbClr>
            </a:solidFill>
            <a:prstDash val="solid"/>
          </a:ln>
        </p:spPr>
      </p:sp>
      <p:sp>
        <p:nvSpPr>
          <p:cNvPr id="23" name="Shape 21"/>
          <p:cNvSpPr/>
          <p:nvPr/>
        </p:nvSpPr>
        <p:spPr>
          <a:xfrm>
            <a:off x="868680" y="5102352"/>
            <a:ext cx="237744" cy="237744"/>
          </a:xfrm>
          <a:prstGeom prst="ellipse">
            <a:avLst/>
          </a:prstGeom>
          <a:solidFill>
            <a:srgbClr val="1F8A5F"/>
          </a:solidFill>
          <a:ln/>
        </p:spPr>
      </p:sp>
      <p:sp>
        <p:nvSpPr>
          <p:cNvPr id="24" name="Text 22"/>
          <p:cNvSpPr/>
          <p:nvPr/>
        </p:nvSpPr>
        <p:spPr>
          <a:xfrm>
            <a:off x="868680" y="5102352"/>
            <a:ext cx="237744"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5" name="Text 23"/>
          <p:cNvSpPr/>
          <p:nvPr/>
        </p:nvSpPr>
        <p:spPr>
          <a:xfrm>
            <a:off x="1371600" y="4892040"/>
            <a:ext cx="9966960" cy="658368"/>
          </a:xfrm>
          <a:prstGeom prst="rect">
            <a:avLst/>
          </a:prstGeom>
          <a:noFill/>
          <a:ln/>
        </p:spPr>
        <p:txBody>
          <a:bodyPr wrap="square" lIns="0" tIns="0" rIns="0" bIns="0" rtlCol="0" anchor="ctr"/>
          <a:lstStyle/>
          <a:p>
            <a:pPr algn="l" indent="0" marL="0">
              <a:buNone/>
            </a:pPr>
            <a:r>
              <a:rPr lang="en-US" sz="1300" dirty="0">
                <a:solidFill>
                  <a:srgbClr val="E8F5EF"/>
                </a:solidFill>
                <a:latin typeface="Calibri" pitchFamily="34" charset="0"/>
                <a:ea typeface="Calibri" pitchFamily="34" charset="-122"/>
                <a:cs typeface="Calibri" pitchFamily="34" charset="-120"/>
              </a:rPr>
              <a:t>可変列・可変属性のデータはCrosstable/Genericで正規化されているか</a:t>
            </a:r>
            <a:endParaRPr lang="en-US" sz="1300" dirty="0"/>
          </a:p>
        </p:txBody>
      </p:sp>
      <p:sp>
        <p:nvSpPr>
          <p:cNvPr id="26" name="Shape 24"/>
          <p:cNvSpPr/>
          <p:nvPr/>
        </p:nvSpPr>
        <p:spPr>
          <a:xfrm>
            <a:off x="640080" y="5669280"/>
            <a:ext cx="10927080" cy="658368"/>
          </a:xfrm>
          <a:prstGeom prst="roundRect">
            <a:avLst>
              <a:gd name="adj" fmla="val 6944"/>
            </a:avLst>
          </a:prstGeom>
          <a:solidFill>
            <a:srgbClr val="FFFFFF">
              <a:alpha val="8000"/>
            </a:srgbClr>
          </a:solidFill>
          <a:ln w="9525">
            <a:solidFill>
              <a:srgbClr val="1F8A5F">
                <a:alpha val="70000"/>
              </a:srgbClr>
            </a:solidFill>
            <a:prstDash val="solid"/>
          </a:ln>
        </p:spPr>
      </p:sp>
      <p:sp>
        <p:nvSpPr>
          <p:cNvPr id="27" name="Shape 25"/>
          <p:cNvSpPr/>
          <p:nvPr/>
        </p:nvSpPr>
        <p:spPr>
          <a:xfrm>
            <a:off x="868680" y="5879592"/>
            <a:ext cx="237744" cy="237744"/>
          </a:xfrm>
          <a:prstGeom prst="ellipse">
            <a:avLst/>
          </a:prstGeom>
          <a:solidFill>
            <a:srgbClr val="1F8A5F"/>
          </a:solidFill>
          <a:ln/>
        </p:spPr>
      </p:sp>
      <p:sp>
        <p:nvSpPr>
          <p:cNvPr id="28" name="Text 26"/>
          <p:cNvSpPr/>
          <p:nvPr/>
        </p:nvSpPr>
        <p:spPr>
          <a:xfrm>
            <a:off x="868680" y="5879592"/>
            <a:ext cx="237744"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9" name="Text 27"/>
          <p:cNvSpPr/>
          <p:nvPr/>
        </p:nvSpPr>
        <p:spPr>
          <a:xfrm>
            <a:off x="1371600" y="5669280"/>
            <a:ext cx="9966960" cy="658368"/>
          </a:xfrm>
          <a:prstGeom prst="rect">
            <a:avLst/>
          </a:prstGeom>
          <a:noFill/>
          <a:ln/>
        </p:spPr>
        <p:txBody>
          <a:bodyPr wrap="square" lIns="0" tIns="0" rIns="0" bIns="0" rtlCol="0" anchor="ctr"/>
          <a:lstStyle/>
          <a:p>
            <a:pPr algn="l" indent="0" marL="0">
              <a:buNone/>
            </a:pPr>
            <a:r>
              <a:rPr lang="en-US" sz="1300" dirty="0">
                <a:solidFill>
                  <a:srgbClr val="E8F5EF"/>
                </a:solidFill>
                <a:latin typeface="Calibri" pitchFamily="34" charset="0"/>
                <a:ea typeface="Calibri" pitchFamily="34" charset="-122"/>
                <a:cs typeface="Calibri" pitchFamily="34" charset="-120"/>
              </a:rPr>
              <a:t>リロードのたびにデータモデルビューアで関連図とキー品質を確認しているか</a:t>
            </a:r>
            <a:endParaRPr lang="en-US" sz="1300" dirty="0"/>
          </a:p>
        </p:txBody>
      </p:sp>
      <p:sp>
        <p:nvSpPr>
          <p:cNvPr id="30" name="Text 28"/>
          <p:cNvSpPr/>
          <p:nvPr/>
        </p:nvSpPr>
        <p:spPr>
          <a:xfrm>
            <a:off x="457200" y="6492240"/>
            <a:ext cx="6400800" cy="274320"/>
          </a:xfrm>
          <a:prstGeom prst="rect">
            <a:avLst/>
          </a:prstGeom>
          <a:noFill/>
          <a:ln/>
        </p:spPr>
        <p:txBody>
          <a:bodyPr wrap="square" lIns="0" tIns="0" rIns="0" bIns="0" rtlCol="0" anchor="ctr"/>
          <a:lstStyle/>
          <a:p>
            <a:pPr algn="l" indent="0" marL="0">
              <a:buNone/>
            </a:pPr>
            <a:r>
              <a:rPr lang="en-US" sz="900" dirty="0">
                <a:solidFill>
                  <a:srgbClr val="1F8A5F"/>
                </a:solidFill>
                <a:latin typeface="Calibri" pitchFamily="34" charset="0"/>
                <a:ea typeface="Calibri" pitchFamily="34" charset="-122"/>
                <a:cs typeface="Calibri" pitchFamily="34" charset="-120"/>
              </a:rPr>
              <a:t>Qlik Sense開発者ガイド② データモデリング設計編</a:t>
            </a:r>
            <a:endParaRPr lang="en-US" sz="900" dirty="0"/>
          </a:p>
        </p:txBody>
      </p:sp>
      <p:sp>
        <p:nvSpPr>
          <p:cNvPr id="31" name="Text 29"/>
          <p:cNvSpPr/>
          <p:nvPr/>
        </p:nvSpPr>
        <p:spPr>
          <a:xfrm>
            <a:off x="11274552" y="6492240"/>
            <a:ext cx="457200" cy="274320"/>
          </a:xfrm>
          <a:prstGeom prst="rect">
            <a:avLst/>
          </a:prstGeom>
          <a:noFill/>
          <a:ln/>
        </p:spPr>
        <p:txBody>
          <a:bodyPr wrap="square" lIns="0" tIns="0" rIns="0" bIns="0" rtlCol="0" anchor="ctr"/>
          <a:lstStyle/>
          <a:p>
            <a:pPr algn="r" indent="0" marL="0">
              <a:buNone/>
            </a:pPr>
            <a:r>
              <a:rPr lang="en-US" sz="900" dirty="0">
                <a:solidFill>
                  <a:srgbClr val="1F8A5F"/>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Qlik Sense開発者ガイド② データモデリング設計編</dc:title>
  <dc:subject>PptxGenJS Presentation</dc:subject>
  <dc:creator>Qlik Sense Developer Series</dc:creator>
  <cp:lastModifiedBy>Qlik Sense Developer Series</cp:lastModifiedBy>
  <cp:revision>1</cp:revision>
  <dcterms:created xsi:type="dcterms:W3CDTF">2026-06-21T07:35:15Z</dcterms:created>
  <dcterms:modified xsi:type="dcterms:W3CDTF">2026-06-21T07:35:15Z</dcterms:modified>
</cp:coreProperties>
</file>